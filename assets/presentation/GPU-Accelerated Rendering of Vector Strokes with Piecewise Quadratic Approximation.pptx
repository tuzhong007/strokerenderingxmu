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sldIdLst>
    <p:sldId id="256" r:id="rId2"/>
    <p:sldId id="412" r:id="rId3"/>
    <p:sldId id="378" r:id="rId4"/>
    <p:sldId id="396" r:id="rId5"/>
    <p:sldId id="379" r:id="rId6"/>
    <p:sldId id="380" r:id="rId7"/>
    <p:sldId id="382" r:id="rId8"/>
    <p:sldId id="417" r:id="rId9"/>
    <p:sldId id="421" r:id="rId10"/>
    <p:sldId id="383" r:id="rId11"/>
    <p:sldId id="384" r:id="rId12"/>
    <p:sldId id="424" r:id="rId13"/>
    <p:sldId id="414" r:id="rId14"/>
    <p:sldId id="385" r:id="rId15"/>
    <p:sldId id="399" r:id="rId16"/>
    <p:sldId id="422" r:id="rId17"/>
    <p:sldId id="413" r:id="rId18"/>
    <p:sldId id="415" r:id="rId19"/>
    <p:sldId id="419" r:id="rId20"/>
    <p:sldId id="420" r:id="rId21"/>
    <p:sldId id="386" r:id="rId22"/>
    <p:sldId id="423" r:id="rId23"/>
    <p:sldId id="400" r:id="rId24"/>
    <p:sldId id="401" r:id="rId25"/>
    <p:sldId id="402" r:id="rId26"/>
    <p:sldId id="403" r:id="rId27"/>
    <p:sldId id="301" r:id="rId28"/>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lvl9pPr>
  </p:defaultTextStyle>
  <p:extLst>
    <p:ext uri="{EFAFB233-063F-42B5-8137-9DF3F51BA10A}">
      <p15:sldGuideLst xmlns:p15="http://schemas.microsoft.com/office/powerpoint/2012/main">
        <p15:guide id="1" orient="horz" pos="4320" userDrawn="1">
          <p15:clr>
            <a:srgbClr val="A4A3A4"/>
          </p15:clr>
        </p15:guide>
        <p15:guide id="2" pos="7635"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41AA9A-F42C-4AFD-BA4B-2C480EA7C274}" v="2358" dt="2024-11-07T14:26:18.431"/>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385" autoAdjust="0"/>
    <p:restoredTop sz="95026" autoAdjust="0"/>
  </p:normalViewPr>
  <p:slideViewPr>
    <p:cSldViewPr snapToGrid="0" showGuides="1">
      <p:cViewPr varScale="1">
        <p:scale>
          <a:sx n="56" d="100"/>
          <a:sy n="56" d="100"/>
        </p:scale>
        <p:origin x="312" y="90"/>
      </p:cViewPr>
      <p:guideLst>
        <p:guide orient="horz" pos="4320"/>
        <p:guide pos="7635"/>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62" d="100"/>
          <a:sy n="62" d="100"/>
        </p:scale>
        <p:origin x="2472"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87" name="Shape 187"/>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88" name="Shape 188"/>
          <p:cNvSpPr>
            <a:spLocks noGrp="1"/>
          </p:cNvSpPr>
          <p:nvPr>
            <p:ph type="body" sz="quarter" idx="1"/>
          </p:nvPr>
        </p:nvSpPr>
        <p:spPr>
          <a:xfrm>
            <a:off x="914400" y="4343400"/>
            <a:ext cx="5029200" cy="4114800"/>
          </a:xfrm>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Arial" panose="020B0604020202020204" pitchFamily="34" charset="0"/>
        <a:ea typeface="+mn-ea"/>
        <a:cs typeface="Arial" panose="020B0604020202020204" pitchFamily="34" charset="0"/>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Shape 195"/>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96" name="Shape 196"/>
          <p:cNvSpPr>
            <a:spLocks noGrp="1"/>
          </p:cNvSpPr>
          <p:nvPr>
            <p:ph type="body" sz="quarter" idx="1"/>
          </p:nvPr>
        </p:nvSpPr>
        <p:spPr>
          <a:prstGeom prst="rect">
            <a:avLst/>
          </a:prstGeom>
        </p:spPr>
        <p:txBody>
          <a:bodyPr/>
          <a:lstStyle/>
          <a:p>
            <a:pPr marL="0" marR="0" lvl="0" indent="0" algn="l" defTabSz="914400" eaLnBrk="1" fontAlgn="auto" latinLnBrk="0" hangingPunct="1">
              <a:lnSpc>
                <a:spcPct val="100000"/>
              </a:lnSpc>
              <a:spcBef>
                <a:spcPts val="0"/>
              </a:spcBef>
              <a:spcAft>
                <a:spcPts val="0"/>
              </a:spcAft>
              <a:buClrTx/>
              <a:buSzTx/>
              <a:buFontTx/>
              <a:buNone/>
              <a:tabLst/>
              <a:defRPr sz="1200">
                <a:latin typeface="Calibri"/>
                <a:ea typeface="Calibri"/>
                <a:cs typeface="Calibri"/>
                <a:sym typeface="Calibri"/>
              </a:defRPr>
            </a:pPr>
            <a:r>
              <a:rPr lang="en-US" altLang="zh-CN" dirty="0"/>
              <a:t>My name is Xuhai Chen. Today, I'll be presenting the paper </a:t>
            </a:r>
            <a:r>
              <a:rPr lang="en-US" altLang="zh-CN" sz="1200" b="0" dirty="0">
                <a:latin typeface="Arial"/>
                <a:ea typeface="Arial"/>
                <a:cs typeface="Arial"/>
                <a:sym typeface="Arial"/>
              </a:rPr>
              <a:t>GPU-Accelerated Rendering of Vector Strokes with Piecewise Quadratic Approximation</a:t>
            </a:r>
            <a:r>
              <a:rPr lang="en-US" altLang="zh-CN" dirty="0"/>
              <a:t>, which is a joint work between myself, </a:t>
            </a:r>
            <a:r>
              <a:rPr lang="en-US" altLang="zh-CN" dirty="0" err="1"/>
              <a:t>Guangze</a:t>
            </a:r>
            <a:r>
              <a:rPr lang="en-US" altLang="zh-CN" dirty="0"/>
              <a:t> Zhang, </a:t>
            </a:r>
            <a:r>
              <a:rPr lang="en-US" altLang="zh-CN" dirty="0" err="1"/>
              <a:t>Wanyi</a:t>
            </a:r>
            <a:r>
              <a:rPr lang="en-US" altLang="zh-CN" dirty="0"/>
              <a:t> Wang, Prof. Juan Cao and Prof. </a:t>
            </a:r>
            <a:r>
              <a:rPr lang="en-US" altLang="zh-CN" dirty="0" err="1"/>
              <a:t>Zhonggui</a:t>
            </a:r>
            <a:r>
              <a:rPr lang="en-US" altLang="zh-CN" dirty="0"/>
              <a:t> Chen from Xiamen University</a:t>
            </a:r>
            <a:r>
              <a:rPr lang="en-US" altLang="zh-CN" sz="1200" kern="1200" dirty="0">
                <a:solidFill>
                  <a:schemeClr val="tx1"/>
                </a:solidFill>
              </a:rPr>
              <a:t>.</a:t>
            </a:r>
          </a:p>
          <a:p>
            <a:pPr algn="l" defTabSz="914400">
              <a:lnSpc>
                <a:spcPct val="100000"/>
              </a:lnSpc>
              <a:defRPr sz="1200">
                <a:latin typeface="Calibri"/>
                <a:ea typeface="Calibri"/>
                <a:cs typeface="Calibri"/>
                <a:sym typeface="Calibri"/>
              </a:defRPr>
            </a:pPr>
            <a:endParaRPr dirty="0">
              <a:latin typeface="Helvetica"/>
              <a:ea typeface="Helvetica"/>
              <a:cs typeface="Helvetica"/>
              <a:sym typeface="Helvetica"/>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98F9D-8DE9-D4F9-CE07-9354C58C83C8}"/>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50266290-D6CD-5082-2C7A-233A072022BC}"/>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803E2CA6-4792-6040-314F-AA8075CF815E}"/>
              </a:ext>
            </a:extLst>
          </p:cNvPr>
          <p:cNvSpPr>
            <a:spLocks noGrp="1"/>
          </p:cNvSpPr>
          <p:nvPr>
            <p:ph type="body" sz="quarter" idx="1"/>
          </p:nvPr>
        </p:nvSpPr>
        <p:spPr>
          <a:prstGeom prst="rect">
            <a:avLst/>
          </a:prstGeom>
        </p:spPr>
        <p:txBody>
          <a:bodyPr/>
          <a:lstStyle/>
          <a:p>
            <a:pPr marL="0" marR="0" lvl="0" indent="0" algn="l" defTabSz="914400" eaLnBrk="1" fontAlgn="auto" latinLnBrk="0" hangingPunct="1">
              <a:lnSpc>
                <a:spcPct val="100000"/>
              </a:lnSpc>
              <a:spcBef>
                <a:spcPts val="0"/>
              </a:spcBef>
              <a:spcAft>
                <a:spcPts val="0"/>
              </a:spcAft>
              <a:buClrTx/>
              <a:buSzTx/>
              <a:buFontTx/>
              <a:buNone/>
              <a:tabLst/>
              <a:defRPr sz="1200">
                <a:latin typeface="Calibri"/>
                <a:ea typeface="Calibri"/>
                <a:cs typeface="Calibri"/>
                <a:sym typeface="Calibri"/>
              </a:defRPr>
            </a:pPr>
            <a:r>
              <a:rPr lang="en-US" altLang="zh-CN" dirty="0"/>
              <a:t>A raster image is made up of a grid of pixels, each with specific colors. You can observe a saw-toothed shape when you zoom in.</a:t>
            </a:r>
          </a:p>
          <a:p>
            <a:pPr defTabSz="914400">
              <a:lnSpc>
                <a:spcPct val="100000"/>
              </a:lnSpc>
              <a:defRPr sz="1200">
                <a:latin typeface="Calibri"/>
                <a:ea typeface="Calibri"/>
                <a:cs typeface="Calibri"/>
                <a:sym typeface="Calibri"/>
              </a:defRPr>
            </a:pPr>
            <a:r>
              <a:rPr lang="en-US" altLang="zh-CN" dirty="0"/>
              <a:t>On the other hand, a vector image is defined by geometric primitives, making it </a:t>
            </a:r>
            <a:r>
              <a:rPr lang="en-US" altLang="zh-CN" sz="1200" kern="0" dirty="0">
                <a:latin typeface="Arial" panose="020B0604020202020204" pitchFamily="34" charset="0"/>
                <a:ea typeface="ＭＳ Ｐゴシック"/>
                <a:cs typeface="Arial" panose="020B0604020202020204" pitchFamily="34" charset="0"/>
              </a:rPr>
              <a:t>resolution independent</a:t>
            </a:r>
            <a:r>
              <a:rPr lang="en-US" altLang="zh-CN" dirty="0"/>
              <a:t> as long as the rendering method is appropriate.</a:t>
            </a:r>
            <a:endParaRPr dirty="0">
              <a:latin typeface="Helvetica"/>
              <a:ea typeface="Helvetica"/>
              <a:cs typeface="Helvetica"/>
              <a:sym typeface="Helvetica"/>
            </a:endParaRPr>
          </a:p>
        </p:txBody>
      </p:sp>
    </p:spTree>
    <p:extLst>
      <p:ext uri="{BB962C8B-B14F-4D97-AF65-F5344CB8AC3E}">
        <p14:creationId xmlns:p14="http://schemas.microsoft.com/office/powerpoint/2010/main" val="30176902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F8902-4666-F1B6-8D71-8FACBAA0FBCF}"/>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8F6D127D-8354-4F5F-5724-99AB203B045D}"/>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28D587E8-E8F4-8542-DC2B-582845DAA2EE}"/>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The primitive in vector graphics is called path</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there are 2 styles of a path stroke and fill. We a path is an outline and if you trace the outline with a brush you’ll get a stroke and if you color between the outlines you get a fill.</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Our primary focus is on stoke rendering.</a:t>
            </a:r>
            <a:endParaRPr dirty="0">
              <a:latin typeface="Helvetica"/>
              <a:ea typeface="Helvetica"/>
              <a:cs typeface="Helvetica"/>
              <a:sym typeface="Helvetica"/>
            </a:endParaRPr>
          </a:p>
        </p:txBody>
      </p:sp>
    </p:spTree>
    <p:extLst>
      <p:ext uri="{BB962C8B-B14F-4D97-AF65-F5344CB8AC3E}">
        <p14:creationId xmlns:p14="http://schemas.microsoft.com/office/powerpoint/2010/main" val="15851855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7F7B4-3A19-CACA-E484-A5340A5EE113}"/>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E7061DD4-4F39-019D-9E9A-311711DC22F6}"/>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DCFC2046-A075-B100-0B59-FB46BFC40656}"/>
              </a:ext>
            </a:extLst>
          </p:cNvPr>
          <p:cNvSpPr>
            <a:spLocks noGrp="1"/>
          </p:cNvSpPr>
          <p:nvPr>
            <p:ph type="body" sz="quarter" idx="1"/>
          </p:nvPr>
        </p:nvSpPr>
        <p:spPr>
          <a:prstGeom prst="rect">
            <a:avLst/>
          </a:prstGeom>
        </p:spPr>
        <p:txBody>
          <a:bodyPr/>
          <a:lstStyle/>
          <a:p>
            <a:r>
              <a:rPr lang="en-US" altLang="zh-CN" dirty="0"/>
              <a:t>The stroke region is the area </a:t>
            </a:r>
            <a:r>
              <a:rPr lang="en-US" altLang="zh-CN" b="1" dirty="0"/>
              <a:t>bounded by</a:t>
            </a:r>
            <a:r>
              <a:rPr lang="en-US" altLang="zh-CN" dirty="0"/>
              <a:t> two offset curves and two straight edges. For a planar curve g(t), you can generate an offset curve by moving each point </a:t>
            </a:r>
            <a:r>
              <a:rPr lang="en-US" altLang="zh-CN" b="1" dirty="0"/>
              <a:t>along</a:t>
            </a:r>
            <a:r>
              <a:rPr lang="en-US" altLang="zh-CN" dirty="0"/>
              <a:t> the unit normal direction </a:t>
            </a:r>
            <a:r>
              <a:rPr lang="en-US" altLang="zh-CN" b="1" dirty="0"/>
              <a:t>by</a:t>
            </a:r>
            <a:r>
              <a:rPr lang="en-US" altLang="zh-CN" dirty="0"/>
              <a:t> a distance d. In general, offset curves are much more complex than the original curve, which makes stroke rendering more challenging than fill rendering. A common strategy is to convert strokes </a:t>
            </a:r>
            <a:r>
              <a:rPr lang="en-US" altLang="zh-CN" b="1" dirty="0"/>
              <a:t>into</a:t>
            </a:r>
            <a:r>
              <a:rPr lang="en-US" altLang="zh-CN" dirty="0"/>
              <a:t> fills to simplify the rendering process.</a:t>
            </a:r>
          </a:p>
          <a:p>
            <a:pPr defTabSz="914400">
              <a:lnSpc>
                <a:spcPct val="100000"/>
              </a:lnSpc>
              <a:defRPr sz="1200">
                <a:latin typeface="Calibri"/>
                <a:ea typeface="Calibri"/>
                <a:cs typeface="Calibri"/>
                <a:sym typeface="Calibri"/>
              </a:defRPr>
            </a:pPr>
            <a:endParaRPr lang="en-US" dirty="0">
              <a:latin typeface="Helvetica"/>
              <a:ea typeface="Helvetica"/>
              <a:cs typeface="Helvetica"/>
              <a:sym typeface="Helvetica"/>
            </a:endParaRPr>
          </a:p>
          <a:p>
            <a:pPr defTabSz="914400">
              <a:lnSpc>
                <a:spcPct val="100000"/>
              </a:lnSpc>
              <a:defRPr sz="1200">
                <a:latin typeface="Calibri"/>
                <a:ea typeface="Calibri"/>
                <a:cs typeface="Calibri"/>
                <a:sym typeface="Calibri"/>
              </a:defRPr>
            </a:pPr>
            <a:endParaRPr dirty="0">
              <a:latin typeface="Helvetica"/>
              <a:ea typeface="Helvetica"/>
              <a:cs typeface="Helvetica"/>
              <a:sym typeface="Helvetica"/>
            </a:endParaRPr>
          </a:p>
        </p:txBody>
      </p:sp>
    </p:spTree>
    <p:extLst>
      <p:ext uri="{BB962C8B-B14F-4D97-AF65-F5344CB8AC3E}">
        <p14:creationId xmlns:p14="http://schemas.microsoft.com/office/powerpoint/2010/main" val="1119058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86C79-DF3E-79CE-23FE-CCB883F01A02}"/>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9716822D-A995-19B7-7423-3138D0E624B4}"/>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A07473C8-7C11-095C-521C-B271EA6F5391}"/>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I will introduce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fill path rendering method we used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for Bezier curves. A Bezier curve of degree n is defined by this formula, and their shape is largely decided by control points. The most commonly used </a:t>
            </a:r>
            <a:r>
              <a:rPr lang="en-US" altLang="zh-CN" dirty="0" err="1">
                <a:latin typeface="Helvetica"/>
                <a:ea typeface="Helvetica"/>
                <a:cs typeface="Helvetica"/>
                <a:sym typeface="Helvetica"/>
              </a:rPr>
              <a:t>bezier</a:t>
            </a:r>
            <a:r>
              <a:rPr lang="en-US" altLang="zh-CN" dirty="0">
                <a:latin typeface="Helvetica"/>
                <a:ea typeface="Helvetica"/>
                <a:cs typeface="Helvetica"/>
                <a:sym typeface="Helvetica"/>
              </a:rPr>
              <a:t> curves are quadratic and cubic curves. </a:t>
            </a:r>
            <a:endParaRPr dirty="0">
              <a:latin typeface="Helvetica"/>
              <a:ea typeface="Helvetica"/>
              <a:cs typeface="Helvetica"/>
              <a:sym typeface="Helvetica"/>
            </a:endParaRPr>
          </a:p>
        </p:txBody>
      </p:sp>
    </p:spTree>
    <p:extLst>
      <p:ext uri="{BB962C8B-B14F-4D97-AF65-F5344CB8AC3E}">
        <p14:creationId xmlns:p14="http://schemas.microsoft.com/office/powerpoint/2010/main" val="30074672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E8923-BE67-3139-08D3-2811460D6C94}"/>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6A059080-538C-D8A6-7C4F-642F187FF166}"/>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8B0CCBC8-C9BC-0446-EF2C-CB1EC1DE4E19}"/>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A classic method to render</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filled region of Bezier curve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is the implicit equation based filled path rendering</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by loop at al. </a:t>
            </a:r>
          </a:p>
          <a:p>
            <a:pPr defTabSz="914400">
              <a:lnSpc>
                <a:spcPct val="100000"/>
              </a:lnSpc>
              <a:defRPr sz="1200">
                <a:latin typeface="Calibri"/>
                <a:ea typeface="Calibri"/>
                <a:cs typeface="Calibri"/>
                <a:sym typeface="Calibri"/>
              </a:defRPr>
            </a:pPr>
            <a:endParaRPr lang="en-US" altLang="zh-CN" dirty="0">
              <a:latin typeface="Helvetica"/>
              <a:ea typeface="Helvetica"/>
              <a:cs typeface="Helvetica"/>
              <a:sym typeface="Helvetica"/>
            </a:endParaRP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Starting with the standard quadratic curve whose control points are given specifically, it satisfies the equation</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u square minus v equals 0 in the </a:t>
            </a:r>
            <a:r>
              <a:rPr lang="en-US" altLang="zh-CN" dirty="0" err="1">
                <a:latin typeface="Helvetica"/>
                <a:ea typeface="Helvetica"/>
                <a:cs typeface="Helvetica"/>
                <a:sym typeface="Helvetica"/>
              </a:rPr>
              <a:t>uv</a:t>
            </a:r>
            <a:r>
              <a:rPr lang="en-US" altLang="zh-CN" dirty="0">
                <a:latin typeface="Helvetica"/>
                <a:ea typeface="Helvetica"/>
                <a:cs typeface="Helvetica"/>
                <a:sym typeface="Helvetica"/>
              </a:rPr>
              <a:t> space. By evaluating u^2 - v we know the pixel (</a:t>
            </a:r>
            <a:r>
              <a:rPr lang="en-US" altLang="zh-CN" dirty="0" err="1">
                <a:latin typeface="Helvetica"/>
                <a:ea typeface="Helvetica"/>
                <a:cs typeface="Helvetica"/>
                <a:sym typeface="Helvetica"/>
              </a:rPr>
              <a:t>u,v</a:t>
            </a:r>
            <a:r>
              <a:rPr lang="en-US" altLang="zh-CN" dirty="0">
                <a:latin typeface="Helvetica"/>
                <a:ea typeface="Helvetica"/>
                <a:cs typeface="Helvetica"/>
                <a:sym typeface="Helvetica"/>
              </a:rPr>
              <a:t>) lies inside B(t) if the value is less than 0. The method extends to</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general quadratic Bezier curve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by affine transform.</a:t>
            </a:r>
          </a:p>
          <a:p>
            <a:pPr defTabSz="914400">
              <a:lnSpc>
                <a:spcPct val="100000"/>
              </a:lnSpc>
              <a:defRPr sz="1200">
                <a:latin typeface="Calibri"/>
                <a:ea typeface="Calibri"/>
                <a:cs typeface="Calibri"/>
                <a:sym typeface="Calibri"/>
              </a:defRPr>
            </a:pPr>
            <a:endParaRPr lang="en-US" dirty="0">
              <a:latin typeface="Helvetica"/>
              <a:ea typeface="Helvetica"/>
              <a:cs typeface="Helvetica"/>
              <a:sym typeface="Helvetica"/>
            </a:endParaRP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The filled path rendering method is designed for quadratic curves. In order to apply</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filled path rendering,</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we approximate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offset curves by quadratic curves.</a:t>
            </a:r>
            <a:endParaRPr dirty="0">
              <a:latin typeface="Helvetica"/>
              <a:ea typeface="Helvetica"/>
              <a:cs typeface="Helvetica"/>
              <a:sym typeface="Helvetica"/>
            </a:endParaRPr>
          </a:p>
        </p:txBody>
      </p:sp>
    </p:spTree>
    <p:extLst>
      <p:ext uri="{BB962C8B-B14F-4D97-AF65-F5344CB8AC3E}">
        <p14:creationId xmlns:p14="http://schemas.microsoft.com/office/powerpoint/2010/main" val="1363618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2E68E-80D4-C7AB-B2E1-E118AF6E17FA}"/>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63AF3A6E-D901-474C-47B2-A661A2C5BEE6}"/>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DA493CB2-DE73-B752-A139-9E203C1221BB}"/>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And this approximation accuracy is mainly controlled by the curvature. Well, the curvature is basically the </a:t>
            </a:r>
            <a:r>
              <a:rPr lang="en-US" altLang="zh-CN" sz="1200" dirty="0">
                <a:solidFill>
                  <a:schemeClr val="tx1"/>
                </a:solidFill>
              </a:rPr>
              <a:t>change rate of tangent angle.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More specifically the accuracy is controlled by the integral of the curvature,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which has a very clear geometric meaning as the turning angle, the angle of start velocity</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end velocity.</a:t>
            </a:r>
            <a:r>
              <a:rPr lang="zh-CN" altLang="en-US" dirty="0">
                <a:latin typeface="Helvetica"/>
                <a:ea typeface="Helvetica"/>
                <a:cs typeface="Helvetica"/>
                <a:sym typeface="Helvetica"/>
              </a:rPr>
              <a:t> </a:t>
            </a:r>
            <a:endParaRPr lang="en-US" altLang="zh-CN" dirty="0">
              <a:latin typeface="Helvetica"/>
              <a:ea typeface="Helvetica"/>
              <a:cs typeface="Helvetica"/>
              <a:sym typeface="Helvetica"/>
            </a:endParaRPr>
          </a:p>
        </p:txBody>
      </p:sp>
    </p:spTree>
    <p:extLst>
      <p:ext uri="{BB962C8B-B14F-4D97-AF65-F5344CB8AC3E}">
        <p14:creationId xmlns:p14="http://schemas.microsoft.com/office/powerpoint/2010/main" val="24706428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B93B5-1CC9-F761-7363-DA45503EB648}"/>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1AFC915A-7115-777C-EEEF-529AB648BC94}"/>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31152292-0CD4-C7FC-E1D1-51BF71A1A18F}"/>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Apart from basic stroke rendering</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we also consider the dashed stroke rendering, which is defined by</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l1 l2. l1 specifies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solid segment length</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l 2 specify the gap length</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between 2 solid segments. Though intuitive, this arc length description must be converted into the Bezier parameter t which lies between 0, 1 for later Bezier curve evaluation. The problem is to invert the accumulated arc length function.</a:t>
            </a:r>
            <a:endParaRPr dirty="0">
              <a:latin typeface="Helvetica"/>
              <a:ea typeface="Helvetica"/>
              <a:cs typeface="Helvetica"/>
              <a:sym typeface="Helvetica"/>
            </a:endParaRPr>
          </a:p>
        </p:txBody>
      </p:sp>
    </p:spTree>
    <p:extLst>
      <p:ext uri="{BB962C8B-B14F-4D97-AF65-F5344CB8AC3E}">
        <p14:creationId xmlns:p14="http://schemas.microsoft.com/office/powerpoint/2010/main" val="2873710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CCDEF-7674-2DF6-5DA0-D985F3DF7C1A}"/>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4691B301-7036-E68D-983E-B5DA1A75476C}"/>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9D8690EB-1010-6DE8-5A79-5D0CB3D1FA11}"/>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Our contributions include: we propose a </a:t>
            </a:r>
            <a:r>
              <a:rPr lang="en-US" altLang="zh-CN" dirty="0" err="1">
                <a:latin typeface="Helvetica"/>
                <a:ea typeface="Helvetica"/>
                <a:cs typeface="Helvetica"/>
                <a:sym typeface="Helvetica"/>
              </a:rPr>
              <a:t>gpu</a:t>
            </a:r>
            <a:r>
              <a:rPr lang="en-US" altLang="zh-CN" dirty="0">
                <a:latin typeface="Helvetica"/>
                <a:ea typeface="Helvetica"/>
                <a:cs typeface="Helvetica"/>
                <a:sym typeface="Helvetica"/>
              </a:rPr>
              <a:t> accelerated rendering method of quadratic strokes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which combines the efficiency of implicit equation based rendering and accuracy of curvature guided subdivision</a:t>
            </a: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a:t>
            </a: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We also develop an efficient arc length parameterization method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for quadratic curves. It’s based on newton iteration with proved fast converging speed. As an application, it enables accelerated dashed strokes and arc-length guided texture filling</a:t>
            </a:r>
            <a:r>
              <a:rPr lang="zh-CN" altLang="en-US" dirty="0">
                <a:latin typeface="Helvetica"/>
                <a:ea typeface="Helvetica"/>
                <a:cs typeface="Helvetica"/>
                <a:sym typeface="Helvetica"/>
              </a:rPr>
              <a:t>。</a:t>
            </a:r>
            <a:endParaRPr lang="en-US" altLang="zh-CN" dirty="0">
              <a:latin typeface="Helvetica"/>
              <a:ea typeface="Helvetica"/>
              <a:cs typeface="Helvetica"/>
              <a:sym typeface="Helvetica"/>
            </a:endParaRPr>
          </a:p>
        </p:txBody>
      </p:sp>
    </p:spTree>
    <p:extLst>
      <p:ext uri="{BB962C8B-B14F-4D97-AF65-F5344CB8AC3E}">
        <p14:creationId xmlns:p14="http://schemas.microsoft.com/office/powerpoint/2010/main" val="36517731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2531C-B0A5-6A08-0FBF-80CCBFEC6C23}"/>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FE602750-1316-8D8E-B2C5-329D7A362508}"/>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7D6A4F8B-4E45-6FAB-1D4A-346288E491F4}"/>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Our method focuses on stroke regions of quadratic curves and is applicable for piecewise quadratic curves rendering.</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We fit offset curves with quadratic curves to enable the use of the implicit equation-based rendering for quadratic curves. </a:t>
            </a:r>
          </a:p>
          <a:p>
            <a:pPr defTabSz="914400">
              <a:lnSpc>
                <a:spcPct val="100000"/>
              </a:lnSpc>
              <a:defRPr sz="1200">
                <a:latin typeface="Calibri"/>
                <a:ea typeface="Calibri"/>
                <a:cs typeface="Calibri"/>
                <a:sym typeface="Calibri"/>
              </a:defRPr>
            </a:pPr>
            <a:endParaRPr lang="en-US" altLang="zh-CN" dirty="0">
              <a:latin typeface="Helvetica"/>
              <a:ea typeface="Helvetica"/>
              <a:cs typeface="Helvetica"/>
              <a:sym typeface="Helvetica"/>
            </a:endParaRP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The approximated region looks like this. The red curve is the path being rendered, and its offset curves are approximated by quadratic curves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whose control points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are formed by</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translating the original control points along the normal direction.</a:t>
            </a:r>
          </a:p>
          <a:p>
            <a:pPr defTabSz="914400">
              <a:lnSpc>
                <a:spcPct val="100000"/>
              </a:lnSpc>
              <a:defRPr sz="1200">
                <a:latin typeface="Calibri"/>
                <a:ea typeface="Calibri"/>
                <a:cs typeface="Calibri"/>
                <a:sym typeface="Calibri"/>
              </a:defRPr>
            </a:pPr>
            <a:endParaRPr lang="en-US" altLang="zh-CN" dirty="0">
              <a:latin typeface="Helvetica"/>
              <a:ea typeface="Helvetica"/>
              <a:cs typeface="Helvetica"/>
              <a:sym typeface="Helvetica"/>
            </a:endParaRP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We use three triangles, which are generated by the geometry shader, to cover the stroke region and we discard the pixels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outside the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region in the fragment shader to obtain the stroke region shape.</a:t>
            </a:r>
            <a:endParaRPr dirty="0">
              <a:latin typeface="Helvetica"/>
              <a:ea typeface="Helvetica"/>
              <a:cs typeface="Helvetica"/>
              <a:sym typeface="Helvetica"/>
            </a:endParaRPr>
          </a:p>
        </p:txBody>
      </p:sp>
    </p:spTree>
    <p:extLst>
      <p:ext uri="{BB962C8B-B14F-4D97-AF65-F5344CB8AC3E}">
        <p14:creationId xmlns:p14="http://schemas.microsoft.com/office/powerpoint/2010/main" val="29655364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ECC09-8AA8-A39C-4D2A-F85D1096C86D}"/>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571FFEA6-9BF6-712A-2D9B-0F7E24872552}"/>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553099C6-47FE-5178-9620-2CFF9C4F6D0F}"/>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There is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 well established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error</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analysis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which says the relative error of this approximation is only dependent on the turning angle. And this is a monotonically increasing function, which says the flatter the curve is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more accurate the approximation is.  So we subdivide the original curve into </a:t>
            </a:r>
            <a:r>
              <a:rPr lang="en-US" altLang="zh-CN" dirty="0" err="1">
                <a:latin typeface="Helvetica"/>
                <a:ea typeface="Helvetica"/>
                <a:cs typeface="Helvetica"/>
                <a:sym typeface="Helvetica"/>
              </a:rPr>
              <a:t>subcurves</a:t>
            </a:r>
            <a:r>
              <a:rPr lang="en-US" altLang="zh-CN" dirty="0">
                <a:latin typeface="Helvetica"/>
                <a:ea typeface="Helvetica"/>
                <a:cs typeface="Helvetica"/>
                <a:sym typeface="Helvetica"/>
              </a:rPr>
              <a:t> with bounded turning angle to guarantee the absolute error to be less than 0.03 pixels.</a:t>
            </a:r>
            <a:endParaRPr dirty="0">
              <a:latin typeface="Helvetica"/>
              <a:ea typeface="Helvetica"/>
              <a:cs typeface="Helvetica"/>
              <a:sym typeface="Helvetica"/>
            </a:endParaRPr>
          </a:p>
        </p:txBody>
      </p:sp>
    </p:spTree>
    <p:extLst>
      <p:ext uri="{BB962C8B-B14F-4D97-AF65-F5344CB8AC3E}">
        <p14:creationId xmlns:p14="http://schemas.microsoft.com/office/powerpoint/2010/main" val="29335482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5C804-46B3-C4F0-906D-8CCFD4B195CF}"/>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A1DD8249-63F0-3CBF-D55B-CA7FD9D6EB8A}"/>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F19E9880-AB3C-4131-A6A2-F0E1A8823FB0}"/>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There is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 well established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error</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analysis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which says the relative error of this approximation is only dependent on the turning angle. And this is a monotonically increasing function, which says the flatter the curve is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more accurate the approximation is.  So we subdivide the original curve into </a:t>
            </a:r>
            <a:r>
              <a:rPr lang="en-US" altLang="zh-CN" dirty="0" err="1">
                <a:latin typeface="Helvetica"/>
                <a:ea typeface="Helvetica"/>
                <a:cs typeface="Helvetica"/>
                <a:sym typeface="Helvetica"/>
              </a:rPr>
              <a:t>subcurves</a:t>
            </a:r>
            <a:r>
              <a:rPr lang="en-US" altLang="zh-CN" dirty="0">
                <a:latin typeface="Helvetica"/>
                <a:ea typeface="Helvetica"/>
                <a:cs typeface="Helvetica"/>
                <a:sym typeface="Helvetica"/>
              </a:rPr>
              <a:t> with bounded turning angle to guarantee the absolute error to be less than 0.03 pixels.</a:t>
            </a:r>
            <a:endParaRPr dirty="0">
              <a:latin typeface="Helvetica"/>
              <a:ea typeface="Helvetica"/>
              <a:cs typeface="Helvetica"/>
              <a:sym typeface="Helvetica"/>
            </a:endParaRPr>
          </a:p>
        </p:txBody>
      </p:sp>
    </p:spTree>
    <p:extLst>
      <p:ext uri="{BB962C8B-B14F-4D97-AF65-F5344CB8AC3E}">
        <p14:creationId xmlns:p14="http://schemas.microsoft.com/office/powerpoint/2010/main" val="30738039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5167E-29AC-4909-233F-F4B85121CF7E}"/>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49EF2167-67FC-C159-CB4E-7A35B0226547}"/>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E55F59EA-C8C7-5036-E182-EAACB7FE54F1}"/>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There are some details on determining where to subdivide. The main idea is to</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build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 equation system</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by requiring G1 continuity at joints between 2 </a:t>
            </a:r>
            <a:r>
              <a:rPr lang="en-US" altLang="zh-CN" dirty="0" err="1">
                <a:latin typeface="Helvetica"/>
                <a:ea typeface="Helvetica"/>
                <a:cs typeface="Helvetica"/>
                <a:sym typeface="Helvetica"/>
              </a:rPr>
              <a:t>subcurves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to impose the turning angle restriction</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solve the equation system in parallel, in the tessellation shader. </a:t>
            </a:r>
            <a:endParaRPr dirty="0">
              <a:latin typeface="Helvetica"/>
              <a:ea typeface="Helvetica"/>
              <a:cs typeface="Helvetica"/>
              <a:sym typeface="Helvetica"/>
            </a:endParaRPr>
          </a:p>
        </p:txBody>
      </p:sp>
    </p:spTree>
    <p:extLst>
      <p:ext uri="{BB962C8B-B14F-4D97-AF65-F5344CB8AC3E}">
        <p14:creationId xmlns:p14="http://schemas.microsoft.com/office/powerpoint/2010/main" val="42036718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8B7F7-0D3E-A104-E707-316610785FE1}"/>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0F276334-5696-FB14-564A-0447C963C1E7}"/>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mc:AlternateContent xmlns:mc="http://schemas.openxmlformats.org/markup-compatibility/2006" xmlns:a14="http://schemas.microsoft.com/office/drawing/2010/main">
        <mc:Choice Requires="a14">
          <p:sp>
            <p:nvSpPr>
              <p:cNvPr id="206" name="Shape 206">
                <a:extLst>
                  <a:ext uri="{FF2B5EF4-FFF2-40B4-BE49-F238E27FC236}">
                    <a16:creationId xmlns:a16="http://schemas.microsoft.com/office/drawing/2014/main" id="{D2321952-3FD5-4111-CC9B-C25FA8B0CB85}"/>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The next problem we solve is the efficient arc length parameterization for quadratic curves.  We apply the Newton iteration to solve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equation. But we all know</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that Newton iteration requires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 good initial guess. What we do is to approximate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arc-length function by a quadratic one and solve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simplified equation to obtain the initial </a:t>
                </a:r>
                <a:r>
                  <a:rPr lang="en-US" altLang="zh-CN" dirty="0" err="1">
                    <a:latin typeface="Helvetica"/>
                    <a:ea typeface="Helvetica"/>
                    <a:cs typeface="Helvetica"/>
                    <a:sym typeface="Helvetica"/>
                  </a:rPr>
                  <a:t>geuss</a:t>
                </a:r>
                <a:r>
                  <a:rPr lang="en-US" altLang="zh-CN" dirty="0">
                    <a:latin typeface="Helvetica"/>
                    <a:ea typeface="Helvetica"/>
                    <a:cs typeface="Helvetica"/>
                    <a:sym typeface="Helvetica"/>
                  </a:rPr>
                  <a:t>.</a:t>
                </a:r>
              </a:p>
              <a:p>
                <a:pPr defTabSz="914400">
                  <a:lnSpc>
                    <a:spcPct val="100000"/>
                  </a:lnSpc>
                  <a:defRPr sz="1200">
                    <a:latin typeface="Calibri"/>
                    <a:ea typeface="Calibri"/>
                    <a:cs typeface="Calibri"/>
                    <a:sym typeface="Calibri"/>
                  </a:defRPr>
                </a:pPr>
                <a:endParaRPr lang="en-US" dirty="0">
                  <a:latin typeface="Helvetica"/>
                  <a:ea typeface="Helvetica"/>
                  <a:cs typeface="Helvetica"/>
                  <a:sym typeface="Helvetica"/>
                </a:endParaRPr>
              </a:p>
            </p:txBody>
          </p:sp>
        </mc:Choice>
        <mc:Fallback xmlns="">
          <p:sp>
            <p:nvSpPr>
              <p:cNvPr id="206" name="Shape 206">
                <a:extLst>
                  <a:ext uri="{FF2B5EF4-FFF2-40B4-BE49-F238E27FC236}">
                    <a16:creationId xmlns:a16="http://schemas.microsoft.com/office/drawing/2014/main" id="{D2321952-3FD5-4111-CC9B-C25FA8B0CB85}"/>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sz="1200" i="0">
                    <a:solidFill>
                      <a:srgbClr val="000000"/>
                    </a:solidFill>
                    <a:latin typeface="Cambria Math" panose="02040503050406030204" pitchFamily="18" charset="0"/>
                  </a:rPr>
                  <a:t>𝑠 ̃</a:t>
                </a:r>
                <a:r>
                  <a:rPr lang="en-US" altLang="zh-CN" sz="1200" b="0" i="0">
                    <a:solidFill>
                      <a:srgbClr val="000000"/>
                    </a:solidFill>
                    <a:latin typeface="Cambria Math" panose="02040503050406030204" pitchFamily="18" charset="0"/>
                  </a:rPr>
                  <a:t>(𝑡)=−1/2 𝑠^′′ (0.5)𝑡(1−𝑡)+𝑙𝑡</a:t>
                </a:r>
                <a:r>
                  <a:rPr lang="en-US" dirty="0">
                    <a:latin typeface="Helvetica"/>
                    <a:ea typeface="Helvetica"/>
                    <a:cs typeface="Helvetica"/>
                    <a:sym typeface="Helvetica"/>
                  </a:rPr>
                  <a:t>, </a:t>
                </a:r>
                <a:r>
                  <a:rPr lang="en-US" baseline="0" dirty="0">
                    <a:latin typeface="Helvetica"/>
                    <a:ea typeface="Helvetica"/>
                    <a:cs typeface="Helvetica"/>
                    <a:sym typeface="Helvetica"/>
                  </a:rPr>
                  <a:t>   where </a:t>
                </a:r>
                <a:r>
                  <a:rPr lang="en-US" altLang="zh-CN" sz="1200" b="0" i="0">
                    <a:solidFill>
                      <a:srgbClr val="000000"/>
                    </a:solidFill>
                    <a:latin typeface="Cambria Math" panose="02040503050406030204" pitchFamily="18" charset="0"/>
                  </a:rPr>
                  <a:t>𝑙=𝑠(1)</a:t>
                </a:r>
                <a:r>
                  <a:rPr lang="en-US" dirty="0">
                    <a:latin typeface="Helvetica"/>
                    <a:ea typeface="Helvetica"/>
                    <a:cs typeface="Helvetica"/>
                    <a:sym typeface="Helvetica"/>
                  </a:rPr>
                  <a:t> is the total length</a:t>
                </a:r>
                <a:endParaRPr dirty="0">
                  <a:latin typeface="Helvetica"/>
                  <a:ea typeface="Helvetica"/>
                  <a:cs typeface="Helvetica"/>
                  <a:sym typeface="Helvetica"/>
                </a:endParaRPr>
              </a:p>
            </p:txBody>
          </p:sp>
        </mc:Fallback>
      </mc:AlternateContent>
    </p:spTree>
    <p:extLst>
      <p:ext uri="{BB962C8B-B14F-4D97-AF65-F5344CB8AC3E}">
        <p14:creationId xmlns:p14="http://schemas.microsoft.com/office/powerpoint/2010/main" val="18754989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FCE4C-0454-9518-EEAF-CFAAE74B2375}"/>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CF5DCC55-3194-0D8B-6F50-CE12732E5BF3}"/>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C84A8161-1F42-B42E-EA10-7310D64CDD6B}"/>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We analyzed how accurate this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initial guess is. Theorem 1 says the accuracy is controlled by the turning angle phi.</a:t>
            </a:r>
            <a:endParaRPr dirty="0">
              <a:latin typeface="Helvetica"/>
              <a:ea typeface="Helvetica"/>
              <a:cs typeface="Helvetica"/>
              <a:sym typeface="Helvetica"/>
            </a:endParaRPr>
          </a:p>
        </p:txBody>
      </p:sp>
    </p:spTree>
    <p:extLst>
      <p:ext uri="{BB962C8B-B14F-4D97-AF65-F5344CB8AC3E}">
        <p14:creationId xmlns:p14="http://schemas.microsoft.com/office/powerpoint/2010/main" val="6128660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3658E-FEEB-DD15-0E7B-B618089F6C5F}"/>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E6AFA6FD-5F1F-734F-285B-8716F677F797}"/>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BEB25F73-BB12-FFB3-D536-6D56158215F1}"/>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sz="1200" dirty="0">
                <a:sym typeface="Calibri"/>
              </a:rPr>
              <a:t>Furthermore, in Theorem 2 we provide an explicit upper bound on the convergence steps of Newton iteration, assuming a bounded turning angle and a non-extreme control-edge ratio.</a:t>
            </a:r>
            <a:endParaRPr dirty="0">
              <a:latin typeface="Helvetica"/>
              <a:ea typeface="Helvetica"/>
              <a:cs typeface="Helvetica"/>
              <a:sym typeface="Helvetica"/>
            </a:endParaRPr>
          </a:p>
        </p:txBody>
      </p:sp>
    </p:spTree>
    <p:extLst>
      <p:ext uri="{BB962C8B-B14F-4D97-AF65-F5344CB8AC3E}">
        <p14:creationId xmlns:p14="http://schemas.microsoft.com/office/powerpoint/2010/main" val="7790014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A2659-EFF2-A564-B464-C0A12E8FE8A0}"/>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B3F0FEB1-4C49-5038-D2FA-16706A660434}"/>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CC9EFD9C-0087-5B15-93DF-66C1F1F65E92}"/>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The upper bound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given in theorem 2 depends on</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error tolerance and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twice the control edge lengths. To understand its behavior, we assume the error tolerance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to be 0.01 and we observe how upper bound varies with the control edge length, then</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we obtain</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this table, which says in practice, Newton iteration always converges within 3 steps. </a:t>
            </a:r>
            <a:endParaRPr dirty="0">
              <a:latin typeface="Helvetica"/>
              <a:ea typeface="Helvetica"/>
              <a:cs typeface="Helvetica"/>
              <a:sym typeface="Helvetica"/>
            </a:endParaRPr>
          </a:p>
        </p:txBody>
      </p:sp>
    </p:spTree>
    <p:extLst>
      <p:ext uri="{BB962C8B-B14F-4D97-AF65-F5344CB8AC3E}">
        <p14:creationId xmlns:p14="http://schemas.microsoft.com/office/powerpoint/2010/main" val="34886876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E1341-525D-1C40-9B0A-D040A1387A0D}"/>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CDAF14C7-8670-8EE2-15B2-40B905F74C56}"/>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3FADE9B1-10AC-E2A0-3673-535B4F119D19}"/>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We apply the designed arc length parameterization method in dashed stroke rendering. We use subdivision with bounded curvature to guarantee fast convergence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to compute the parameter ranges of solid segments in each </a:t>
            </a:r>
            <a:r>
              <a:rPr lang="en-US" altLang="zh-CN" dirty="0" err="1">
                <a:latin typeface="Helvetica"/>
                <a:ea typeface="Helvetica"/>
                <a:cs typeface="Helvetica"/>
                <a:sym typeface="Helvetica"/>
              </a:rPr>
              <a:t>subcurve</a:t>
            </a:r>
            <a:r>
              <a:rPr lang="en-US" altLang="zh-CN" dirty="0">
                <a:latin typeface="Helvetica"/>
                <a:ea typeface="Helvetica"/>
                <a:cs typeface="Helvetica"/>
                <a:sym typeface="Helvetica"/>
              </a:rPr>
              <a:t> in parallel, again in tessellation shader.</a:t>
            </a:r>
            <a:endParaRPr dirty="0">
              <a:latin typeface="Helvetica"/>
              <a:ea typeface="Helvetica"/>
              <a:cs typeface="Helvetica"/>
              <a:sym typeface="Helvetica"/>
            </a:endParaRPr>
          </a:p>
        </p:txBody>
      </p:sp>
    </p:spTree>
    <p:extLst>
      <p:ext uri="{BB962C8B-B14F-4D97-AF65-F5344CB8AC3E}">
        <p14:creationId xmlns:p14="http://schemas.microsoft.com/office/powerpoint/2010/main" val="29744932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77CCC-70CC-D4E8-8AFD-38CCFFA98C5D}"/>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792C5CDA-F13C-4BB5-4708-83C116F9B1F8}"/>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D713C221-6A29-C756-53E8-95425B24CE97}"/>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We also solve the problem of texture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filling for the stroke region. We construct</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 texture mapping as follows, /</a:t>
            </a:r>
            <a:r>
              <a:rPr lang="zh-CN" altLang="en-US" dirty="0">
                <a:latin typeface="Helvetica"/>
                <a:ea typeface="Helvetica"/>
                <a:cs typeface="Helvetica"/>
                <a:sym typeface="Helvetica"/>
              </a:rPr>
              <a:t>*</a:t>
            </a:r>
            <a:r>
              <a:rPr lang="en-US" altLang="zh-CN" dirty="0">
                <a:latin typeface="Helvetica"/>
                <a:ea typeface="Helvetica"/>
                <a:cs typeface="Helvetica"/>
                <a:sym typeface="Helvetica"/>
              </a:rPr>
              <a:t>the overall idea is to</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parameterize the stroke region as a family of</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quadratic curves.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Then</a:t>
            </a:r>
            <a:r>
              <a:rPr lang="zh-CN" altLang="en-US" dirty="0">
                <a:latin typeface="Helvetica"/>
                <a:ea typeface="Helvetica"/>
                <a:cs typeface="Helvetica"/>
                <a:sym typeface="Helvetica"/>
              </a:rPr>
              <a:t>*</a:t>
            </a:r>
            <a:r>
              <a:rPr lang="en-US" altLang="zh-CN" dirty="0">
                <a:latin typeface="Helvetica"/>
                <a:ea typeface="Helvetica"/>
                <a:cs typeface="Helvetica"/>
                <a:sym typeface="Helvetica"/>
              </a:rPr>
              <a:t>/  the texture filling problem amounts to solve the inverse mapping of psi, again we use the Newton iteration.</a:t>
            </a:r>
          </a:p>
          <a:p>
            <a:pPr defTabSz="914400">
              <a:lnSpc>
                <a:spcPct val="100000"/>
              </a:lnSpc>
              <a:defRPr sz="1200">
                <a:latin typeface="Calibri"/>
                <a:ea typeface="Calibri"/>
                <a:cs typeface="Calibri"/>
                <a:sym typeface="Calibri"/>
              </a:defRPr>
            </a:pPr>
            <a:endParaRPr lang="en-US" altLang="zh-CN" dirty="0">
              <a:latin typeface="Helvetica"/>
              <a:ea typeface="Helvetica"/>
              <a:cs typeface="Helvetica"/>
              <a:sym typeface="Helvetica"/>
            </a:endParaRP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a:t>
            </a:r>
            <a:r>
              <a:rPr lang="zh-CN" altLang="en-US" dirty="0">
                <a:latin typeface="Helvetica"/>
                <a:ea typeface="Helvetica"/>
                <a:cs typeface="Helvetica"/>
                <a:sym typeface="Helvetica"/>
              </a:rPr>
              <a:t>*</a:t>
            </a:r>
            <a:r>
              <a:rPr lang="en-US" altLang="zh-CN" dirty="0">
                <a:latin typeface="Helvetica"/>
                <a:ea typeface="Helvetica"/>
                <a:cs typeface="Helvetica"/>
                <a:sym typeface="Helvetica"/>
              </a:rPr>
              <a:t>In general</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distortion will be introduced if the arc length and width of the stroke region doesn’t match.</a:t>
            </a:r>
            <a:r>
              <a:rPr lang="zh-CN" altLang="en-US" dirty="0">
                <a:latin typeface="Helvetica"/>
                <a:ea typeface="Helvetica"/>
                <a:cs typeface="Helvetica"/>
                <a:sym typeface="Helvetica"/>
              </a:rPr>
              <a:t>*</a:t>
            </a:r>
            <a:r>
              <a:rPr lang="en-US" altLang="zh-CN" dirty="0">
                <a:latin typeface="Helvetica"/>
                <a:ea typeface="Helvetica"/>
                <a:cs typeface="Helvetica"/>
                <a:sym typeface="Helvetica"/>
              </a:rPr>
              <a:t>/ Another application of the arc-length parameterization</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is to uniformly partition the region to have aspect ratio 1 to reduce the distortion introduced by texture mapping. </a:t>
            </a:r>
            <a:endParaRPr dirty="0">
              <a:latin typeface="Helvetica"/>
              <a:ea typeface="Helvetica"/>
              <a:cs typeface="Helvetica"/>
              <a:sym typeface="Helvetica"/>
            </a:endParaRPr>
          </a:p>
        </p:txBody>
      </p:sp>
    </p:spTree>
    <p:extLst>
      <p:ext uri="{BB962C8B-B14F-4D97-AF65-F5344CB8AC3E}">
        <p14:creationId xmlns:p14="http://schemas.microsoft.com/office/powerpoint/2010/main" val="18437258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56921-02C0-0A46-C5C9-2FD2C08CC3BF}"/>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C043A454-F043-C245-9247-E5A99B63C19F}"/>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B253BE3C-5FF7-C8E3-9246-B374B924A958}"/>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endParaRPr dirty="0">
              <a:latin typeface="Helvetica"/>
              <a:ea typeface="Helvetica"/>
              <a:cs typeface="Helvetica"/>
              <a:sym typeface="Helvetica"/>
            </a:endParaRPr>
          </a:p>
        </p:txBody>
      </p:sp>
    </p:spTree>
    <p:extLst>
      <p:ext uri="{BB962C8B-B14F-4D97-AF65-F5344CB8AC3E}">
        <p14:creationId xmlns:p14="http://schemas.microsoft.com/office/powerpoint/2010/main" val="41177573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DC812-1531-B440-E960-8D5AF6B5CF72}"/>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E57CA3D8-801B-D90B-A2C7-7569B3AEF93A}"/>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2452C1C4-C443-B689-E508-54DCD56BCADA}"/>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This is a comparison between our subdivision method and the previous work that uses trapezoids to approximate the stroke region. So it requires a lot more primitives than ours.</a:t>
            </a:r>
            <a:endParaRPr dirty="0">
              <a:latin typeface="Helvetica"/>
              <a:ea typeface="Helvetica"/>
              <a:cs typeface="Helvetica"/>
              <a:sym typeface="Helvetica"/>
            </a:endParaRPr>
          </a:p>
        </p:txBody>
      </p:sp>
    </p:spTree>
    <p:extLst>
      <p:ext uri="{BB962C8B-B14F-4D97-AF65-F5344CB8AC3E}">
        <p14:creationId xmlns:p14="http://schemas.microsoft.com/office/powerpoint/2010/main" val="41253076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DCA3C-663C-3341-59E5-2C8131C084FD}"/>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F5A22304-AACC-D39C-2E67-D28110CB5DD7}"/>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E477EC87-CAAE-05A5-1544-E06B133267D6}"/>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dirty="0">
                <a:latin typeface="Helvetica"/>
                <a:ea typeface="Helvetica"/>
                <a:cs typeface="Helvetica"/>
                <a:sym typeface="Helvetica"/>
              </a:rPr>
              <a:t>This is a video demo of the method. You can add control points by clicking on the screen, start another piecewise quadratic curve, switch to the dash mode or to the texture mode, increase the gap length, the segment length, modify the width, and of course zoom-in or zoom-out without a loss of quality,</a:t>
            </a:r>
            <a:endParaRPr dirty="0">
              <a:latin typeface="Helvetica"/>
              <a:ea typeface="Helvetica"/>
              <a:cs typeface="Helvetica"/>
              <a:sym typeface="Helvetica"/>
            </a:endParaRPr>
          </a:p>
        </p:txBody>
      </p:sp>
    </p:spTree>
    <p:extLst>
      <p:ext uri="{BB962C8B-B14F-4D97-AF65-F5344CB8AC3E}">
        <p14:creationId xmlns:p14="http://schemas.microsoft.com/office/powerpoint/2010/main" val="21829928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47112-AB2E-2970-6029-339A318159E0}"/>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AAAF8369-66F5-0214-E363-CA8DA7C5C0A8}"/>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4352E14C-83F2-5387-BA3B-CA3687A6B373}"/>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Here are our rendering results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for strokes with different widths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different dash patterns.</a:t>
            </a:r>
            <a:endParaRPr dirty="0">
              <a:latin typeface="Helvetica"/>
              <a:ea typeface="Helvetica"/>
              <a:cs typeface="Helvetica"/>
              <a:sym typeface="Helvetica"/>
            </a:endParaRPr>
          </a:p>
        </p:txBody>
      </p:sp>
    </p:spTree>
    <p:extLst>
      <p:ext uri="{BB962C8B-B14F-4D97-AF65-F5344CB8AC3E}">
        <p14:creationId xmlns:p14="http://schemas.microsoft.com/office/powerpoint/2010/main" val="35149204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BE41F-060F-0D99-56A9-F811621DE32B}"/>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D7CFCD77-C6AC-7AFB-68D3-4D2291AC9E61}"/>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F32A3B60-0C09-85C9-AC12-8F0257C0EA31}"/>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This is our texture filling result. </a:t>
            </a:r>
            <a:endParaRPr dirty="0">
              <a:latin typeface="Helvetica"/>
              <a:ea typeface="Helvetica"/>
              <a:cs typeface="Helvetica"/>
              <a:sym typeface="Helvetica"/>
            </a:endParaRPr>
          </a:p>
        </p:txBody>
      </p:sp>
    </p:spTree>
    <p:extLst>
      <p:ext uri="{BB962C8B-B14F-4D97-AF65-F5344CB8AC3E}">
        <p14:creationId xmlns:p14="http://schemas.microsoft.com/office/powerpoint/2010/main" val="2555353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51E68-DAC0-0A3B-33E6-B296978C8BDB}"/>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3D59229F-0432-2BC9-1EE6-58F82F626BBA}"/>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1ED8BEF4-DF29-BE6A-DF83-FF684434759D}"/>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Here is the comparison of speed.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Our method obtains average speedups of 3.4 times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for solid stroke and 2.5 times for dashed stroke, over the existing method.</a:t>
            </a:r>
            <a:endParaRPr dirty="0">
              <a:latin typeface="Helvetica"/>
              <a:ea typeface="Helvetica"/>
              <a:cs typeface="Helvetica"/>
              <a:sym typeface="Helvetica"/>
            </a:endParaRPr>
          </a:p>
        </p:txBody>
      </p:sp>
    </p:spTree>
    <p:extLst>
      <p:ext uri="{BB962C8B-B14F-4D97-AF65-F5344CB8AC3E}">
        <p14:creationId xmlns:p14="http://schemas.microsoft.com/office/powerpoint/2010/main" val="6669141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6956B-E002-FBB3-4784-0B39562F1D1F}"/>
            </a:ext>
          </a:extLst>
        </p:cNvPr>
        <p:cNvGrpSpPr/>
        <p:nvPr/>
      </p:nvGrpSpPr>
      <p:grpSpPr>
        <a:xfrm>
          <a:off x="0" y="0"/>
          <a:ext cx="0" cy="0"/>
          <a:chOff x="0" y="0"/>
          <a:chExt cx="0" cy="0"/>
        </a:xfrm>
      </p:grpSpPr>
      <p:sp>
        <p:nvSpPr>
          <p:cNvPr id="205" name="Shape 205">
            <a:extLst>
              <a:ext uri="{FF2B5EF4-FFF2-40B4-BE49-F238E27FC236}">
                <a16:creationId xmlns:a16="http://schemas.microsoft.com/office/drawing/2014/main" id="{71ECC7D9-DA17-F4FF-89B3-032F7512F278}"/>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06" name="Shape 206">
            <a:extLst>
              <a:ext uri="{FF2B5EF4-FFF2-40B4-BE49-F238E27FC236}">
                <a16:creationId xmlns:a16="http://schemas.microsoft.com/office/drawing/2014/main" id="{B92D4DCD-4AF2-BC28-B33E-6C3DF35A254D}"/>
              </a:ext>
            </a:extLst>
          </p:cNvPr>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In conclusion we propose a GPU accelerated rendering method of quadratic strokes,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where we combine the efficiency of the implicit equation-based rendering and the accuracy of curvature guided subdivision. </a:t>
            </a: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We also develop an efficient arc-length parameterization method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with guaranteed fast convergence</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applicable for dash and texture filling. </a:t>
            </a:r>
          </a:p>
          <a:p>
            <a:pPr defTabSz="914400">
              <a:lnSpc>
                <a:spcPct val="100000"/>
              </a:lnSpc>
              <a:defRPr sz="1200">
                <a:latin typeface="Calibri"/>
                <a:ea typeface="Calibri"/>
                <a:cs typeface="Calibri"/>
                <a:sym typeface="Calibri"/>
              </a:defRPr>
            </a:pPr>
            <a:endParaRPr lang="en-US" altLang="zh-CN" dirty="0">
              <a:latin typeface="Helvetica"/>
              <a:ea typeface="Helvetica"/>
              <a:cs typeface="Helvetica"/>
              <a:sym typeface="Helvetica"/>
            </a:endParaRP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In future work we plan to deal with the hardware limitation in tessellations shader. /* Currently we use tessellation shader for the dashed</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stroke rendering</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but there are a maximum number of allowable tessellated segments, so we can only render like at most 32</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dashes per </a:t>
            </a:r>
            <a:r>
              <a:rPr lang="en-US" altLang="zh-CN" dirty="0" err="1">
                <a:latin typeface="Helvetica"/>
                <a:ea typeface="Helvetica"/>
                <a:cs typeface="Helvetica"/>
                <a:sym typeface="Helvetica"/>
              </a:rPr>
              <a:t>subcurve</a:t>
            </a:r>
            <a:r>
              <a:rPr lang="en-US" altLang="zh-CN" dirty="0">
                <a:latin typeface="Helvetica"/>
                <a:ea typeface="Helvetica"/>
                <a:cs typeface="Helvetica"/>
                <a:sym typeface="Helvetica"/>
              </a:rPr>
              <a:t>. */</a:t>
            </a:r>
          </a:p>
          <a:p>
            <a:pPr defTabSz="914400">
              <a:lnSpc>
                <a:spcPct val="100000"/>
              </a:lnSpc>
              <a:defRPr sz="1200">
                <a:latin typeface="Calibri"/>
                <a:ea typeface="Calibri"/>
                <a:cs typeface="Calibri"/>
                <a:sym typeface="Calibri"/>
              </a:defRPr>
            </a:pPr>
            <a:endParaRPr lang="en-US" altLang="zh-CN" dirty="0">
              <a:latin typeface="Helvetica"/>
              <a:ea typeface="Helvetica"/>
              <a:cs typeface="Helvetica"/>
              <a:sym typeface="Helvetica"/>
            </a:endParaRPr>
          </a:p>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On the other hand we plan to support more complex paths</a:t>
            </a:r>
            <a:r>
              <a:rPr lang="zh-CN" altLang="en-US" dirty="0">
                <a:latin typeface="Helvetica"/>
                <a:ea typeface="Helvetica"/>
                <a:cs typeface="Helvetica"/>
                <a:sym typeface="Helvetica"/>
              </a:rPr>
              <a:t> </a:t>
            </a:r>
            <a:r>
              <a:rPr lang="en-US" altLang="zh-CN" dirty="0">
                <a:latin typeface="Helvetica"/>
                <a:ea typeface="Helvetica"/>
                <a:cs typeface="Helvetica"/>
                <a:sym typeface="Helvetica"/>
              </a:rPr>
              <a:t>and SVG stroke styles like joints and caps etc. this might involve decomposing paths into curvature bounded quadratics and conduct an error analysis.</a:t>
            </a:r>
            <a:endParaRPr dirty="0">
              <a:latin typeface="Helvetica"/>
              <a:ea typeface="Helvetica"/>
              <a:cs typeface="Helvetica"/>
              <a:sym typeface="Helvetica"/>
            </a:endParaRPr>
          </a:p>
        </p:txBody>
      </p:sp>
    </p:spTree>
    <p:extLst>
      <p:ext uri="{BB962C8B-B14F-4D97-AF65-F5344CB8AC3E}">
        <p14:creationId xmlns:p14="http://schemas.microsoft.com/office/powerpoint/2010/main" val="16973787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Shape 1324"/>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325" name="Shape 1325"/>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altLang="zh-CN" dirty="0">
                <a:latin typeface="Helvetica"/>
                <a:ea typeface="Helvetica"/>
                <a:cs typeface="Helvetica"/>
                <a:sym typeface="Helvetica"/>
              </a:rPr>
              <a:t>This is my talk, thank you. The source code is available on </a:t>
            </a:r>
            <a:r>
              <a:rPr lang="en-US" altLang="zh-CN" dirty="0" err="1">
                <a:latin typeface="Helvetica"/>
                <a:ea typeface="Helvetica"/>
                <a:cs typeface="Helvetica"/>
                <a:sym typeface="Helvetica"/>
              </a:rPr>
              <a:t>github</a:t>
            </a:r>
            <a:r>
              <a:rPr lang="en-US" altLang="zh-CN" dirty="0">
                <a:latin typeface="Helvetica"/>
                <a:ea typeface="Helvetica"/>
                <a:cs typeface="Helvetica"/>
                <a:sym typeface="Helvetica"/>
              </a:rPr>
              <a:t>. Do you have any questions?</a:t>
            </a:r>
            <a:endParaRPr dirty="0">
              <a:latin typeface="Helvetica"/>
              <a:ea typeface="Helvetica"/>
              <a:cs typeface="Helvetica"/>
              <a:sym typeface="Helvetica"/>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标题">
    <p:spTree>
      <p:nvGrpSpPr>
        <p:cNvPr id="1" name=""/>
        <p:cNvGrpSpPr/>
        <p:nvPr/>
      </p:nvGrpSpPr>
      <p:grpSpPr>
        <a:xfrm>
          <a:off x="0" y="0"/>
          <a:ext cx="0" cy="0"/>
          <a:chOff x="0" y="0"/>
          <a:chExt cx="0" cy="0"/>
        </a:xfrm>
      </p:grpSpPr>
      <p:sp>
        <p:nvSpPr>
          <p:cNvPr id="11" name="作者和日期"/>
          <p:cNvSpPr txBox="1">
            <a:spLocks noGrp="1"/>
          </p:cNvSpPr>
          <p:nvPr>
            <p:ph type="body" sz="quarter" idx="21" hasCustomPrompt="1"/>
          </p:nvPr>
        </p:nvSpPr>
        <p:spPr>
          <a:xfrm>
            <a:off x="1201340" y="11859862"/>
            <a:ext cx="21971003" cy="636979"/>
          </a:xfrm>
          <a:prstGeom prst="rect">
            <a:avLst/>
          </a:prstGeom>
        </p:spPr>
        <p:txBody>
          <a:bodyPr lIns="45719" tIns="45719" rIns="45719" bIns="45719"/>
          <a:lstStyle>
            <a:lvl1pPr marL="0" indent="0" defTabSz="701675">
              <a:lnSpc>
                <a:spcPct val="100000"/>
              </a:lnSpc>
              <a:spcBef>
                <a:spcPts val="0"/>
              </a:spcBef>
              <a:buSzTx/>
              <a:buNone/>
              <a:defRPr sz="3060" b="1"/>
            </a:lvl1pPr>
          </a:lstStyle>
          <a:p>
            <a:r>
              <a:rPr dirty="0" err="1"/>
              <a:t>作者和日期</a:t>
            </a:r>
            <a:endParaRPr dirty="0"/>
          </a:p>
        </p:txBody>
      </p:sp>
      <p:sp>
        <p:nvSpPr>
          <p:cNvPr id="12" name="演示文稿标题"/>
          <p:cNvSpPr txBox="1">
            <a:spLocks noGrp="1"/>
          </p:cNvSpPr>
          <p:nvPr>
            <p:ph type="title" hasCustomPrompt="1"/>
          </p:nvPr>
        </p:nvSpPr>
        <p:spPr>
          <a:xfrm>
            <a:off x="1206496" y="2574991"/>
            <a:ext cx="21971004" cy="4648201"/>
          </a:xfrm>
          <a:prstGeom prst="rect">
            <a:avLst/>
          </a:prstGeom>
        </p:spPr>
        <p:txBody>
          <a:bodyPr anchor="b"/>
          <a:lstStyle>
            <a:lvl1pPr>
              <a:defRPr sz="11600" spc="-232"/>
            </a:lvl1pPr>
          </a:lstStyle>
          <a:p>
            <a:r>
              <a:rPr dirty="0" err="1"/>
              <a:t>演示文稿标题</a:t>
            </a:r>
            <a:endParaRPr dirty="0"/>
          </a:p>
        </p:txBody>
      </p:sp>
      <p:sp>
        <p:nvSpPr>
          <p:cNvPr id="13" name="正文级别 1…"/>
          <p:cNvSpPr txBox="1">
            <a:spLocks noGrp="1"/>
          </p:cNvSpPr>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sz="5500" b="1"/>
            </a:lvl1pPr>
            <a:lvl2pPr marL="0" indent="457200" defTabSz="825500">
              <a:lnSpc>
                <a:spcPct val="100000"/>
              </a:lnSpc>
              <a:spcBef>
                <a:spcPts val="0"/>
              </a:spcBef>
              <a:buSzTx/>
              <a:buNone/>
              <a:defRPr sz="5500" b="1"/>
            </a:lvl2pPr>
            <a:lvl3pPr marL="0" indent="914400" defTabSz="825500">
              <a:lnSpc>
                <a:spcPct val="100000"/>
              </a:lnSpc>
              <a:spcBef>
                <a:spcPts val="0"/>
              </a:spcBef>
              <a:buSzTx/>
              <a:buNone/>
              <a:defRPr sz="5500" b="1"/>
            </a:lvl3pPr>
            <a:lvl4pPr marL="0" indent="1371600" defTabSz="825500">
              <a:lnSpc>
                <a:spcPct val="100000"/>
              </a:lnSpc>
              <a:spcBef>
                <a:spcPts val="0"/>
              </a:spcBef>
              <a:buSzTx/>
              <a:buNone/>
              <a:defRPr sz="5500" b="1"/>
            </a:lvl4pPr>
            <a:lvl5pPr marL="0" indent="1828800" defTabSz="825500">
              <a:lnSpc>
                <a:spcPct val="100000"/>
              </a:lnSpc>
              <a:spcBef>
                <a:spcPts val="0"/>
              </a:spcBef>
              <a:buSzTx/>
              <a:buNone/>
              <a:defRPr sz="5500" b="1"/>
            </a:lvl5pPr>
          </a:lstStyle>
          <a:p>
            <a:r>
              <a:rPr dirty="0" err="1"/>
              <a:t>演示文稿副标题</a:t>
            </a:r>
            <a:endParaRPr dirty="0"/>
          </a:p>
          <a:p>
            <a:pPr lvl="1"/>
            <a:endParaRPr dirty="0"/>
          </a:p>
          <a:p>
            <a:pPr lvl="2"/>
            <a:endParaRPr dirty="0"/>
          </a:p>
          <a:p>
            <a:pPr lvl="3"/>
            <a:endParaRPr dirty="0"/>
          </a:p>
          <a:p>
            <a:pPr lvl="4"/>
            <a:endParaRPr dirty="0"/>
          </a:p>
        </p:txBody>
      </p:sp>
      <p:sp>
        <p:nvSpPr>
          <p:cNvPr id="14"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标题与照片">
    <p:spTree>
      <p:nvGrpSpPr>
        <p:cNvPr id="1" name=""/>
        <p:cNvGrpSpPr/>
        <p:nvPr/>
      </p:nvGrpSpPr>
      <p:grpSpPr>
        <a:xfrm>
          <a:off x="0" y="0"/>
          <a:ext cx="0" cy="0"/>
          <a:chOff x="0" y="0"/>
          <a:chExt cx="0" cy="0"/>
        </a:xfrm>
      </p:grpSpPr>
      <p:sp>
        <p:nvSpPr>
          <p:cNvPr id="21" name="鳄梨和酸橙"/>
          <p:cNvSpPr>
            <a:spLocks noGrp="1"/>
          </p:cNvSpPr>
          <p:nvPr>
            <p:ph type="pic" idx="21"/>
          </p:nvPr>
        </p:nvSpPr>
        <p:spPr>
          <a:xfrm>
            <a:off x="-1155700" y="-1295400"/>
            <a:ext cx="26746200" cy="16018933"/>
          </a:xfrm>
          <a:prstGeom prst="rect">
            <a:avLst/>
          </a:prstGeom>
        </p:spPr>
        <p:txBody>
          <a:bodyPr lIns="91439" tIns="45719" rIns="91439" bIns="45719">
            <a:noAutofit/>
          </a:bodyPr>
          <a:lstStyle>
            <a:lvl1pPr>
              <a:defRPr/>
            </a:lvl1pPr>
          </a:lstStyle>
          <a:p>
            <a:endParaRPr dirty="0"/>
          </a:p>
        </p:txBody>
      </p:sp>
      <p:sp>
        <p:nvSpPr>
          <p:cNvPr id="22" name="演示文稿标题"/>
          <p:cNvSpPr txBox="1">
            <a:spLocks noGrp="1"/>
          </p:cNvSpPr>
          <p:nvPr>
            <p:ph type="title" hasCustomPrompt="1"/>
          </p:nvPr>
        </p:nvSpPr>
        <p:spPr>
          <a:xfrm>
            <a:off x="1206500" y="7124700"/>
            <a:ext cx="21971000" cy="4648200"/>
          </a:xfrm>
          <a:prstGeom prst="rect">
            <a:avLst/>
          </a:prstGeom>
        </p:spPr>
        <p:txBody>
          <a:bodyPr anchor="b"/>
          <a:lstStyle>
            <a:lvl1pPr>
              <a:defRPr sz="11600" spc="-232"/>
            </a:lvl1pPr>
          </a:lstStyle>
          <a:p>
            <a:r>
              <a:rPr dirty="0" err="1"/>
              <a:t>演示文稿标题</a:t>
            </a:r>
            <a:endParaRPr dirty="0"/>
          </a:p>
        </p:txBody>
      </p:sp>
      <p:sp>
        <p:nvSpPr>
          <p:cNvPr id="23" name="作者和日期"/>
          <p:cNvSpPr txBox="1">
            <a:spLocks noGrp="1"/>
          </p:cNvSpPr>
          <p:nvPr>
            <p:ph type="body" sz="quarter" idx="22" hasCustomPrompt="1"/>
          </p:nvPr>
        </p:nvSpPr>
        <p:spPr>
          <a:xfrm>
            <a:off x="1207690" y="1106137"/>
            <a:ext cx="21968621" cy="636979"/>
          </a:xfrm>
          <a:prstGeom prst="rect">
            <a:avLst/>
          </a:prstGeom>
        </p:spPr>
        <p:txBody>
          <a:bodyPr lIns="45719" tIns="45719" rIns="45719" bIns="45719"/>
          <a:lstStyle>
            <a:lvl1pPr marL="0" indent="0" defTabSz="701675">
              <a:lnSpc>
                <a:spcPct val="100000"/>
              </a:lnSpc>
              <a:spcBef>
                <a:spcPts val="0"/>
              </a:spcBef>
              <a:buSzTx/>
              <a:buNone/>
              <a:defRPr sz="3060" b="1"/>
            </a:lvl1pPr>
          </a:lstStyle>
          <a:p>
            <a:r>
              <a:rPr dirty="0" err="1"/>
              <a:t>作者和日期</a:t>
            </a:r>
            <a:endParaRPr dirty="0"/>
          </a:p>
        </p:txBody>
      </p:sp>
      <p:sp>
        <p:nvSpPr>
          <p:cNvPr id="24" name="正文级别 1…"/>
          <p:cNvSpPr txBox="1">
            <a:spLocks noGrp="1"/>
          </p:cNvSpPr>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sz="5500" b="1"/>
            </a:lvl1pPr>
            <a:lvl2pPr marL="0" indent="457200" defTabSz="825500">
              <a:lnSpc>
                <a:spcPct val="100000"/>
              </a:lnSpc>
              <a:spcBef>
                <a:spcPts val="0"/>
              </a:spcBef>
              <a:buSzTx/>
              <a:buNone/>
              <a:defRPr sz="5500" b="1"/>
            </a:lvl2pPr>
            <a:lvl3pPr marL="0" indent="914400" defTabSz="825500">
              <a:lnSpc>
                <a:spcPct val="100000"/>
              </a:lnSpc>
              <a:spcBef>
                <a:spcPts val="0"/>
              </a:spcBef>
              <a:buSzTx/>
              <a:buNone/>
              <a:defRPr sz="5500" b="1"/>
            </a:lvl3pPr>
            <a:lvl4pPr marL="0" indent="1371600" defTabSz="825500">
              <a:lnSpc>
                <a:spcPct val="100000"/>
              </a:lnSpc>
              <a:spcBef>
                <a:spcPts val="0"/>
              </a:spcBef>
              <a:buSzTx/>
              <a:buNone/>
              <a:defRPr sz="5500" b="1"/>
            </a:lvl4pPr>
            <a:lvl5pPr marL="0" indent="1828800" defTabSz="825500">
              <a:lnSpc>
                <a:spcPct val="100000"/>
              </a:lnSpc>
              <a:spcBef>
                <a:spcPts val="0"/>
              </a:spcBef>
              <a:buSzTx/>
              <a:buNone/>
              <a:defRPr sz="5500" b="1"/>
            </a:lvl5pPr>
          </a:lstStyle>
          <a:p>
            <a:r>
              <a:rPr dirty="0" err="1"/>
              <a:t>演示文稿副标题</a:t>
            </a:r>
            <a:endParaRPr dirty="0"/>
          </a:p>
          <a:p>
            <a:pPr lvl="1"/>
            <a:endParaRPr dirty="0"/>
          </a:p>
          <a:p>
            <a:pPr lvl="2"/>
            <a:endParaRPr dirty="0"/>
          </a:p>
          <a:p>
            <a:pPr lvl="3"/>
            <a:endParaRPr dirty="0"/>
          </a:p>
          <a:p>
            <a:pPr lvl="4"/>
            <a:endParaRPr dirty="0"/>
          </a:p>
        </p:txBody>
      </p:sp>
      <p:sp>
        <p:nvSpPr>
          <p:cNvPr id="25"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标题与照片（备选）">
    <p:spTree>
      <p:nvGrpSpPr>
        <p:cNvPr id="1" name=""/>
        <p:cNvGrpSpPr/>
        <p:nvPr/>
      </p:nvGrpSpPr>
      <p:grpSpPr>
        <a:xfrm>
          <a:off x="0" y="0"/>
          <a:ext cx="0" cy="0"/>
          <a:chOff x="0" y="0"/>
          <a:chExt cx="0" cy="0"/>
        </a:xfrm>
      </p:grpSpPr>
      <p:sp>
        <p:nvSpPr>
          <p:cNvPr id="32" name="一碗三文鱼饼、沙拉和鹰嘴豆泥"/>
          <p:cNvSpPr>
            <a:spLocks noGrp="1"/>
          </p:cNvSpPr>
          <p:nvPr>
            <p:ph type="pic" idx="21"/>
          </p:nvPr>
        </p:nvSpPr>
        <p:spPr>
          <a:xfrm>
            <a:off x="10972800" y="-203200"/>
            <a:ext cx="12144837" cy="14135100"/>
          </a:xfrm>
          <a:prstGeom prst="rect">
            <a:avLst/>
          </a:prstGeom>
        </p:spPr>
        <p:txBody>
          <a:bodyPr lIns="91439" tIns="45719" rIns="91439" bIns="45719">
            <a:noAutofit/>
          </a:bodyPr>
          <a:lstStyle>
            <a:lvl1pPr>
              <a:defRPr/>
            </a:lvl1pPr>
          </a:lstStyle>
          <a:p>
            <a:endParaRPr dirty="0"/>
          </a:p>
        </p:txBody>
      </p:sp>
      <p:sp>
        <p:nvSpPr>
          <p:cNvPr id="33" name="幻灯片标题"/>
          <p:cNvSpPr txBox="1">
            <a:spLocks noGrp="1"/>
          </p:cNvSpPr>
          <p:nvPr>
            <p:ph type="title" hasCustomPrompt="1"/>
          </p:nvPr>
        </p:nvSpPr>
        <p:spPr>
          <a:xfrm>
            <a:off x="1206500" y="1270000"/>
            <a:ext cx="9779000" cy="5882273"/>
          </a:xfrm>
          <a:prstGeom prst="rect">
            <a:avLst/>
          </a:prstGeom>
        </p:spPr>
        <p:txBody>
          <a:bodyPr anchor="b"/>
          <a:lstStyle>
            <a:lvl1pPr>
              <a:defRPr/>
            </a:lvl1pPr>
          </a:lstStyle>
          <a:p>
            <a:r>
              <a:rPr dirty="0" err="1"/>
              <a:t>幻灯片标题</a:t>
            </a:r>
            <a:endParaRPr dirty="0"/>
          </a:p>
        </p:txBody>
      </p:sp>
      <p:sp>
        <p:nvSpPr>
          <p:cNvPr id="34" name="正文级别 1…"/>
          <p:cNvSpPr txBox="1">
            <a:spLocks noGrp="1"/>
          </p:cNvSpPr>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sz="5500" b="1"/>
            </a:lvl1pPr>
            <a:lvl2pPr marL="0" indent="457200" defTabSz="825500">
              <a:lnSpc>
                <a:spcPct val="100000"/>
              </a:lnSpc>
              <a:spcBef>
                <a:spcPts val="0"/>
              </a:spcBef>
              <a:buSzTx/>
              <a:buNone/>
              <a:defRPr sz="5500" b="1"/>
            </a:lvl2pPr>
            <a:lvl3pPr marL="0" indent="914400" defTabSz="825500">
              <a:lnSpc>
                <a:spcPct val="100000"/>
              </a:lnSpc>
              <a:spcBef>
                <a:spcPts val="0"/>
              </a:spcBef>
              <a:buSzTx/>
              <a:buNone/>
              <a:defRPr sz="5500" b="1"/>
            </a:lvl3pPr>
            <a:lvl4pPr marL="0" indent="1371600" defTabSz="825500">
              <a:lnSpc>
                <a:spcPct val="100000"/>
              </a:lnSpc>
              <a:spcBef>
                <a:spcPts val="0"/>
              </a:spcBef>
              <a:buSzTx/>
              <a:buNone/>
              <a:defRPr sz="5500" b="1"/>
            </a:lvl4pPr>
            <a:lvl5pPr marL="0" indent="1828800" defTabSz="825500">
              <a:lnSpc>
                <a:spcPct val="100000"/>
              </a:lnSpc>
              <a:spcBef>
                <a:spcPts val="0"/>
              </a:spcBef>
              <a:buSzTx/>
              <a:buNone/>
              <a:defRPr sz="5500" b="1"/>
            </a:lvl5pPr>
          </a:lstStyle>
          <a:p>
            <a:r>
              <a:rPr dirty="0" err="1"/>
              <a:t>幻灯片副标题</a:t>
            </a:r>
            <a:endParaRPr dirty="0"/>
          </a:p>
          <a:p>
            <a:pPr lvl="1"/>
            <a:endParaRPr dirty="0"/>
          </a:p>
          <a:p>
            <a:pPr lvl="2"/>
            <a:endParaRPr dirty="0"/>
          </a:p>
          <a:p>
            <a:pPr lvl="3"/>
            <a:endParaRPr dirty="0"/>
          </a:p>
          <a:p>
            <a:pPr lvl="4"/>
            <a:endParaRPr dirty="0"/>
          </a:p>
        </p:txBody>
      </p:sp>
      <p:sp>
        <p:nvSpPr>
          <p:cNvPr id="35" name="幻灯片编号"/>
          <p:cNvSpPr txBox="1">
            <a:spLocks noGrp="1"/>
          </p:cNvSpPr>
          <p:nvPr>
            <p:ph type="sldNum" sz="quarter" idx="2"/>
          </p:nvPr>
        </p:nvSpPr>
        <p:spPr>
          <a:xfrm>
            <a:off x="11993391" y="13080242"/>
            <a:ext cx="384721" cy="379591"/>
          </a:xfrm>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标题与项目符号">
    <p:spTree>
      <p:nvGrpSpPr>
        <p:cNvPr id="1" name=""/>
        <p:cNvGrpSpPr/>
        <p:nvPr/>
      </p:nvGrpSpPr>
      <p:grpSpPr>
        <a:xfrm>
          <a:off x="0" y="0"/>
          <a:ext cx="0" cy="0"/>
          <a:chOff x="0" y="0"/>
          <a:chExt cx="0" cy="0"/>
        </a:xfrm>
      </p:grpSpPr>
      <p:sp>
        <p:nvSpPr>
          <p:cNvPr id="42" name="幻灯片标题"/>
          <p:cNvSpPr txBox="1">
            <a:spLocks noGrp="1"/>
          </p:cNvSpPr>
          <p:nvPr>
            <p:ph type="title" hasCustomPrompt="1"/>
          </p:nvPr>
        </p:nvSpPr>
        <p:spPr>
          <a:prstGeom prst="rect">
            <a:avLst/>
          </a:prstGeom>
        </p:spPr>
        <p:txBody>
          <a:bodyPr/>
          <a:lstStyle>
            <a:lvl1pPr>
              <a:defRPr/>
            </a:lvl1pPr>
          </a:lstStyle>
          <a:p>
            <a:r>
              <a:rPr dirty="0" err="1"/>
              <a:t>幻灯片标题</a:t>
            </a:r>
            <a:endParaRPr dirty="0"/>
          </a:p>
        </p:txBody>
      </p:sp>
      <p:sp>
        <p:nvSpPr>
          <p:cNvPr id="43" name="幻灯片副标题"/>
          <p:cNvSpPr txBox="1">
            <a:spLocks noGrp="1"/>
          </p:cNvSpPr>
          <p:nvPr>
            <p:ph type="body" sz="quarter" idx="21" hasCustomPrompt="1"/>
          </p:nvPr>
        </p:nvSpPr>
        <p:spPr>
          <a:xfrm>
            <a:off x="1206500" y="2372962"/>
            <a:ext cx="21971000" cy="934780"/>
          </a:xfrm>
          <a:prstGeom prst="rect">
            <a:avLst/>
          </a:prstGeom>
        </p:spPr>
        <p:txBody>
          <a:bodyPr lIns="45719" tIns="45719" rIns="45719" bIns="45719"/>
          <a:lstStyle>
            <a:lvl1pPr marL="0" indent="0" defTabSz="726440">
              <a:lnSpc>
                <a:spcPct val="100000"/>
              </a:lnSpc>
              <a:spcBef>
                <a:spcPts val="0"/>
              </a:spcBef>
              <a:buSzTx/>
              <a:buNone/>
              <a:defRPr sz="4840" b="1"/>
            </a:lvl1pPr>
          </a:lstStyle>
          <a:p>
            <a:r>
              <a:rPr dirty="0" err="1"/>
              <a:t>幻灯片副标题</a:t>
            </a:r>
            <a:endParaRPr dirty="0"/>
          </a:p>
        </p:txBody>
      </p:sp>
      <p:sp>
        <p:nvSpPr>
          <p:cNvPr id="44" name="正文级别 1…"/>
          <p:cNvSpPr txBox="1">
            <a:spLocks noGrp="1"/>
          </p:cNvSpPr>
          <p:nvPr>
            <p:ph type="body" idx="1" hasCustomPrompt="1"/>
          </p:nvPr>
        </p:nvSpPr>
        <p:spPr>
          <a:prstGeom prst="rect">
            <a:avLst/>
          </a:prstGeom>
        </p:spPr>
        <p:txBody>
          <a:bodyPr/>
          <a:lstStyle>
            <a:lvl1pPr>
              <a:defRPr/>
            </a:lvl1pPr>
            <a:lvl2pPr>
              <a:defRPr/>
            </a:lvl2pPr>
            <a:lvl3pPr>
              <a:defRPr/>
            </a:lvl3pPr>
            <a:lvl4pPr>
              <a:defRPr/>
            </a:lvl4pPr>
            <a:lvl5pPr>
              <a:defRPr/>
            </a:lvl5pPr>
          </a:lstStyle>
          <a:p>
            <a:r>
              <a:rPr dirty="0" err="1"/>
              <a:t>幻灯片项目符号文本</a:t>
            </a:r>
            <a:endParaRPr dirty="0"/>
          </a:p>
          <a:p>
            <a:pPr lvl="1"/>
            <a:endParaRPr dirty="0"/>
          </a:p>
          <a:p>
            <a:pPr lvl="2"/>
            <a:endParaRPr dirty="0"/>
          </a:p>
          <a:p>
            <a:pPr lvl="3"/>
            <a:endParaRPr dirty="0"/>
          </a:p>
          <a:p>
            <a:pPr lvl="4"/>
            <a:endParaRPr dirty="0"/>
          </a:p>
        </p:txBody>
      </p:sp>
      <p:sp>
        <p:nvSpPr>
          <p:cNvPr id="45"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项目符号">
    <p:spTree>
      <p:nvGrpSpPr>
        <p:cNvPr id="1" name=""/>
        <p:cNvGrpSpPr/>
        <p:nvPr/>
      </p:nvGrpSpPr>
      <p:grpSpPr>
        <a:xfrm>
          <a:off x="0" y="0"/>
          <a:ext cx="0" cy="0"/>
          <a:chOff x="0" y="0"/>
          <a:chExt cx="0" cy="0"/>
        </a:xfrm>
      </p:grpSpPr>
      <p:sp>
        <p:nvSpPr>
          <p:cNvPr id="52" name="正文级别 1…"/>
          <p:cNvSpPr txBox="1">
            <a:spLocks noGrp="1"/>
          </p:cNvSpPr>
          <p:nvPr>
            <p:ph type="body" idx="1" hasCustomPrompt="1"/>
          </p:nvPr>
        </p:nvSpPr>
        <p:spPr>
          <a:prstGeom prst="rect">
            <a:avLst/>
          </a:prstGeom>
        </p:spPr>
        <p:txBody>
          <a:bodyPr numCol="2" spcCol="1098550"/>
          <a:lstStyle>
            <a:lvl1pPr>
              <a:defRPr/>
            </a:lvl1pPr>
            <a:lvl2pPr>
              <a:defRPr/>
            </a:lvl2pPr>
            <a:lvl3pPr>
              <a:defRPr/>
            </a:lvl3pPr>
            <a:lvl4pPr>
              <a:defRPr/>
            </a:lvl4pPr>
            <a:lvl5pPr>
              <a:defRPr/>
            </a:lvl5pPr>
          </a:lstStyle>
          <a:p>
            <a:r>
              <a:rPr dirty="0" err="1"/>
              <a:t>幻灯片项目符号文本</a:t>
            </a:r>
            <a:endParaRPr dirty="0"/>
          </a:p>
          <a:p>
            <a:pPr lvl="1"/>
            <a:endParaRPr dirty="0"/>
          </a:p>
          <a:p>
            <a:pPr lvl="2"/>
            <a:endParaRPr dirty="0"/>
          </a:p>
          <a:p>
            <a:pPr lvl="3"/>
            <a:endParaRPr dirty="0"/>
          </a:p>
          <a:p>
            <a:pPr lvl="4"/>
            <a:endParaRPr dirty="0"/>
          </a:p>
        </p:txBody>
      </p:sp>
      <p:sp>
        <p:nvSpPr>
          <p:cNvPr id="53"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标题、项目符号与照片">
    <p:spTree>
      <p:nvGrpSpPr>
        <p:cNvPr id="1" name=""/>
        <p:cNvGrpSpPr/>
        <p:nvPr/>
      </p:nvGrpSpPr>
      <p:grpSpPr>
        <a:xfrm>
          <a:off x="0" y="0"/>
          <a:ext cx="0" cy="0"/>
          <a:chOff x="0" y="0"/>
          <a:chExt cx="0" cy="0"/>
        </a:xfrm>
      </p:grpSpPr>
      <p:sp>
        <p:nvSpPr>
          <p:cNvPr id="60" name="幻灯片副标题"/>
          <p:cNvSpPr txBox="1">
            <a:spLocks noGrp="1"/>
          </p:cNvSpPr>
          <p:nvPr>
            <p:ph type="body" sz="quarter" idx="21" hasCustomPrompt="1"/>
          </p:nvPr>
        </p:nvSpPr>
        <p:spPr>
          <a:xfrm>
            <a:off x="1206500" y="2372962"/>
            <a:ext cx="9779000" cy="934780"/>
          </a:xfrm>
          <a:prstGeom prst="rect">
            <a:avLst/>
          </a:prstGeom>
        </p:spPr>
        <p:txBody>
          <a:bodyPr lIns="45719" tIns="45719" rIns="45719" bIns="45719"/>
          <a:lstStyle>
            <a:lvl1pPr marL="0" indent="0" defTabSz="726440">
              <a:lnSpc>
                <a:spcPct val="100000"/>
              </a:lnSpc>
              <a:spcBef>
                <a:spcPts val="0"/>
              </a:spcBef>
              <a:buSzTx/>
              <a:buNone/>
              <a:defRPr sz="4840" b="1"/>
            </a:lvl1pPr>
          </a:lstStyle>
          <a:p>
            <a:r>
              <a:rPr dirty="0" err="1"/>
              <a:t>幻灯片副标题</a:t>
            </a:r>
            <a:endParaRPr dirty="0"/>
          </a:p>
        </p:txBody>
      </p:sp>
      <p:sp>
        <p:nvSpPr>
          <p:cNvPr id="61" name="正文级别 1…"/>
          <p:cNvSpPr txBox="1">
            <a:spLocks noGrp="1"/>
          </p:cNvSpPr>
          <p:nvPr>
            <p:ph type="body" sz="half" idx="1" hasCustomPrompt="1"/>
          </p:nvPr>
        </p:nvSpPr>
        <p:spPr>
          <a:xfrm>
            <a:off x="1206500" y="4248504"/>
            <a:ext cx="9779000" cy="8256630"/>
          </a:xfrm>
          <a:prstGeom prst="rect">
            <a:avLst/>
          </a:prstGeom>
        </p:spPr>
        <p:txBody>
          <a:bodyPr/>
          <a:lstStyle>
            <a:lvl1pPr>
              <a:defRPr/>
            </a:lvl1pPr>
            <a:lvl2pPr>
              <a:defRPr/>
            </a:lvl2pPr>
            <a:lvl3pPr>
              <a:defRPr/>
            </a:lvl3pPr>
            <a:lvl4pPr>
              <a:defRPr/>
            </a:lvl4pPr>
            <a:lvl5pPr>
              <a:defRPr/>
            </a:lvl5pPr>
          </a:lstStyle>
          <a:p>
            <a:r>
              <a:rPr dirty="0" err="1"/>
              <a:t>幻灯片项目符号文本</a:t>
            </a:r>
            <a:endParaRPr dirty="0"/>
          </a:p>
          <a:p>
            <a:pPr lvl="1"/>
            <a:endParaRPr dirty="0"/>
          </a:p>
          <a:p>
            <a:pPr lvl="2"/>
            <a:endParaRPr dirty="0"/>
          </a:p>
          <a:p>
            <a:pPr lvl="3"/>
            <a:endParaRPr dirty="0"/>
          </a:p>
          <a:p>
            <a:pPr lvl="4"/>
            <a:endParaRPr dirty="0"/>
          </a:p>
        </p:txBody>
      </p:sp>
      <p:sp>
        <p:nvSpPr>
          <p:cNvPr id="62" name="一碗宽意大利面配有欧芹黄油、烤榛子和帕尔马干酪"/>
          <p:cNvSpPr>
            <a:spLocks noGrp="1"/>
          </p:cNvSpPr>
          <p:nvPr>
            <p:ph type="pic" idx="22"/>
          </p:nvPr>
        </p:nvSpPr>
        <p:spPr>
          <a:xfrm>
            <a:off x="12192000" y="-407266"/>
            <a:ext cx="10916874" cy="14555832"/>
          </a:xfrm>
          <a:prstGeom prst="rect">
            <a:avLst/>
          </a:prstGeom>
        </p:spPr>
        <p:txBody>
          <a:bodyPr lIns="91439" tIns="45719" rIns="91439" bIns="45719">
            <a:noAutofit/>
          </a:bodyPr>
          <a:lstStyle>
            <a:lvl1pPr>
              <a:defRPr/>
            </a:lvl1pPr>
          </a:lstStyle>
          <a:p>
            <a:endParaRPr dirty="0"/>
          </a:p>
        </p:txBody>
      </p:sp>
      <p:sp>
        <p:nvSpPr>
          <p:cNvPr id="63" name="幻灯片标题"/>
          <p:cNvSpPr txBox="1">
            <a:spLocks noGrp="1"/>
          </p:cNvSpPr>
          <p:nvPr>
            <p:ph type="title" hasCustomPrompt="1"/>
          </p:nvPr>
        </p:nvSpPr>
        <p:spPr>
          <a:xfrm>
            <a:off x="1206500" y="1079500"/>
            <a:ext cx="9779000" cy="1435100"/>
          </a:xfrm>
          <a:prstGeom prst="rect">
            <a:avLst/>
          </a:prstGeom>
        </p:spPr>
        <p:txBody>
          <a:bodyPr/>
          <a:lstStyle>
            <a:lvl1pPr>
              <a:defRPr/>
            </a:lvl1pPr>
          </a:lstStyle>
          <a:p>
            <a:r>
              <a:rPr dirty="0" err="1"/>
              <a:t>幻灯片标题</a:t>
            </a:r>
            <a:endParaRPr dirty="0"/>
          </a:p>
        </p:txBody>
      </p:sp>
      <p:sp>
        <p:nvSpPr>
          <p:cNvPr id="64"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标题、项目符号与实时视频（小）">
    <p:spTree>
      <p:nvGrpSpPr>
        <p:cNvPr id="1" name=""/>
        <p:cNvGrpSpPr/>
        <p:nvPr/>
      </p:nvGrpSpPr>
      <p:grpSpPr>
        <a:xfrm>
          <a:off x="0" y="0"/>
          <a:ext cx="0" cy="0"/>
          <a:chOff x="0" y="0"/>
          <a:chExt cx="0" cy="0"/>
        </a:xfrm>
      </p:grpSpPr>
      <p:sp>
        <p:nvSpPr>
          <p:cNvPr id="71" name="幻灯片副标题"/>
          <p:cNvSpPr txBox="1">
            <a:spLocks noGrp="1"/>
          </p:cNvSpPr>
          <p:nvPr>
            <p:ph type="body" sz="quarter" idx="21" hasCustomPrompt="1"/>
          </p:nvPr>
        </p:nvSpPr>
        <p:spPr>
          <a:xfrm>
            <a:off x="1206500" y="2372962"/>
            <a:ext cx="9779000" cy="934780"/>
          </a:xfrm>
          <a:prstGeom prst="rect">
            <a:avLst/>
          </a:prstGeom>
        </p:spPr>
        <p:txBody>
          <a:bodyPr lIns="45719" tIns="45719" rIns="45719" bIns="45719"/>
          <a:lstStyle>
            <a:lvl1pPr marL="0" indent="0" defTabSz="726440">
              <a:lnSpc>
                <a:spcPct val="100000"/>
              </a:lnSpc>
              <a:spcBef>
                <a:spcPts val="0"/>
              </a:spcBef>
              <a:buSzTx/>
              <a:buNone/>
              <a:defRPr sz="4840" b="1"/>
            </a:lvl1pPr>
          </a:lstStyle>
          <a:p>
            <a:r>
              <a:rPr dirty="0" err="1"/>
              <a:t>幻灯片副标题</a:t>
            </a:r>
            <a:endParaRPr dirty="0"/>
          </a:p>
        </p:txBody>
      </p:sp>
      <p:sp>
        <p:nvSpPr>
          <p:cNvPr id="72" name="正文级别 1…"/>
          <p:cNvSpPr txBox="1">
            <a:spLocks noGrp="1"/>
          </p:cNvSpPr>
          <p:nvPr>
            <p:ph type="body" sz="half" idx="1" hasCustomPrompt="1"/>
          </p:nvPr>
        </p:nvSpPr>
        <p:spPr>
          <a:xfrm>
            <a:off x="1206500" y="4248504"/>
            <a:ext cx="9779000" cy="8256630"/>
          </a:xfrm>
          <a:prstGeom prst="rect">
            <a:avLst/>
          </a:prstGeom>
        </p:spPr>
        <p:txBody>
          <a:bodyPr/>
          <a:lstStyle>
            <a:lvl1pPr>
              <a:defRPr/>
            </a:lvl1pPr>
            <a:lvl2pPr>
              <a:defRPr/>
            </a:lvl2pPr>
            <a:lvl3pPr>
              <a:defRPr/>
            </a:lvl3pPr>
            <a:lvl4pPr>
              <a:defRPr/>
            </a:lvl4pPr>
            <a:lvl5pPr>
              <a:defRPr/>
            </a:lvl5pPr>
          </a:lstStyle>
          <a:p>
            <a:r>
              <a:rPr dirty="0" err="1"/>
              <a:t>幻灯片项目符号文本</a:t>
            </a:r>
            <a:endParaRPr dirty="0"/>
          </a:p>
          <a:p>
            <a:pPr lvl="1"/>
            <a:endParaRPr dirty="0"/>
          </a:p>
          <a:p>
            <a:pPr lvl="2"/>
            <a:endParaRPr dirty="0"/>
          </a:p>
          <a:p>
            <a:pPr lvl="3"/>
            <a:endParaRPr dirty="0"/>
          </a:p>
          <a:p>
            <a:pPr lvl="4"/>
            <a:endParaRPr dirty="0"/>
          </a:p>
        </p:txBody>
      </p:sp>
      <p:sp>
        <p:nvSpPr>
          <p:cNvPr id="73" name="幻灯片标题"/>
          <p:cNvSpPr txBox="1">
            <a:spLocks noGrp="1"/>
          </p:cNvSpPr>
          <p:nvPr>
            <p:ph type="title" hasCustomPrompt="1"/>
          </p:nvPr>
        </p:nvSpPr>
        <p:spPr>
          <a:xfrm>
            <a:off x="1206500" y="1079500"/>
            <a:ext cx="9779000" cy="1435100"/>
          </a:xfrm>
          <a:prstGeom prst="rect">
            <a:avLst/>
          </a:prstGeom>
        </p:spPr>
        <p:txBody>
          <a:bodyPr/>
          <a:lstStyle>
            <a:lvl1pPr>
              <a:defRPr/>
            </a:lvl1pPr>
          </a:lstStyle>
          <a:p>
            <a:r>
              <a:rPr dirty="0" err="1"/>
              <a:t>幻灯片标题</a:t>
            </a:r>
            <a:endParaRPr dirty="0"/>
          </a:p>
        </p:txBody>
      </p:sp>
      <p:sp>
        <p:nvSpPr>
          <p:cNvPr id="74"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标题、项目符号与实时视频（大）">
    <p:spTree>
      <p:nvGrpSpPr>
        <p:cNvPr id="1" name=""/>
        <p:cNvGrpSpPr/>
        <p:nvPr/>
      </p:nvGrpSpPr>
      <p:grpSpPr>
        <a:xfrm>
          <a:off x="0" y="0"/>
          <a:ext cx="0" cy="0"/>
          <a:chOff x="0" y="0"/>
          <a:chExt cx="0" cy="0"/>
        </a:xfrm>
      </p:grpSpPr>
      <p:sp>
        <p:nvSpPr>
          <p:cNvPr id="81" name="幻灯片副标题"/>
          <p:cNvSpPr txBox="1">
            <a:spLocks noGrp="1"/>
          </p:cNvSpPr>
          <p:nvPr>
            <p:ph type="body" sz="quarter" idx="21" hasCustomPrompt="1"/>
          </p:nvPr>
        </p:nvSpPr>
        <p:spPr>
          <a:xfrm>
            <a:off x="1206500" y="2372962"/>
            <a:ext cx="9779000" cy="934780"/>
          </a:xfrm>
          <a:prstGeom prst="rect">
            <a:avLst/>
          </a:prstGeom>
        </p:spPr>
        <p:txBody>
          <a:bodyPr lIns="45719" tIns="45719" rIns="45719" bIns="45719"/>
          <a:lstStyle>
            <a:lvl1pPr marL="0" indent="0" defTabSz="726440">
              <a:lnSpc>
                <a:spcPct val="100000"/>
              </a:lnSpc>
              <a:spcBef>
                <a:spcPts val="0"/>
              </a:spcBef>
              <a:buSzTx/>
              <a:buNone/>
              <a:defRPr sz="4840" b="1"/>
            </a:lvl1pPr>
          </a:lstStyle>
          <a:p>
            <a:r>
              <a:rPr dirty="0" err="1"/>
              <a:t>幻灯片副标题</a:t>
            </a:r>
            <a:endParaRPr dirty="0"/>
          </a:p>
        </p:txBody>
      </p:sp>
      <p:sp>
        <p:nvSpPr>
          <p:cNvPr id="82" name="正文级别 1…"/>
          <p:cNvSpPr txBox="1">
            <a:spLocks noGrp="1"/>
          </p:cNvSpPr>
          <p:nvPr>
            <p:ph type="body" sz="half" idx="1" hasCustomPrompt="1"/>
          </p:nvPr>
        </p:nvSpPr>
        <p:spPr>
          <a:xfrm>
            <a:off x="1206500" y="4248504"/>
            <a:ext cx="9779000" cy="8256630"/>
          </a:xfrm>
          <a:prstGeom prst="rect">
            <a:avLst/>
          </a:prstGeom>
        </p:spPr>
        <p:txBody>
          <a:bodyPr/>
          <a:lstStyle>
            <a:lvl1pPr>
              <a:defRPr/>
            </a:lvl1pPr>
            <a:lvl2pPr>
              <a:defRPr/>
            </a:lvl2pPr>
            <a:lvl3pPr>
              <a:defRPr/>
            </a:lvl3pPr>
            <a:lvl4pPr>
              <a:defRPr/>
            </a:lvl4pPr>
            <a:lvl5pPr>
              <a:defRPr/>
            </a:lvl5pPr>
          </a:lstStyle>
          <a:p>
            <a:r>
              <a:rPr dirty="0" err="1"/>
              <a:t>幻灯片项目符号文本</a:t>
            </a:r>
            <a:endParaRPr dirty="0"/>
          </a:p>
          <a:p>
            <a:pPr lvl="1"/>
            <a:endParaRPr dirty="0"/>
          </a:p>
          <a:p>
            <a:pPr lvl="2"/>
            <a:endParaRPr dirty="0"/>
          </a:p>
          <a:p>
            <a:pPr lvl="3"/>
            <a:endParaRPr dirty="0"/>
          </a:p>
          <a:p>
            <a:pPr lvl="4"/>
            <a:endParaRPr dirty="0"/>
          </a:p>
        </p:txBody>
      </p:sp>
      <p:sp>
        <p:nvSpPr>
          <p:cNvPr id="83" name="幻灯片标题"/>
          <p:cNvSpPr txBox="1">
            <a:spLocks noGrp="1"/>
          </p:cNvSpPr>
          <p:nvPr>
            <p:ph type="title" hasCustomPrompt="1"/>
          </p:nvPr>
        </p:nvSpPr>
        <p:spPr>
          <a:xfrm>
            <a:off x="1206500" y="1079500"/>
            <a:ext cx="9779000" cy="1435100"/>
          </a:xfrm>
          <a:prstGeom prst="rect">
            <a:avLst/>
          </a:prstGeom>
        </p:spPr>
        <p:txBody>
          <a:bodyPr/>
          <a:lstStyle>
            <a:lvl1pPr>
              <a:defRPr/>
            </a:lvl1pPr>
          </a:lstStyle>
          <a:p>
            <a:r>
              <a:rPr dirty="0" err="1"/>
              <a:t>幻灯片标题</a:t>
            </a:r>
            <a:endParaRPr dirty="0"/>
          </a:p>
        </p:txBody>
      </p:sp>
      <p:sp>
        <p:nvSpPr>
          <p:cNvPr id="84"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节">
    <p:spTree>
      <p:nvGrpSpPr>
        <p:cNvPr id="1" name=""/>
        <p:cNvGrpSpPr/>
        <p:nvPr/>
      </p:nvGrpSpPr>
      <p:grpSpPr>
        <a:xfrm>
          <a:off x="0" y="0"/>
          <a:ext cx="0" cy="0"/>
          <a:chOff x="0" y="0"/>
          <a:chExt cx="0" cy="0"/>
        </a:xfrm>
      </p:grpSpPr>
      <p:sp>
        <p:nvSpPr>
          <p:cNvPr id="91" name="章节标题"/>
          <p:cNvSpPr txBox="1">
            <a:spLocks noGrp="1"/>
          </p:cNvSpPr>
          <p:nvPr>
            <p:ph type="title" hasCustomPrompt="1"/>
          </p:nvPr>
        </p:nvSpPr>
        <p:spPr>
          <a:xfrm>
            <a:off x="1206496" y="4533900"/>
            <a:ext cx="21971004" cy="4648200"/>
          </a:xfrm>
          <a:prstGeom prst="rect">
            <a:avLst/>
          </a:prstGeom>
        </p:spPr>
        <p:txBody>
          <a:bodyPr anchor="ctr"/>
          <a:lstStyle>
            <a:lvl1pPr>
              <a:defRPr sz="11600" b="0" spc="-232">
                <a:latin typeface="Helvetica Neue Medium"/>
                <a:ea typeface="Helvetica Neue Medium"/>
                <a:cs typeface="Helvetica Neue Medium"/>
                <a:sym typeface="Helvetica Neue Medium"/>
              </a:defRPr>
            </a:lvl1pPr>
          </a:lstStyle>
          <a:p>
            <a:r>
              <a:t>章节标题</a:t>
            </a:r>
          </a:p>
        </p:txBody>
      </p:sp>
      <p:sp>
        <p:nvSpPr>
          <p:cNvPr id="92" name="幻灯片编号"/>
          <p:cNvSpPr txBox="1">
            <a:spLocks noGrp="1"/>
          </p:cNvSpPr>
          <p:nvPr>
            <p:ph type="sldNum" sz="quarter" idx="2"/>
          </p:nvPr>
        </p:nvSpPr>
        <p:spPr>
          <a:xfrm>
            <a:off x="11993391" y="13080242"/>
            <a:ext cx="384721" cy="379591"/>
          </a:xfrm>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仅标题">
    <p:spTree>
      <p:nvGrpSpPr>
        <p:cNvPr id="1" name=""/>
        <p:cNvGrpSpPr/>
        <p:nvPr/>
      </p:nvGrpSpPr>
      <p:grpSpPr>
        <a:xfrm>
          <a:off x="0" y="0"/>
          <a:ext cx="0" cy="0"/>
          <a:chOff x="0" y="0"/>
          <a:chExt cx="0" cy="0"/>
        </a:xfrm>
      </p:grpSpPr>
      <p:sp>
        <p:nvSpPr>
          <p:cNvPr id="99" name="幻灯片标题"/>
          <p:cNvSpPr txBox="1">
            <a:spLocks noGrp="1"/>
          </p:cNvSpPr>
          <p:nvPr>
            <p:ph type="title" hasCustomPrompt="1"/>
          </p:nvPr>
        </p:nvSpPr>
        <p:spPr>
          <a:xfrm>
            <a:off x="1206500" y="1079500"/>
            <a:ext cx="21971000" cy="1434949"/>
          </a:xfrm>
          <a:prstGeom prst="rect">
            <a:avLst/>
          </a:prstGeom>
        </p:spPr>
        <p:txBody>
          <a:bodyPr/>
          <a:lstStyle>
            <a:lvl1pPr>
              <a:defRPr/>
            </a:lvl1pPr>
          </a:lstStyle>
          <a:p>
            <a:r>
              <a:rPr dirty="0" err="1"/>
              <a:t>幻灯片标题</a:t>
            </a:r>
            <a:endParaRPr dirty="0"/>
          </a:p>
        </p:txBody>
      </p:sp>
      <p:sp>
        <p:nvSpPr>
          <p:cNvPr id="100" name="幻灯片副标题"/>
          <p:cNvSpPr txBox="1">
            <a:spLocks noGrp="1"/>
          </p:cNvSpPr>
          <p:nvPr>
            <p:ph type="body" sz="quarter" idx="21" hasCustomPrompt="1"/>
          </p:nvPr>
        </p:nvSpPr>
        <p:spPr>
          <a:xfrm>
            <a:off x="1206500" y="2372962"/>
            <a:ext cx="21971000" cy="934780"/>
          </a:xfrm>
          <a:prstGeom prst="rect">
            <a:avLst/>
          </a:prstGeom>
        </p:spPr>
        <p:txBody>
          <a:bodyPr lIns="45719" tIns="45719" rIns="45719" bIns="45719"/>
          <a:lstStyle>
            <a:lvl1pPr marL="0" indent="0" defTabSz="726440">
              <a:lnSpc>
                <a:spcPct val="100000"/>
              </a:lnSpc>
              <a:spcBef>
                <a:spcPts val="0"/>
              </a:spcBef>
              <a:buSzTx/>
              <a:buNone/>
              <a:defRPr sz="4840" b="1"/>
            </a:lvl1pPr>
          </a:lstStyle>
          <a:p>
            <a:r>
              <a:rPr dirty="0" err="1"/>
              <a:t>幻灯片副标题</a:t>
            </a:r>
            <a:endParaRPr dirty="0"/>
          </a:p>
        </p:txBody>
      </p:sp>
      <p:sp>
        <p:nvSpPr>
          <p:cNvPr id="101"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议程">
    <p:spTree>
      <p:nvGrpSpPr>
        <p:cNvPr id="1" name=""/>
        <p:cNvGrpSpPr/>
        <p:nvPr/>
      </p:nvGrpSpPr>
      <p:grpSpPr>
        <a:xfrm>
          <a:off x="0" y="0"/>
          <a:ext cx="0" cy="0"/>
          <a:chOff x="0" y="0"/>
          <a:chExt cx="0" cy="0"/>
        </a:xfrm>
      </p:grpSpPr>
      <p:sp>
        <p:nvSpPr>
          <p:cNvPr id="108" name="议程标题"/>
          <p:cNvSpPr txBox="1">
            <a:spLocks noGrp="1"/>
          </p:cNvSpPr>
          <p:nvPr>
            <p:ph type="title" hasCustomPrompt="1"/>
          </p:nvPr>
        </p:nvSpPr>
        <p:spPr>
          <a:xfrm>
            <a:off x="1206500" y="1079500"/>
            <a:ext cx="21971000" cy="1435100"/>
          </a:xfrm>
          <a:prstGeom prst="rect">
            <a:avLst/>
          </a:prstGeom>
        </p:spPr>
        <p:txBody>
          <a:bodyPr/>
          <a:lstStyle>
            <a:lvl1pPr>
              <a:defRPr/>
            </a:lvl1pPr>
          </a:lstStyle>
          <a:p>
            <a:r>
              <a:rPr dirty="0" err="1"/>
              <a:t>议程标题</a:t>
            </a:r>
            <a:endParaRPr dirty="0"/>
          </a:p>
        </p:txBody>
      </p:sp>
      <p:sp>
        <p:nvSpPr>
          <p:cNvPr id="109" name="议程副标题"/>
          <p:cNvSpPr txBox="1">
            <a:spLocks noGrp="1"/>
          </p:cNvSpPr>
          <p:nvPr>
            <p:ph type="body" sz="quarter" idx="21" hasCustomPrompt="1"/>
          </p:nvPr>
        </p:nvSpPr>
        <p:spPr>
          <a:xfrm>
            <a:off x="1206500" y="2372962"/>
            <a:ext cx="21971000" cy="934780"/>
          </a:xfrm>
          <a:prstGeom prst="rect">
            <a:avLst/>
          </a:prstGeom>
        </p:spPr>
        <p:txBody>
          <a:bodyPr lIns="45719" tIns="45719" rIns="45719" bIns="45719"/>
          <a:lstStyle>
            <a:lvl1pPr marL="0" indent="0" defTabSz="726440">
              <a:lnSpc>
                <a:spcPct val="100000"/>
              </a:lnSpc>
              <a:spcBef>
                <a:spcPts val="0"/>
              </a:spcBef>
              <a:buSzTx/>
              <a:buNone/>
              <a:defRPr sz="4840" b="1"/>
            </a:lvl1pPr>
          </a:lstStyle>
          <a:p>
            <a:r>
              <a:rPr dirty="0" err="1"/>
              <a:t>议程副标题</a:t>
            </a:r>
            <a:endParaRPr dirty="0"/>
          </a:p>
        </p:txBody>
      </p:sp>
      <p:sp>
        <p:nvSpPr>
          <p:cNvPr id="110" name="正文级别 1…"/>
          <p:cNvSpPr txBox="1">
            <a:spLocks noGrp="1"/>
          </p:cNvSpPr>
          <p:nvPr>
            <p:ph type="body" idx="1" hasCustomPrompt="1"/>
          </p:nvPr>
        </p:nvSpPr>
        <p:spPr>
          <a:prstGeom prst="rect">
            <a:avLst/>
          </a:prstGeom>
        </p:spPr>
        <p:txBody>
          <a:bodyPr/>
          <a:lstStyle>
            <a:lvl1pPr marL="0" indent="0" defTabSz="825500">
              <a:lnSpc>
                <a:spcPct val="100000"/>
              </a:lnSpc>
              <a:spcBef>
                <a:spcPts val="1800"/>
              </a:spcBef>
              <a:buSzTx/>
              <a:buNone/>
              <a:defRPr sz="5500" spc="-55"/>
            </a:lvl1pPr>
            <a:lvl2pPr marL="0" indent="457200" defTabSz="825500">
              <a:lnSpc>
                <a:spcPct val="100000"/>
              </a:lnSpc>
              <a:spcBef>
                <a:spcPts val="1800"/>
              </a:spcBef>
              <a:buSzTx/>
              <a:buNone/>
              <a:defRPr sz="5500" spc="-55"/>
            </a:lvl2pPr>
            <a:lvl3pPr marL="0" indent="914400" defTabSz="825500">
              <a:lnSpc>
                <a:spcPct val="100000"/>
              </a:lnSpc>
              <a:spcBef>
                <a:spcPts val="1800"/>
              </a:spcBef>
              <a:buSzTx/>
              <a:buNone/>
              <a:defRPr sz="5500" spc="-55"/>
            </a:lvl3pPr>
            <a:lvl4pPr marL="0" indent="1371600" defTabSz="825500">
              <a:lnSpc>
                <a:spcPct val="100000"/>
              </a:lnSpc>
              <a:spcBef>
                <a:spcPts val="1800"/>
              </a:spcBef>
              <a:buSzTx/>
              <a:buNone/>
              <a:defRPr sz="5500" spc="-55"/>
            </a:lvl4pPr>
            <a:lvl5pPr marL="0" indent="1828800" defTabSz="825500">
              <a:lnSpc>
                <a:spcPct val="100000"/>
              </a:lnSpc>
              <a:spcBef>
                <a:spcPts val="1800"/>
              </a:spcBef>
              <a:buSzTx/>
              <a:buNone/>
              <a:defRPr sz="5500" spc="-55"/>
            </a:lvl5pPr>
          </a:lstStyle>
          <a:p>
            <a:r>
              <a:rPr dirty="0" err="1"/>
              <a:t>议程主题</a:t>
            </a:r>
            <a:endParaRPr dirty="0"/>
          </a:p>
          <a:p>
            <a:pPr lvl="1"/>
            <a:endParaRPr dirty="0"/>
          </a:p>
          <a:p>
            <a:pPr lvl="2"/>
            <a:endParaRPr dirty="0"/>
          </a:p>
          <a:p>
            <a:pPr lvl="3"/>
            <a:endParaRPr dirty="0"/>
          </a:p>
          <a:p>
            <a:pPr lvl="4"/>
            <a:endParaRPr dirty="0"/>
          </a:p>
        </p:txBody>
      </p:sp>
      <p:sp>
        <p:nvSpPr>
          <p:cNvPr id="111"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说明">
    <p:spTree>
      <p:nvGrpSpPr>
        <p:cNvPr id="1" name=""/>
        <p:cNvGrpSpPr/>
        <p:nvPr/>
      </p:nvGrpSpPr>
      <p:grpSpPr>
        <a:xfrm>
          <a:off x="0" y="0"/>
          <a:ext cx="0" cy="0"/>
          <a:chOff x="0" y="0"/>
          <a:chExt cx="0" cy="0"/>
        </a:xfrm>
      </p:grpSpPr>
      <p:sp>
        <p:nvSpPr>
          <p:cNvPr id="118" name="正文级别 1…"/>
          <p:cNvSpPr txBox="1">
            <a:spLocks noGrp="1"/>
          </p:cNvSpPr>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z="11600" spc="-232">
                <a:latin typeface="Helvetica Neue Medium"/>
                <a:ea typeface="Helvetica Neue Medium"/>
                <a:cs typeface="Helvetica Neue Medium"/>
                <a:sym typeface="Helvetica Neue Medium"/>
              </a:defRPr>
            </a:lvl1pPr>
            <a:lvl2pPr marL="0" indent="457200" algn="ctr">
              <a:lnSpc>
                <a:spcPct val="80000"/>
              </a:lnSpc>
              <a:spcBef>
                <a:spcPts val="0"/>
              </a:spcBef>
              <a:buSzTx/>
              <a:buNone/>
              <a:defRPr sz="11600" spc="-232">
                <a:latin typeface="Helvetica Neue Medium"/>
                <a:ea typeface="Helvetica Neue Medium"/>
                <a:cs typeface="Helvetica Neue Medium"/>
                <a:sym typeface="Helvetica Neue Medium"/>
              </a:defRPr>
            </a:lvl2pPr>
            <a:lvl3pPr marL="0" indent="914400" algn="ctr">
              <a:lnSpc>
                <a:spcPct val="80000"/>
              </a:lnSpc>
              <a:spcBef>
                <a:spcPts val="0"/>
              </a:spcBef>
              <a:buSzTx/>
              <a:buNone/>
              <a:defRPr sz="11600" spc="-232">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z="11600" spc="-232">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z="11600" spc="-232">
                <a:latin typeface="Helvetica Neue Medium"/>
                <a:ea typeface="Helvetica Neue Medium"/>
                <a:cs typeface="Helvetica Neue Medium"/>
                <a:sym typeface="Helvetica Neue Medium"/>
              </a:defRPr>
            </a:lvl5pPr>
          </a:lstStyle>
          <a:p>
            <a:r>
              <a:t>说明</a:t>
            </a:r>
          </a:p>
          <a:p>
            <a:pPr lvl="1"/>
            <a:endParaRPr/>
          </a:p>
          <a:p>
            <a:pPr lvl="2"/>
            <a:endParaRPr/>
          </a:p>
          <a:p>
            <a:pPr lvl="3"/>
            <a:endParaRPr/>
          </a:p>
          <a:p>
            <a:pPr lvl="4"/>
            <a:endParaRPr/>
          </a:p>
        </p:txBody>
      </p:sp>
      <p:sp>
        <p:nvSpPr>
          <p:cNvPr id="119"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显著事实">
    <p:spTree>
      <p:nvGrpSpPr>
        <p:cNvPr id="1" name=""/>
        <p:cNvGrpSpPr/>
        <p:nvPr/>
      </p:nvGrpSpPr>
      <p:grpSpPr>
        <a:xfrm>
          <a:off x="0" y="0"/>
          <a:ext cx="0" cy="0"/>
          <a:chOff x="0" y="0"/>
          <a:chExt cx="0" cy="0"/>
        </a:xfrm>
      </p:grpSpPr>
      <p:sp>
        <p:nvSpPr>
          <p:cNvPr id="126" name="正文级别 1…"/>
          <p:cNvSpPr txBox="1">
            <a:spLocks noGrp="1"/>
          </p:cNvSpPr>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sz="25000" b="1" spc="-250"/>
            </a:lvl1pPr>
            <a:lvl2pPr marL="0" indent="457200" algn="ctr">
              <a:lnSpc>
                <a:spcPct val="80000"/>
              </a:lnSpc>
              <a:spcBef>
                <a:spcPts val="0"/>
              </a:spcBef>
              <a:buSzTx/>
              <a:buNone/>
              <a:defRPr sz="25000" b="1" spc="-250"/>
            </a:lvl2pPr>
            <a:lvl3pPr marL="0" indent="914400" algn="ctr">
              <a:lnSpc>
                <a:spcPct val="80000"/>
              </a:lnSpc>
              <a:spcBef>
                <a:spcPts val="0"/>
              </a:spcBef>
              <a:buSzTx/>
              <a:buNone/>
              <a:defRPr sz="25000" b="1" spc="-250"/>
            </a:lvl3pPr>
            <a:lvl4pPr marL="0" indent="1371600" algn="ctr">
              <a:lnSpc>
                <a:spcPct val="80000"/>
              </a:lnSpc>
              <a:spcBef>
                <a:spcPts val="0"/>
              </a:spcBef>
              <a:buSzTx/>
              <a:buNone/>
              <a:defRPr sz="25000" b="1" spc="-250"/>
            </a:lvl4pPr>
            <a:lvl5pPr marL="0" indent="1828800" algn="ctr">
              <a:lnSpc>
                <a:spcPct val="80000"/>
              </a:lnSpc>
              <a:spcBef>
                <a:spcPts val="0"/>
              </a:spcBef>
              <a:buSzTx/>
              <a:buNone/>
              <a:defRPr sz="25000" b="1" spc="-250"/>
            </a:lvl5pPr>
          </a:lstStyle>
          <a:p>
            <a:r>
              <a:rPr dirty="0"/>
              <a:t>100%</a:t>
            </a:r>
          </a:p>
          <a:p>
            <a:pPr lvl="1"/>
            <a:endParaRPr dirty="0"/>
          </a:p>
          <a:p>
            <a:pPr lvl="2"/>
            <a:endParaRPr dirty="0"/>
          </a:p>
          <a:p>
            <a:pPr lvl="3"/>
            <a:endParaRPr dirty="0"/>
          </a:p>
          <a:p>
            <a:pPr lvl="4"/>
            <a:endParaRPr dirty="0"/>
          </a:p>
        </p:txBody>
      </p:sp>
      <p:sp>
        <p:nvSpPr>
          <p:cNvPr id="127" name="事实信息"/>
          <p:cNvSpPr txBox="1">
            <a:spLocks noGrp="1"/>
          </p:cNvSpPr>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726440">
              <a:lnSpc>
                <a:spcPct val="100000"/>
              </a:lnSpc>
              <a:spcBef>
                <a:spcPts val="0"/>
              </a:spcBef>
              <a:buSzTx/>
              <a:buNone/>
              <a:defRPr sz="4840" b="1"/>
            </a:lvl1pPr>
          </a:lstStyle>
          <a:p>
            <a:r>
              <a:rPr dirty="0" err="1"/>
              <a:t>事实信息</a:t>
            </a:r>
            <a:endParaRPr dirty="0"/>
          </a:p>
        </p:txBody>
      </p:sp>
      <p:sp>
        <p:nvSpPr>
          <p:cNvPr id="128"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引文">
    <p:spTree>
      <p:nvGrpSpPr>
        <p:cNvPr id="1" name=""/>
        <p:cNvGrpSpPr/>
        <p:nvPr/>
      </p:nvGrpSpPr>
      <p:grpSpPr>
        <a:xfrm>
          <a:off x="0" y="0"/>
          <a:ext cx="0" cy="0"/>
          <a:chOff x="0" y="0"/>
          <a:chExt cx="0" cy="0"/>
        </a:xfrm>
      </p:grpSpPr>
      <p:sp>
        <p:nvSpPr>
          <p:cNvPr id="135" name="属性"/>
          <p:cNvSpPr txBox="1">
            <a:spLocks noGrp="1"/>
          </p:cNvSpPr>
          <p:nvPr>
            <p:ph type="body" sz="quarter" idx="21" hasCustomPrompt="1"/>
          </p:nvPr>
        </p:nvSpPr>
        <p:spPr>
          <a:xfrm>
            <a:off x="2430025" y="10675453"/>
            <a:ext cx="20200052" cy="636979"/>
          </a:xfrm>
          <a:prstGeom prst="rect">
            <a:avLst/>
          </a:prstGeom>
        </p:spPr>
        <p:txBody>
          <a:bodyPr lIns="45719" tIns="45719" rIns="45719" bIns="45719"/>
          <a:lstStyle>
            <a:lvl1pPr marL="0" indent="0" defTabSz="701675">
              <a:lnSpc>
                <a:spcPct val="100000"/>
              </a:lnSpc>
              <a:spcBef>
                <a:spcPts val="0"/>
              </a:spcBef>
              <a:buSzTx/>
              <a:buNone/>
              <a:defRPr sz="3060" b="1"/>
            </a:lvl1pPr>
          </a:lstStyle>
          <a:p>
            <a:r>
              <a:rPr dirty="0" err="1"/>
              <a:t>属性</a:t>
            </a:r>
            <a:endParaRPr dirty="0"/>
          </a:p>
        </p:txBody>
      </p:sp>
      <p:sp>
        <p:nvSpPr>
          <p:cNvPr id="136" name="正文级别 1…"/>
          <p:cNvSpPr txBox="1">
            <a:spLocks noGrp="1"/>
          </p:cNvSpPr>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z="8500" spc="-170">
                <a:latin typeface="Helvetica Neue Medium"/>
                <a:ea typeface="Helvetica Neue Medium"/>
                <a:cs typeface="Helvetica Neue Medium"/>
                <a:sym typeface="Helvetica Neue Medium"/>
              </a:defRPr>
            </a:lvl1pPr>
            <a:lvl2pPr marL="638923" indent="-12700">
              <a:spcBef>
                <a:spcPts val="0"/>
              </a:spcBef>
              <a:buSzTx/>
              <a:buNone/>
              <a:defRPr sz="8500" spc="-170">
                <a:latin typeface="Helvetica Neue Medium"/>
                <a:ea typeface="Helvetica Neue Medium"/>
                <a:cs typeface="Helvetica Neue Medium"/>
                <a:sym typeface="Helvetica Neue Medium"/>
              </a:defRPr>
            </a:lvl2pPr>
            <a:lvl3pPr marL="638923" indent="444500">
              <a:spcBef>
                <a:spcPts val="0"/>
              </a:spcBef>
              <a:buSzTx/>
              <a:buNone/>
              <a:defRPr sz="8500" spc="-170">
                <a:latin typeface="Helvetica Neue Medium"/>
                <a:ea typeface="Helvetica Neue Medium"/>
                <a:cs typeface="Helvetica Neue Medium"/>
                <a:sym typeface="Helvetica Neue Medium"/>
              </a:defRPr>
            </a:lvl3pPr>
            <a:lvl4pPr marL="638923" indent="901700">
              <a:spcBef>
                <a:spcPts val="0"/>
              </a:spcBef>
              <a:buSzTx/>
              <a:buNone/>
              <a:defRPr sz="8500" spc="-170">
                <a:latin typeface="Helvetica Neue Medium"/>
                <a:ea typeface="Helvetica Neue Medium"/>
                <a:cs typeface="Helvetica Neue Medium"/>
                <a:sym typeface="Helvetica Neue Medium"/>
              </a:defRPr>
            </a:lvl4pPr>
            <a:lvl5pPr marL="638923" indent="1358900">
              <a:spcBef>
                <a:spcPts val="0"/>
              </a:spcBef>
              <a:buSzTx/>
              <a:buNone/>
              <a:defRPr sz="8500" spc="-170">
                <a:latin typeface="Helvetica Neue Medium"/>
                <a:ea typeface="Helvetica Neue Medium"/>
                <a:cs typeface="Helvetica Neue Medium"/>
                <a:sym typeface="Helvetica Neue Medium"/>
              </a:defRPr>
            </a:lvl5pPr>
          </a:lstStyle>
          <a:p>
            <a:r>
              <a:t>“著名引文”</a:t>
            </a:r>
          </a:p>
          <a:p>
            <a:pPr lvl="1"/>
            <a:endParaRPr/>
          </a:p>
          <a:p>
            <a:pPr lvl="2"/>
            <a:endParaRPr/>
          </a:p>
          <a:p>
            <a:pPr lvl="3"/>
            <a:endParaRPr/>
          </a:p>
          <a:p>
            <a:pPr lvl="4"/>
            <a:endParaRPr/>
          </a:p>
        </p:txBody>
      </p:sp>
      <p:sp>
        <p:nvSpPr>
          <p:cNvPr id="137"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照片 - 3 联">
    <p:spTree>
      <p:nvGrpSpPr>
        <p:cNvPr id="1" name=""/>
        <p:cNvGrpSpPr/>
        <p:nvPr/>
      </p:nvGrpSpPr>
      <p:grpSpPr>
        <a:xfrm>
          <a:off x="0" y="0"/>
          <a:ext cx="0" cy="0"/>
          <a:chOff x="0" y="0"/>
          <a:chExt cx="0" cy="0"/>
        </a:xfrm>
      </p:grpSpPr>
      <p:sp>
        <p:nvSpPr>
          <p:cNvPr id="144" name="一碗沙拉配有炒饭、水煮蛋和一双筷子"/>
          <p:cNvSpPr>
            <a:spLocks noGrp="1"/>
          </p:cNvSpPr>
          <p:nvPr>
            <p:ph type="pic" sz="quarter" idx="21"/>
          </p:nvPr>
        </p:nvSpPr>
        <p:spPr>
          <a:xfrm>
            <a:off x="15760700" y="1016000"/>
            <a:ext cx="7439099" cy="5949678"/>
          </a:xfrm>
          <a:prstGeom prst="rect">
            <a:avLst/>
          </a:prstGeom>
        </p:spPr>
        <p:txBody>
          <a:bodyPr lIns="91439" tIns="45719" rIns="91439" bIns="45719">
            <a:noAutofit/>
          </a:bodyPr>
          <a:lstStyle>
            <a:lvl1pPr>
              <a:defRPr/>
            </a:lvl1pPr>
          </a:lstStyle>
          <a:p>
            <a:endParaRPr dirty="0"/>
          </a:p>
        </p:txBody>
      </p:sp>
      <p:sp>
        <p:nvSpPr>
          <p:cNvPr id="145" name="一碗三文鱼饼、沙拉和鹰嘴豆泥"/>
          <p:cNvSpPr>
            <a:spLocks noGrp="1"/>
          </p:cNvSpPr>
          <p:nvPr>
            <p:ph type="pic" sz="half" idx="22"/>
          </p:nvPr>
        </p:nvSpPr>
        <p:spPr>
          <a:xfrm>
            <a:off x="13500100" y="3978275"/>
            <a:ext cx="10439400" cy="12150181"/>
          </a:xfrm>
          <a:prstGeom prst="rect">
            <a:avLst/>
          </a:prstGeom>
        </p:spPr>
        <p:txBody>
          <a:bodyPr lIns="91439" tIns="45719" rIns="91439" bIns="45719">
            <a:noAutofit/>
          </a:bodyPr>
          <a:lstStyle>
            <a:lvl1pPr>
              <a:defRPr/>
            </a:lvl1pPr>
          </a:lstStyle>
          <a:p>
            <a:endParaRPr dirty="0"/>
          </a:p>
        </p:txBody>
      </p:sp>
      <p:sp>
        <p:nvSpPr>
          <p:cNvPr id="146" name="一碗宽意大利面配有欧芹黄油、烤榛子和帕尔马干酪"/>
          <p:cNvSpPr>
            <a:spLocks noGrp="1"/>
          </p:cNvSpPr>
          <p:nvPr>
            <p:ph type="pic" idx="23"/>
          </p:nvPr>
        </p:nvSpPr>
        <p:spPr>
          <a:xfrm>
            <a:off x="-139700" y="495300"/>
            <a:ext cx="16611600" cy="12458700"/>
          </a:xfrm>
          <a:prstGeom prst="rect">
            <a:avLst/>
          </a:prstGeom>
        </p:spPr>
        <p:txBody>
          <a:bodyPr lIns="91439" tIns="45719" rIns="91439" bIns="45719">
            <a:noAutofit/>
          </a:bodyPr>
          <a:lstStyle>
            <a:lvl1pPr>
              <a:defRPr/>
            </a:lvl1pPr>
          </a:lstStyle>
          <a:p>
            <a:endParaRPr dirty="0"/>
          </a:p>
        </p:txBody>
      </p:sp>
      <p:sp>
        <p:nvSpPr>
          <p:cNvPr id="147"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照片">
    <p:spTree>
      <p:nvGrpSpPr>
        <p:cNvPr id="1" name=""/>
        <p:cNvGrpSpPr/>
        <p:nvPr/>
      </p:nvGrpSpPr>
      <p:grpSpPr>
        <a:xfrm>
          <a:off x="0" y="0"/>
          <a:ext cx="0" cy="0"/>
          <a:chOff x="0" y="0"/>
          <a:chExt cx="0" cy="0"/>
        </a:xfrm>
      </p:grpSpPr>
      <p:sp>
        <p:nvSpPr>
          <p:cNvPr id="154" name="一碗沙拉配有炒饭、水煮蛋和一双筷子"/>
          <p:cNvSpPr>
            <a:spLocks noGrp="1"/>
          </p:cNvSpPr>
          <p:nvPr>
            <p:ph type="pic" idx="21"/>
          </p:nvPr>
        </p:nvSpPr>
        <p:spPr>
          <a:xfrm>
            <a:off x="-1333500" y="-5524500"/>
            <a:ext cx="27051000" cy="21640800"/>
          </a:xfrm>
          <a:prstGeom prst="rect">
            <a:avLst/>
          </a:prstGeom>
        </p:spPr>
        <p:txBody>
          <a:bodyPr lIns="91439" tIns="45719" rIns="91439" bIns="45719">
            <a:noAutofit/>
          </a:bodyPr>
          <a:lstStyle>
            <a:lvl1pPr>
              <a:defRPr/>
            </a:lvl1pPr>
          </a:lstStyle>
          <a:p>
            <a:endParaRPr dirty="0"/>
          </a:p>
        </p:txBody>
      </p:sp>
      <p:sp>
        <p:nvSpPr>
          <p:cNvPr id="155" name="幻灯片编号"/>
          <p:cNvSpPr txBox="1">
            <a:spLocks noGrp="1"/>
          </p:cNvSpPr>
          <p:nvPr>
            <p:ph type="sldNum" sz="quarter" idx="2"/>
          </p:nvPr>
        </p:nvSpPr>
        <p:spPr>
          <a:prstGeom prst="rect">
            <a:avLst/>
          </a:prstGeom>
        </p:spPr>
        <p:txBody>
          <a:bodyPr/>
          <a:lstStyle>
            <a:lvl1pPr>
              <a:defRPr>
                <a:solidFill>
                  <a:srgbClr val="FFFFFF"/>
                </a:solidFill>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空白">
    <p:spTree>
      <p:nvGrpSpPr>
        <p:cNvPr id="1" name=""/>
        <p:cNvGrpSpPr/>
        <p:nvPr/>
      </p:nvGrpSpPr>
      <p:grpSpPr>
        <a:xfrm>
          <a:off x="0" y="0"/>
          <a:ext cx="0" cy="0"/>
          <a:chOff x="0" y="0"/>
          <a:chExt cx="0" cy="0"/>
        </a:xfrm>
      </p:grpSpPr>
      <p:sp>
        <p:nvSpPr>
          <p:cNvPr id="162"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type="tx">
  <p:cSld name="标题">
    <p:spTree>
      <p:nvGrpSpPr>
        <p:cNvPr id="1" name=""/>
        <p:cNvGrpSpPr/>
        <p:nvPr/>
      </p:nvGrpSpPr>
      <p:grpSpPr>
        <a:xfrm>
          <a:off x="0" y="0"/>
          <a:ext cx="0" cy="0"/>
          <a:chOff x="0" y="0"/>
          <a:chExt cx="0" cy="0"/>
        </a:xfrm>
      </p:grpSpPr>
      <p:sp>
        <p:nvSpPr>
          <p:cNvPr id="169" name="作者和日期"/>
          <p:cNvSpPr txBox="1">
            <a:spLocks noGrp="1"/>
          </p:cNvSpPr>
          <p:nvPr>
            <p:ph type="body" sz="quarter" idx="21" hasCustomPrompt="1"/>
          </p:nvPr>
        </p:nvSpPr>
        <p:spPr>
          <a:xfrm>
            <a:off x="1201340" y="11859862"/>
            <a:ext cx="21971003" cy="636979"/>
          </a:xfrm>
          <a:prstGeom prst="rect">
            <a:avLst/>
          </a:prstGeom>
        </p:spPr>
        <p:txBody>
          <a:bodyPr lIns="45719" tIns="45719" rIns="45719" bIns="45719"/>
          <a:lstStyle>
            <a:lvl1pPr marL="0" indent="0" defTabSz="701675">
              <a:lnSpc>
                <a:spcPct val="100000"/>
              </a:lnSpc>
              <a:spcBef>
                <a:spcPts val="0"/>
              </a:spcBef>
              <a:buSzTx/>
              <a:buNone/>
              <a:defRPr sz="3060" b="1"/>
            </a:lvl1pPr>
          </a:lstStyle>
          <a:p>
            <a:r>
              <a:rPr dirty="0" err="1"/>
              <a:t>作者和日期</a:t>
            </a:r>
            <a:endParaRPr dirty="0"/>
          </a:p>
        </p:txBody>
      </p:sp>
      <p:sp>
        <p:nvSpPr>
          <p:cNvPr id="170" name="演示文稿标题"/>
          <p:cNvSpPr txBox="1">
            <a:spLocks noGrp="1"/>
          </p:cNvSpPr>
          <p:nvPr>
            <p:ph type="title" hasCustomPrompt="1"/>
          </p:nvPr>
        </p:nvSpPr>
        <p:spPr>
          <a:xfrm>
            <a:off x="1206496" y="2574991"/>
            <a:ext cx="21971004" cy="4648201"/>
          </a:xfrm>
          <a:prstGeom prst="rect">
            <a:avLst/>
          </a:prstGeom>
        </p:spPr>
        <p:txBody>
          <a:bodyPr anchor="b"/>
          <a:lstStyle>
            <a:lvl1pPr>
              <a:defRPr sz="11600" spc="-232"/>
            </a:lvl1pPr>
          </a:lstStyle>
          <a:p>
            <a:r>
              <a:rPr dirty="0" err="1"/>
              <a:t>演示文稿标题</a:t>
            </a:r>
            <a:endParaRPr dirty="0"/>
          </a:p>
        </p:txBody>
      </p:sp>
      <p:sp>
        <p:nvSpPr>
          <p:cNvPr id="171" name="正文级别 1…"/>
          <p:cNvSpPr txBox="1">
            <a:spLocks noGrp="1"/>
          </p:cNvSpPr>
          <p:nvPr>
            <p:ph type="body" sz="quarter" idx="1" hasCustomPrompt="1"/>
          </p:nvPr>
        </p:nvSpPr>
        <p:spPr>
          <a:xfrm>
            <a:off x="1201342" y="7223190"/>
            <a:ext cx="21971001" cy="1905001"/>
          </a:xfrm>
          <a:prstGeom prst="rect">
            <a:avLst/>
          </a:prstGeom>
        </p:spPr>
        <p:txBody>
          <a:bodyPr/>
          <a:lstStyle>
            <a:lvl1pPr marL="0" indent="0">
              <a:buSzTx/>
              <a:buNone/>
              <a:defRPr>
                <a:latin typeface="배달의민족 주아 OTF"/>
                <a:ea typeface="배달의민족 주아 OTF"/>
                <a:cs typeface="배달의민족 주아 OTF"/>
                <a:sym typeface="배달의민족 주아 OTF"/>
              </a:defRPr>
            </a:lvl1pPr>
            <a:lvl2pPr marL="0" indent="457200">
              <a:buSzTx/>
              <a:buNone/>
              <a:defRPr>
                <a:latin typeface="배달의민족 주아 OTF"/>
                <a:ea typeface="배달의민족 주아 OTF"/>
                <a:cs typeface="배달의민족 주아 OTF"/>
                <a:sym typeface="배달의민족 주아 OTF"/>
              </a:defRPr>
            </a:lvl2pPr>
            <a:lvl3pPr marL="0" indent="914400">
              <a:buSzTx/>
              <a:buNone/>
              <a:defRPr>
                <a:latin typeface="배달의민족 주아 OTF"/>
                <a:ea typeface="배달의민족 주아 OTF"/>
                <a:cs typeface="배달의민족 주아 OTF"/>
                <a:sym typeface="배달의민족 주아 OTF"/>
              </a:defRPr>
            </a:lvl3pPr>
            <a:lvl4pPr marL="0" indent="1371600">
              <a:buSzTx/>
              <a:buNone/>
              <a:defRPr>
                <a:latin typeface="배달의민족 주아 OTF"/>
                <a:ea typeface="배달의민족 주아 OTF"/>
                <a:cs typeface="배달의민족 주아 OTF"/>
                <a:sym typeface="배달의민족 주아 OTF"/>
              </a:defRPr>
            </a:lvl4pPr>
            <a:lvl5pPr marL="0" indent="1828800">
              <a:buSzTx/>
              <a:buNone/>
              <a:defRPr>
                <a:latin typeface="배달의민족 주아 OTF"/>
                <a:ea typeface="배달의민족 주아 OTF"/>
                <a:cs typeface="배달의민족 주아 OTF"/>
                <a:sym typeface="배달의민족 주아 OTF"/>
              </a:defRPr>
            </a:lvl5pPr>
          </a:lstStyle>
          <a:p>
            <a:r>
              <a:t>演示文稿副标题</a:t>
            </a:r>
          </a:p>
          <a:p>
            <a:pPr lvl="1"/>
            <a:endParaRPr/>
          </a:p>
          <a:p>
            <a:pPr lvl="2"/>
            <a:endParaRPr/>
          </a:p>
          <a:p>
            <a:pPr lvl="3"/>
            <a:endParaRPr/>
          </a:p>
          <a:p>
            <a:pPr lvl="4"/>
            <a:endParaRPr/>
          </a:p>
        </p:txBody>
      </p:sp>
      <p:sp>
        <p:nvSpPr>
          <p:cNvPr id="172" name="幻灯片编号"/>
          <p:cNvSpPr txBox="1">
            <a:spLocks noGrp="1"/>
          </p:cNvSpPr>
          <p:nvPr>
            <p:ph type="sldNum" sz="quarter" idx="2"/>
          </p:nvPr>
        </p:nvSpPr>
        <p:spPr>
          <a:prstGeom prst="rect">
            <a:avLst/>
          </a:prstGeom>
        </p:spPr>
        <p:txBody>
          <a:bodyPr/>
          <a:lstStyle>
            <a:lvl1pPr>
              <a:defRPr/>
            </a:lvl1pPr>
          </a:lstStyle>
          <a:p>
            <a:fld id="{86CB4B4D-7CA3-9044-876B-883B54F8677D}" type="slidenum">
              <a:rPr lang="en-US" altLang="zh-CN" smtClean="0"/>
              <a:pPr/>
              <a:t>‹#›</a:t>
            </a:fld>
            <a:endParaRPr lang="en-US" altLang="zh-CN" dirty="0"/>
          </a:p>
        </p:txBody>
      </p:sp>
    </p:spTree>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type="tx">
  <p:cSld name="标题幻灯片">
    <p:spTree>
      <p:nvGrpSpPr>
        <p:cNvPr id="1" name=""/>
        <p:cNvGrpSpPr/>
        <p:nvPr/>
      </p:nvGrpSpPr>
      <p:grpSpPr>
        <a:xfrm>
          <a:off x="0" y="0"/>
          <a:ext cx="0" cy="0"/>
          <a:chOff x="0" y="0"/>
          <a:chExt cx="0" cy="0"/>
        </a:xfrm>
      </p:grpSpPr>
      <p:sp>
        <p:nvSpPr>
          <p:cNvPr id="179" name="标题文本"/>
          <p:cNvSpPr txBox="1">
            <a:spLocks noGrp="1"/>
          </p:cNvSpPr>
          <p:nvPr>
            <p:ph type="title"/>
          </p:nvPr>
        </p:nvSpPr>
        <p:spPr>
          <a:xfrm>
            <a:off x="2397599" y="1828800"/>
            <a:ext cx="19598402" cy="5140801"/>
          </a:xfrm>
          <a:prstGeom prst="rect">
            <a:avLst/>
          </a:prstGeom>
        </p:spPr>
        <p:txBody>
          <a:bodyPr lIns="93599" tIns="93599" rIns="93599" bIns="93599" anchor="b"/>
          <a:lstStyle>
            <a:lvl1pPr algn="ctr" defTabSz="1828800">
              <a:lnSpc>
                <a:spcPct val="100000"/>
              </a:lnSpc>
              <a:defRPr sz="12000" spc="600">
                <a:solidFill>
                  <a:srgbClr val="262626"/>
                </a:solidFill>
                <a:latin typeface="Arial"/>
                <a:ea typeface="Arial"/>
                <a:cs typeface="Arial"/>
                <a:sym typeface="Arial"/>
              </a:defRPr>
            </a:lvl1pPr>
          </a:lstStyle>
          <a:p>
            <a:r>
              <a:t>标题文本</a:t>
            </a:r>
          </a:p>
        </p:txBody>
      </p:sp>
      <p:sp>
        <p:nvSpPr>
          <p:cNvPr id="180" name="正文级别 1…"/>
          <p:cNvSpPr txBox="1">
            <a:spLocks noGrp="1"/>
          </p:cNvSpPr>
          <p:nvPr>
            <p:ph type="body" sz="quarter" idx="1"/>
          </p:nvPr>
        </p:nvSpPr>
        <p:spPr>
          <a:xfrm>
            <a:off x="2397599" y="7120800"/>
            <a:ext cx="19598402" cy="2944801"/>
          </a:xfrm>
          <a:prstGeom prst="rect">
            <a:avLst/>
          </a:prstGeom>
        </p:spPr>
        <p:txBody>
          <a:bodyPr lIns="93599" tIns="93599" rIns="93599" bIns="93599"/>
          <a:lstStyle>
            <a:lvl1pPr marL="0" indent="0" algn="ctr" defTabSz="1828800">
              <a:lnSpc>
                <a:spcPct val="110000"/>
              </a:lnSpc>
              <a:spcBef>
                <a:spcPts val="2000"/>
              </a:spcBef>
              <a:buSzTx/>
              <a:buNone/>
              <a:defRPr spc="400">
                <a:solidFill>
                  <a:srgbClr val="595959"/>
                </a:solidFill>
                <a:latin typeface="Arial"/>
                <a:ea typeface="Arial"/>
                <a:cs typeface="Arial"/>
                <a:sym typeface="Arial"/>
              </a:defRPr>
            </a:lvl1pPr>
            <a:lvl2pPr marL="0" indent="457200" algn="ctr" defTabSz="1828800">
              <a:lnSpc>
                <a:spcPct val="110000"/>
              </a:lnSpc>
              <a:spcBef>
                <a:spcPts val="2000"/>
              </a:spcBef>
              <a:buSzTx/>
              <a:buNone/>
              <a:defRPr spc="400">
                <a:solidFill>
                  <a:srgbClr val="595959"/>
                </a:solidFill>
                <a:latin typeface="Arial"/>
                <a:ea typeface="Arial"/>
                <a:cs typeface="Arial"/>
                <a:sym typeface="Arial"/>
              </a:defRPr>
            </a:lvl2pPr>
            <a:lvl3pPr marL="0" indent="914400" algn="ctr" defTabSz="1828800">
              <a:lnSpc>
                <a:spcPct val="110000"/>
              </a:lnSpc>
              <a:spcBef>
                <a:spcPts val="2000"/>
              </a:spcBef>
              <a:buSzTx/>
              <a:buNone/>
              <a:defRPr spc="400">
                <a:solidFill>
                  <a:srgbClr val="595959"/>
                </a:solidFill>
                <a:latin typeface="Arial"/>
                <a:ea typeface="Arial"/>
                <a:cs typeface="Arial"/>
                <a:sym typeface="Arial"/>
              </a:defRPr>
            </a:lvl3pPr>
            <a:lvl4pPr marL="0" indent="1371600" algn="ctr" defTabSz="1828800">
              <a:lnSpc>
                <a:spcPct val="110000"/>
              </a:lnSpc>
              <a:spcBef>
                <a:spcPts val="2000"/>
              </a:spcBef>
              <a:buSzTx/>
              <a:buNone/>
              <a:defRPr spc="400">
                <a:solidFill>
                  <a:srgbClr val="595959"/>
                </a:solidFill>
                <a:latin typeface="Arial"/>
                <a:ea typeface="Arial"/>
                <a:cs typeface="Arial"/>
                <a:sym typeface="Arial"/>
              </a:defRPr>
            </a:lvl4pPr>
            <a:lvl5pPr marL="0" indent="1828800" algn="ctr" defTabSz="1828800">
              <a:lnSpc>
                <a:spcPct val="110000"/>
              </a:lnSpc>
              <a:spcBef>
                <a:spcPts val="2000"/>
              </a:spcBef>
              <a:buSzTx/>
              <a:buNone/>
              <a:defRPr spc="400">
                <a:solidFill>
                  <a:srgbClr val="595959"/>
                </a:solidFill>
                <a:latin typeface="Arial"/>
                <a:ea typeface="Arial"/>
                <a:cs typeface="Arial"/>
                <a:sym typeface="Arial"/>
              </a:defRPr>
            </a:lvl5pPr>
          </a:lstStyle>
          <a:p>
            <a:r>
              <a:t>正文级别 1</a:t>
            </a:r>
          </a:p>
          <a:p>
            <a:pPr lvl="1"/>
            <a:r>
              <a:t>正文级别 2</a:t>
            </a:r>
          </a:p>
          <a:p>
            <a:pPr lvl="2"/>
            <a:r>
              <a:t>正文级别 3</a:t>
            </a:r>
          </a:p>
          <a:p>
            <a:pPr lvl="3"/>
            <a:r>
              <a:t>正文级别 4</a:t>
            </a:r>
          </a:p>
          <a:p>
            <a:pPr lvl="4"/>
            <a:r>
              <a:t>正文级别 5</a:t>
            </a:r>
          </a:p>
        </p:txBody>
      </p:sp>
      <p:sp>
        <p:nvSpPr>
          <p:cNvPr id="181" name="幻灯片编号"/>
          <p:cNvSpPr txBox="1">
            <a:spLocks noGrp="1"/>
          </p:cNvSpPr>
          <p:nvPr>
            <p:ph type="sldNum" sz="quarter" idx="2"/>
          </p:nvPr>
        </p:nvSpPr>
        <p:spPr>
          <a:xfrm>
            <a:off x="22677095" y="12712264"/>
            <a:ext cx="478106" cy="466671"/>
          </a:xfrm>
          <a:prstGeom prst="rect">
            <a:avLst/>
          </a:prstGeom>
        </p:spPr>
        <p:txBody>
          <a:bodyPr lIns="91439" tIns="91439" rIns="91439" bIns="91439" anchor="ctr">
            <a:normAutofit/>
          </a:bodyPr>
          <a:lstStyle>
            <a:lvl1pPr algn="r" defTabSz="1828800">
              <a:defRPr sz="2000">
                <a:solidFill>
                  <a:srgbClr val="888888"/>
                </a:solidFill>
                <a:latin typeface="Arial"/>
                <a:ea typeface="Arial"/>
                <a:cs typeface="Arial"/>
                <a:sym typeface="Arial"/>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幻灯片标题"/>
          <p:cNvSpPr txBox="1">
            <a:spLocks noGrp="1"/>
          </p:cNvSpPr>
          <p:nvPr>
            <p:ph type="title" hasCustomPrompt="1"/>
          </p:nvPr>
        </p:nvSpPr>
        <p:spPr>
          <a:xfrm>
            <a:off x="1206500" y="1079500"/>
            <a:ext cx="21971000" cy="14331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rPr dirty="0" err="1"/>
              <a:t>幻灯片标题</a:t>
            </a:r>
            <a:endParaRPr dirty="0"/>
          </a:p>
        </p:txBody>
      </p:sp>
      <p:sp>
        <p:nvSpPr>
          <p:cNvPr id="3" name="正文级别 1…"/>
          <p:cNvSpPr txBox="1">
            <a:spLocks noGrp="1"/>
          </p:cNvSpPr>
          <p:nvPr>
            <p:ph type="body" idx="1" hasCustomPrompt="1"/>
          </p:nvPr>
        </p:nvSpPr>
        <p:spPr>
          <a:xfrm>
            <a:off x="1206500" y="4248504"/>
            <a:ext cx="21971000" cy="825601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rPr dirty="0" err="1"/>
              <a:t>幻灯片项目符号文本</a:t>
            </a:r>
            <a:endParaRPr dirty="0"/>
          </a:p>
          <a:p>
            <a:pPr lvl="1"/>
            <a:endParaRPr dirty="0"/>
          </a:p>
          <a:p>
            <a:pPr lvl="2"/>
            <a:endParaRPr dirty="0"/>
          </a:p>
          <a:p>
            <a:pPr lvl="3"/>
            <a:endParaRPr dirty="0"/>
          </a:p>
          <a:p>
            <a:pPr lvl="4"/>
            <a:endParaRPr dirty="0"/>
          </a:p>
        </p:txBody>
      </p:sp>
      <p:sp>
        <p:nvSpPr>
          <p:cNvPr id="4" name="幻灯片编号"/>
          <p:cNvSpPr txBox="1">
            <a:spLocks noGrp="1"/>
          </p:cNvSpPr>
          <p:nvPr>
            <p:ph type="sldNum" sz="quarter" idx="2"/>
          </p:nvPr>
        </p:nvSpPr>
        <p:spPr>
          <a:xfrm>
            <a:off x="11993391" y="13076008"/>
            <a:ext cx="384721" cy="37959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atin typeface="Arial" panose="020B0604020202020204" pitchFamily="34" charset="0"/>
                <a:cs typeface="Arial" panose="020B0604020202020204" pitchFamily="34" charset="0"/>
              </a:defRPr>
            </a:lvl1pPr>
          </a:lstStyle>
          <a:p>
            <a:fld id="{86CB4B4D-7CA3-9044-876B-883B54F8677D}" type="slidenum">
              <a:rPr lang="en-US" altLang="zh-CN" smtClean="0"/>
              <a:pPr/>
              <a:t>‹#›</a:t>
            </a:fld>
            <a:endParaRPr lang="en-US" altLang="zh-CN"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transition spd="med"/>
  <p:txStyles>
    <p:titleStyle>
      <a:lvl1pPr marL="0" marR="0" indent="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Arial" panose="020B0604020202020204" pitchFamily="34" charset="0"/>
          <a:ea typeface="+mn-ea"/>
          <a:cs typeface="Arial" panose="020B0604020202020204" pitchFamily="34" charset="0"/>
          <a:sym typeface="Helvetica Neue"/>
        </a:defRPr>
      </a:lvl1pPr>
      <a:lvl2pPr marL="0" marR="0" indent="45720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Arial" panose="020B0604020202020204" pitchFamily="34" charset="0"/>
          <a:ea typeface="+mn-ea"/>
          <a:cs typeface="Arial" panose="020B0604020202020204" pitchFamily="34" charset="0"/>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Arial" panose="020B0604020202020204" pitchFamily="34" charset="0"/>
          <a:ea typeface="+mn-ea"/>
          <a:cs typeface="Arial" panose="020B0604020202020204" pitchFamily="34" charset="0"/>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Arial" panose="020B0604020202020204" pitchFamily="34" charset="0"/>
          <a:ea typeface="+mn-ea"/>
          <a:cs typeface="Arial" panose="020B0604020202020204" pitchFamily="34" charset="0"/>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Arial" panose="020B0604020202020204" pitchFamily="34" charset="0"/>
          <a:ea typeface="+mn-ea"/>
          <a:cs typeface="Arial" panose="020B0604020202020204" pitchFamily="34" charset="0"/>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Arial" panose="020B0604020202020204" pitchFamily="34" charset="0"/>
          <a:ea typeface="+mn-ea"/>
          <a:cs typeface="Arial" panose="020B0604020202020204" pitchFamily="34" charset="0"/>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9.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jpe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9.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9.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19.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4.jpe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19.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5.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3.png"/><Relationship Id="rId7"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19.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27.png"/></Relationships>
</file>

<file path=ppt/slides/_rels/slide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4.jpeg"/><Relationship Id="rId7" Type="http://schemas.openxmlformats.org/officeDocument/2006/relationships/image" Target="../media/image30.svg"/><Relationship Id="rId2" Type="http://schemas.openxmlformats.org/officeDocument/2006/relationships/notesSlide" Target="../notesSlides/notesSlide7.xml"/><Relationship Id="rId1" Type="http://schemas.openxmlformats.org/officeDocument/2006/relationships/slideLayout" Target="../slideLayouts/slideLayout19.xml"/><Relationship Id="rId6" Type="http://schemas.openxmlformats.org/officeDocument/2006/relationships/image" Target="../media/image29.png"/><Relationship Id="rId11" Type="http://schemas.openxmlformats.org/officeDocument/2006/relationships/image" Target="../media/image34.sv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image" Target="../media/image5.png"/><Relationship Id="rId9" Type="http://schemas.openxmlformats.org/officeDocument/2006/relationships/image" Target="../media/image32.svg"/></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7.png"/><Relationship Id="rId2" Type="http://schemas.openxmlformats.org/officeDocument/2006/relationships/notesSlide" Target="../notesSlides/notesSlide8.xml"/><Relationship Id="rId1" Type="http://schemas.openxmlformats.org/officeDocument/2006/relationships/slideLayout" Target="../slideLayouts/slideLayout19.xml"/><Relationship Id="rId6" Type="http://schemas.openxmlformats.org/officeDocument/2006/relationships/image" Target="../media/image36.png"/><Relationship Id="rId5" Type="http://schemas.openxmlformats.org/officeDocument/2006/relationships/image" Target="../media/image5.png"/><Relationship Id="rId4" Type="http://schemas.openxmlformats.org/officeDocument/2006/relationships/image" Target="../media/image4.jpeg"/></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19.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4.jpeg"/><Relationship Id="rId7" Type="http://schemas.openxmlformats.org/officeDocument/2006/relationships/image" Target="../media/image40.png"/><Relationship Id="rId2" Type="http://schemas.openxmlformats.org/officeDocument/2006/relationships/notesSlide" Target="../notesSlides/notesSlide10.xml"/><Relationship Id="rId1" Type="http://schemas.openxmlformats.org/officeDocument/2006/relationships/slideLayout" Target="../slideLayouts/slideLayout19.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34.svg"/><Relationship Id="rId2" Type="http://schemas.openxmlformats.org/officeDocument/2006/relationships/notesSlide" Target="../notesSlides/notesSlide11.xml"/><Relationship Id="rId1" Type="http://schemas.openxmlformats.org/officeDocument/2006/relationships/slideLayout" Target="../slideLayouts/slideLayout19.xml"/><Relationship Id="rId6" Type="http://schemas.openxmlformats.org/officeDocument/2006/relationships/image" Target="../media/image33.png"/><Relationship Id="rId5" Type="http://schemas.openxmlformats.org/officeDocument/2006/relationships/image" Target="../media/image42.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5.png"/><Relationship Id="rId2" Type="http://schemas.openxmlformats.org/officeDocument/2006/relationships/notesSlide" Target="../notesSlides/notesSlide12.xml"/><Relationship Id="rId1" Type="http://schemas.openxmlformats.org/officeDocument/2006/relationships/slideLayout" Target="../slideLayouts/slideLayout19.xml"/><Relationship Id="rId6" Type="http://schemas.openxmlformats.org/officeDocument/2006/relationships/image" Target="../media/image5.png"/><Relationship Id="rId5" Type="http://schemas.openxmlformats.org/officeDocument/2006/relationships/image" Target="../media/image4.jpeg"/><Relationship Id="rId4" Type="http://schemas.openxmlformats.org/officeDocument/2006/relationships/image" Target="../media/image44.png"/></Relationships>
</file>

<file path=ppt/slides/_rels/slide13.xml.rels><?xml version="1.0" encoding="UTF-8" standalone="yes"?>
<Relationships xmlns="http://schemas.openxmlformats.org/package/2006/relationships"><Relationship Id="rId8" Type="http://schemas.openxmlformats.org/officeDocument/2006/relationships/image" Target="../media/image49.png"/><Relationship Id="rId13" Type="http://schemas.openxmlformats.org/officeDocument/2006/relationships/image" Target="../media/image54.png"/><Relationship Id="rId3" Type="http://schemas.openxmlformats.org/officeDocument/2006/relationships/image" Target="../media/image4.jpeg"/><Relationship Id="rId7" Type="http://schemas.openxmlformats.org/officeDocument/2006/relationships/image" Target="../media/image48.png"/><Relationship Id="rId12" Type="http://schemas.openxmlformats.org/officeDocument/2006/relationships/image" Target="../media/image53.png"/><Relationship Id="rId2" Type="http://schemas.openxmlformats.org/officeDocument/2006/relationships/notesSlide" Target="../notesSlides/notesSlide13.xml"/><Relationship Id="rId1" Type="http://schemas.openxmlformats.org/officeDocument/2006/relationships/slideLayout" Target="../slideLayouts/slideLayout19.xml"/><Relationship Id="rId6" Type="http://schemas.openxmlformats.org/officeDocument/2006/relationships/image" Target="../media/image47.png"/><Relationship Id="rId11" Type="http://schemas.openxmlformats.org/officeDocument/2006/relationships/image" Target="../media/image52.png"/><Relationship Id="rId5" Type="http://schemas.openxmlformats.org/officeDocument/2006/relationships/image" Target="../media/image46.png"/><Relationship Id="rId10" Type="http://schemas.openxmlformats.org/officeDocument/2006/relationships/image" Target="../media/image51.png"/><Relationship Id="rId4" Type="http://schemas.openxmlformats.org/officeDocument/2006/relationships/image" Target="../media/image5.png"/><Relationship Id="rId9" Type="http://schemas.openxmlformats.org/officeDocument/2006/relationships/image" Target="../media/image50.png"/></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4.xml"/><Relationship Id="rId1" Type="http://schemas.openxmlformats.org/officeDocument/2006/relationships/slideLayout" Target="../slideLayouts/slideLayout19.xml"/><Relationship Id="rId6" Type="http://schemas.openxmlformats.org/officeDocument/2006/relationships/image" Target="../media/image35.png"/><Relationship Id="rId5" Type="http://schemas.openxmlformats.org/officeDocument/2006/relationships/image" Target="../media/image55.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5.xml"/><Relationship Id="rId1" Type="http://schemas.openxmlformats.org/officeDocument/2006/relationships/slideLayout" Target="../slideLayouts/slideLayout19.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60.png"/><Relationship Id="rId2" Type="http://schemas.openxmlformats.org/officeDocument/2006/relationships/notesSlide" Target="../notesSlides/notesSlide16.xml"/><Relationship Id="rId1" Type="http://schemas.openxmlformats.org/officeDocument/2006/relationships/slideLayout" Target="../slideLayouts/slideLayout19.xml"/><Relationship Id="rId6" Type="http://schemas.openxmlformats.org/officeDocument/2006/relationships/image" Target="../media/image5.png"/><Relationship Id="rId5" Type="http://schemas.openxmlformats.org/officeDocument/2006/relationships/image" Target="../media/image4.jpeg"/><Relationship Id="rId4" Type="http://schemas.openxmlformats.org/officeDocument/2006/relationships/image" Target="../media/image59.png"/></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7.xml"/><Relationship Id="rId1" Type="http://schemas.openxmlformats.org/officeDocument/2006/relationships/slideLayout" Target="../slideLayouts/slideLayout19.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8.xml"/><Relationship Id="rId1" Type="http://schemas.openxmlformats.org/officeDocument/2006/relationships/slideLayout" Target="../slideLayouts/slideLayout19.xml"/><Relationship Id="rId6" Type="http://schemas.openxmlformats.org/officeDocument/2006/relationships/image" Target="../media/image64.emf"/><Relationship Id="rId5" Type="http://schemas.openxmlformats.org/officeDocument/2006/relationships/image" Target="../media/image63.emf"/><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3.png"/><Relationship Id="rId3" Type="http://schemas.openxmlformats.org/officeDocument/2006/relationships/image" Target="../media/image4.jpeg"/><Relationship Id="rId7" Type="http://schemas.openxmlformats.org/officeDocument/2006/relationships/image" Target="../media/image67.png"/><Relationship Id="rId12" Type="http://schemas.openxmlformats.org/officeDocument/2006/relationships/image" Target="../media/image72.png"/><Relationship Id="rId2" Type="http://schemas.openxmlformats.org/officeDocument/2006/relationships/notesSlide" Target="../notesSlides/notesSlide19.xml"/><Relationship Id="rId16" Type="http://schemas.openxmlformats.org/officeDocument/2006/relationships/image" Target="../media/image76.png"/><Relationship Id="rId1" Type="http://schemas.openxmlformats.org/officeDocument/2006/relationships/slideLayout" Target="../slideLayouts/slideLayout19.xml"/><Relationship Id="rId6" Type="http://schemas.openxmlformats.org/officeDocument/2006/relationships/image" Target="../media/image66.png"/><Relationship Id="rId11" Type="http://schemas.openxmlformats.org/officeDocument/2006/relationships/image" Target="../media/image71.png"/><Relationship Id="rId5" Type="http://schemas.openxmlformats.org/officeDocument/2006/relationships/image" Target="../media/image65.png"/><Relationship Id="rId15" Type="http://schemas.openxmlformats.org/officeDocument/2006/relationships/image" Target="../media/image75.png"/><Relationship Id="rId10" Type="http://schemas.openxmlformats.org/officeDocument/2006/relationships/image" Target="../media/image70.png"/><Relationship Id="rId4" Type="http://schemas.openxmlformats.org/officeDocument/2006/relationships/image" Target="../media/image5.png"/><Relationship Id="rId9" Type="http://schemas.openxmlformats.org/officeDocument/2006/relationships/image" Target="../media/image69.png"/><Relationship Id="rId14" Type="http://schemas.openxmlformats.org/officeDocument/2006/relationships/image" Target="../media/image74.png"/></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79.png"/><Relationship Id="rId2" Type="http://schemas.openxmlformats.org/officeDocument/2006/relationships/notesSlide" Target="../notesSlides/notesSlide20.xml"/><Relationship Id="rId1" Type="http://schemas.openxmlformats.org/officeDocument/2006/relationships/slideLayout" Target="../slideLayouts/slideLayout19.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xml"/><Relationship Id="rId1" Type="http://schemas.openxmlformats.org/officeDocument/2006/relationships/slideLayout" Target="../slideLayouts/slideLayout19.xml"/><Relationship Id="rId6" Type="http://schemas.openxmlformats.org/officeDocument/2006/relationships/image" Target="../media/image64.emf"/><Relationship Id="rId5" Type="http://schemas.openxmlformats.org/officeDocument/2006/relationships/image" Target="../media/image80.emf"/><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9.xml"/><Relationship Id="rId7" Type="http://schemas.openxmlformats.org/officeDocument/2006/relationships/image" Target="../media/image8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png"/><Relationship Id="rId5" Type="http://schemas.openxmlformats.org/officeDocument/2006/relationships/image" Target="../media/image4.jpe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8" Type="http://schemas.openxmlformats.org/officeDocument/2006/relationships/image" Target="../media/image84.emf"/><Relationship Id="rId13" Type="http://schemas.openxmlformats.org/officeDocument/2006/relationships/image" Target="../media/image63.emf"/><Relationship Id="rId3" Type="http://schemas.openxmlformats.org/officeDocument/2006/relationships/image" Target="../media/image4.jpeg"/><Relationship Id="rId7" Type="http://schemas.openxmlformats.org/officeDocument/2006/relationships/image" Target="../media/image83.emf"/><Relationship Id="rId12" Type="http://schemas.openxmlformats.org/officeDocument/2006/relationships/image" Target="../media/image86.emf"/><Relationship Id="rId2" Type="http://schemas.openxmlformats.org/officeDocument/2006/relationships/notesSlide" Target="../notesSlides/notesSlide23.xml"/><Relationship Id="rId16" Type="http://schemas.openxmlformats.org/officeDocument/2006/relationships/image" Target="../media/image92.png"/><Relationship Id="rId1" Type="http://schemas.openxmlformats.org/officeDocument/2006/relationships/slideLayout" Target="../slideLayouts/slideLayout19.xml"/><Relationship Id="rId6" Type="http://schemas.openxmlformats.org/officeDocument/2006/relationships/image" Target="../media/image82.emf"/><Relationship Id="rId11" Type="http://schemas.openxmlformats.org/officeDocument/2006/relationships/image" Target="../media/image85.emf"/><Relationship Id="rId5" Type="http://schemas.openxmlformats.org/officeDocument/2006/relationships/image" Target="../media/image82.png"/><Relationship Id="rId15" Type="http://schemas.openxmlformats.org/officeDocument/2006/relationships/image" Target="../media/image91.png"/><Relationship Id="rId10" Type="http://schemas.openxmlformats.org/officeDocument/2006/relationships/image" Target="../media/image87.png"/><Relationship Id="rId4" Type="http://schemas.openxmlformats.org/officeDocument/2006/relationships/image" Target="../media/image5.png"/><Relationship Id="rId9" Type="http://schemas.openxmlformats.org/officeDocument/2006/relationships/image" Target="../media/image86.png"/><Relationship Id="rId14" Type="http://schemas.openxmlformats.org/officeDocument/2006/relationships/image" Target="../media/image90.png"/></Relationships>
</file>

<file path=ppt/slides/_rels/slide24.xml.rels><?xml version="1.0" encoding="UTF-8" standalone="yes"?>
<Relationships xmlns="http://schemas.openxmlformats.org/package/2006/relationships"><Relationship Id="rId8" Type="http://schemas.openxmlformats.org/officeDocument/2006/relationships/image" Target="../media/image88.emf"/><Relationship Id="rId3" Type="http://schemas.openxmlformats.org/officeDocument/2006/relationships/image" Target="../media/image4.jpeg"/><Relationship Id="rId7" Type="http://schemas.openxmlformats.org/officeDocument/2006/relationships/image" Target="../media/image87.emf"/><Relationship Id="rId2" Type="http://schemas.openxmlformats.org/officeDocument/2006/relationships/notesSlide" Target="../notesSlides/notesSlide24.xml"/><Relationship Id="rId1" Type="http://schemas.openxmlformats.org/officeDocument/2006/relationships/slideLayout" Target="../slideLayouts/slideLayout19.xml"/><Relationship Id="rId6" Type="http://schemas.openxmlformats.org/officeDocument/2006/relationships/image" Target="../media/image3.png"/><Relationship Id="rId5" Type="http://schemas.openxmlformats.org/officeDocument/2006/relationships/image" Target="../media/image93.png"/><Relationship Id="rId4" Type="http://schemas.openxmlformats.org/officeDocument/2006/relationships/image" Target="../media/image5.png"/><Relationship Id="rId9" Type="http://schemas.openxmlformats.org/officeDocument/2006/relationships/image" Target="../media/image96.png"/></Relationships>
</file>

<file path=ppt/slides/_rels/slide2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5.xml"/><Relationship Id="rId1" Type="http://schemas.openxmlformats.org/officeDocument/2006/relationships/slideLayout" Target="../slideLayouts/slideLayout19.xml"/><Relationship Id="rId6" Type="http://schemas.openxmlformats.org/officeDocument/2006/relationships/image" Target="../media/image94.png"/><Relationship Id="rId5" Type="http://schemas.openxmlformats.org/officeDocument/2006/relationships/image" Target="../media/image89.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6.xml"/><Relationship Id="rId1" Type="http://schemas.openxmlformats.org/officeDocument/2006/relationships/slideLayout" Target="../slideLayouts/slideLayout19.x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7.xml"/><Relationship Id="rId1" Type="http://schemas.openxmlformats.org/officeDocument/2006/relationships/slideLayout" Target="../slideLayouts/slideLayout19.xml"/><Relationship Id="rId6" Type="http://schemas.openxmlformats.org/officeDocument/2006/relationships/hyperlink" Target="https://github.com/tuzhong007/StrokeRenderingXMU" TargetMode="External"/><Relationship Id="rId5" Type="http://schemas.openxmlformats.org/officeDocument/2006/relationships/hyperlink" Target="mailto:19020230157197@stu.xmu.edu.cn"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8B09A916-EA7C-981C-DF32-7D5498C419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9509" y="7014612"/>
            <a:ext cx="6125324" cy="5450778"/>
          </a:xfrm>
          <a:prstGeom prst="rect">
            <a:avLst/>
          </a:prstGeom>
        </p:spPr>
      </p:pic>
      <p:pic>
        <p:nvPicPr>
          <p:cNvPr id="5" name="图片 4">
            <a:extLst>
              <a:ext uri="{FF2B5EF4-FFF2-40B4-BE49-F238E27FC236}">
                <a16:creationId xmlns:a16="http://schemas.microsoft.com/office/drawing/2014/main" id="{26AF8B18-D26C-2FDA-7571-6680673D08F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35755" y="7014612"/>
            <a:ext cx="6112491" cy="5439355"/>
          </a:xfrm>
          <a:prstGeom prst="rect">
            <a:avLst/>
          </a:prstGeom>
        </p:spPr>
      </p:pic>
      <p:pic>
        <p:nvPicPr>
          <p:cNvPr id="6" name="图片 5">
            <a:extLst>
              <a:ext uri="{FF2B5EF4-FFF2-40B4-BE49-F238E27FC236}">
                <a16:creationId xmlns:a16="http://schemas.microsoft.com/office/drawing/2014/main" id="{994D9649-10E5-5CB4-EB4C-3222C6A0B98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059169" y="7003191"/>
            <a:ext cx="6125324" cy="5450776"/>
          </a:xfrm>
          <a:prstGeom prst="rect">
            <a:avLst/>
          </a:prstGeom>
        </p:spPr>
      </p:pic>
      <p:pic>
        <p:nvPicPr>
          <p:cNvPr id="190" name="图片 100" descr="图片 100"/>
          <p:cNvPicPr>
            <a:picLocks noChangeAspect="1"/>
          </p:cNvPicPr>
          <p:nvPr/>
        </p:nvPicPr>
        <p:blipFill>
          <a:blip r:embed="rId6"/>
          <a:stretch>
            <a:fillRect/>
          </a:stretch>
        </p:blipFill>
        <p:spPr>
          <a:xfrm>
            <a:off x="21738589" y="247650"/>
            <a:ext cx="2456181" cy="2244090"/>
          </a:xfrm>
          <a:prstGeom prst="rect">
            <a:avLst/>
          </a:prstGeom>
          <a:ln w="12700">
            <a:miter lim="400000"/>
          </a:ln>
        </p:spPr>
      </p:pic>
      <p:pic>
        <p:nvPicPr>
          <p:cNvPr id="191" name="图片 6" descr="图片 6"/>
          <p:cNvPicPr>
            <a:picLocks noChangeAspect="1"/>
          </p:cNvPicPr>
          <p:nvPr/>
        </p:nvPicPr>
        <p:blipFill>
          <a:blip r:embed="rId7"/>
          <a:stretch>
            <a:fillRect/>
          </a:stretch>
        </p:blipFill>
        <p:spPr>
          <a:xfrm>
            <a:off x="265026" y="12697438"/>
            <a:ext cx="6706870" cy="1009651"/>
          </a:xfrm>
          <a:prstGeom prst="rect">
            <a:avLst/>
          </a:prstGeom>
          <a:ln w="12700">
            <a:miter lim="400000"/>
          </a:ln>
        </p:spPr>
      </p:pic>
      <p:sp>
        <p:nvSpPr>
          <p:cNvPr id="192" name="2D Path图元矢量化绘制技术研究…"/>
          <p:cNvSpPr/>
          <p:nvPr/>
        </p:nvSpPr>
        <p:spPr>
          <a:xfrm>
            <a:off x="2270117" y="2213358"/>
            <a:ext cx="19843765" cy="2657954"/>
          </a:xfrm>
          <a:prstGeom prst="roundRect">
            <a:avLst>
              <a:gd name="adj" fmla="val 19873"/>
            </a:avLst>
          </a:prstGeom>
          <a:solidFill>
            <a:srgbClr val="122A6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lstStyle/>
          <a:p>
            <a:pPr algn="ctr" defTabSz="457200">
              <a:lnSpc>
                <a:spcPct val="100000"/>
              </a:lnSpc>
              <a:spcBef>
                <a:spcPts val="0"/>
              </a:spcBef>
              <a:defRPr sz="8500">
                <a:solidFill>
                  <a:srgbClr val="FFFFFF"/>
                </a:solidFill>
                <a:latin typeface="PingFang SC Regular"/>
                <a:ea typeface="PingFang SC Regular"/>
                <a:cs typeface="PingFang SC Regular"/>
                <a:sym typeface="PingFang SC Regular"/>
              </a:defRPr>
            </a:pPr>
            <a:r>
              <a:rPr lang="en-US" altLang="zh-CN" sz="8000" b="1" i="1" dirty="0">
                <a:latin typeface="Arial Narrow" panose="020B0606020202030204" pitchFamily="34" charset="0"/>
                <a:ea typeface="Arial"/>
                <a:cs typeface="Arial"/>
                <a:sym typeface="Arial"/>
              </a:rPr>
              <a:t>GPU-Accelerated Rendering of Vector Strokes with Piecewise Quadratic Approximation</a:t>
            </a:r>
            <a:endParaRPr sz="8000" b="1" i="1" dirty="0">
              <a:latin typeface="Arial Narrow" panose="020B0606020202030204" pitchFamily="34" charset="0"/>
            </a:endParaRPr>
          </a:p>
        </p:txBody>
      </p:sp>
      <p:sp>
        <p:nvSpPr>
          <p:cNvPr id="2" name="文本框 1">
            <a:extLst>
              <a:ext uri="{FF2B5EF4-FFF2-40B4-BE49-F238E27FC236}">
                <a16:creationId xmlns:a16="http://schemas.microsoft.com/office/drawing/2014/main" id="{07851DF7-A414-59C9-4FF5-EB44684FD5A7}"/>
              </a:ext>
            </a:extLst>
          </p:cNvPr>
          <p:cNvSpPr txBox="1"/>
          <p:nvPr/>
        </p:nvSpPr>
        <p:spPr>
          <a:xfrm>
            <a:off x="2199509" y="5663348"/>
            <a:ext cx="19984982" cy="1455848"/>
          </a:xfrm>
          <a:prstGeom prst="rect">
            <a:avLst/>
          </a:prstGeom>
          <a:noFill/>
        </p:spPr>
        <p:txBody>
          <a:bodyPr wrap="square">
            <a:spAutoFit/>
          </a:bodyPr>
          <a:lstStyle/>
          <a:p>
            <a:pPr algn="ctr">
              <a:lnSpc>
                <a:spcPct val="50000"/>
              </a:lnSpc>
            </a:pPr>
            <a:r>
              <a:rPr lang="en-US" altLang="zh-CN" b="1" i="1" dirty="0">
                <a:solidFill>
                  <a:schemeClr val="tx1"/>
                </a:solidFill>
                <a:latin typeface="Arial" panose="020B0604020202020204" pitchFamily="34" charset="0"/>
                <a:cs typeface="Arial" panose="020B0604020202020204" pitchFamily="34" charset="0"/>
              </a:rPr>
              <a:t>Xuhai Chen</a:t>
            </a:r>
            <a:r>
              <a:rPr lang="en-US" altLang="zh-CN" i="1" dirty="0">
                <a:solidFill>
                  <a:schemeClr val="tx1"/>
                </a:solidFill>
                <a:latin typeface="Arial" panose="020B0604020202020204" pitchFamily="34" charset="0"/>
                <a:cs typeface="Arial" panose="020B0604020202020204" pitchFamily="34" charset="0"/>
              </a:rPr>
              <a:t>, </a:t>
            </a:r>
            <a:r>
              <a:rPr lang="en-US" altLang="zh-CN" i="1" dirty="0" err="1">
                <a:solidFill>
                  <a:schemeClr val="tx1"/>
                </a:solidFill>
                <a:latin typeface="Arial" panose="020B0604020202020204" pitchFamily="34" charset="0"/>
                <a:cs typeface="Arial" panose="020B0604020202020204" pitchFamily="34" charset="0"/>
              </a:rPr>
              <a:t>Guangze</a:t>
            </a:r>
            <a:r>
              <a:rPr lang="en-US" altLang="zh-CN" i="1" dirty="0">
                <a:solidFill>
                  <a:schemeClr val="tx1"/>
                </a:solidFill>
                <a:latin typeface="Arial" panose="020B0604020202020204" pitchFamily="34" charset="0"/>
                <a:cs typeface="Arial" panose="020B0604020202020204" pitchFamily="34" charset="0"/>
              </a:rPr>
              <a:t> Zhang, </a:t>
            </a:r>
            <a:r>
              <a:rPr lang="en-US" altLang="zh-CN" i="1" dirty="0" err="1">
                <a:solidFill>
                  <a:schemeClr val="tx1"/>
                </a:solidFill>
                <a:latin typeface="Arial" panose="020B0604020202020204" pitchFamily="34" charset="0"/>
                <a:cs typeface="Arial" panose="020B0604020202020204" pitchFamily="34" charset="0"/>
              </a:rPr>
              <a:t>Wanyi</a:t>
            </a:r>
            <a:r>
              <a:rPr lang="en-US" altLang="zh-CN" i="1" dirty="0">
                <a:solidFill>
                  <a:schemeClr val="tx1"/>
                </a:solidFill>
                <a:latin typeface="Arial" panose="020B0604020202020204" pitchFamily="34" charset="0"/>
                <a:cs typeface="Arial" panose="020B0604020202020204" pitchFamily="34" charset="0"/>
              </a:rPr>
              <a:t> Wang, Juan Cao, </a:t>
            </a:r>
            <a:r>
              <a:rPr lang="en-US" altLang="zh-CN" i="1" dirty="0" err="1">
                <a:solidFill>
                  <a:schemeClr val="tx1"/>
                </a:solidFill>
                <a:latin typeface="Arial" panose="020B0604020202020204" pitchFamily="34" charset="0"/>
                <a:cs typeface="Arial" panose="020B0604020202020204" pitchFamily="34" charset="0"/>
              </a:rPr>
              <a:t>Zhonggui</a:t>
            </a:r>
            <a:r>
              <a:rPr lang="en-US" altLang="zh-CN" i="1" dirty="0">
                <a:solidFill>
                  <a:schemeClr val="tx1"/>
                </a:solidFill>
                <a:latin typeface="Arial" panose="020B0604020202020204" pitchFamily="34" charset="0"/>
                <a:cs typeface="Arial" panose="020B0604020202020204" pitchFamily="34" charset="0"/>
              </a:rPr>
              <a:t> Chen</a:t>
            </a:r>
            <a:r>
              <a:rPr lang="en-US" altLang="zh-CN" i="1" baseline="30000" dirty="0">
                <a:solidFill>
                  <a:schemeClr val="tx1"/>
                </a:solidFill>
                <a:latin typeface="Arial" panose="020B0604020202020204" pitchFamily="34" charset="0"/>
                <a:cs typeface="Arial" panose="020B0604020202020204" pitchFamily="34" charset="0"/>
              </a:rPr>
              <a:t>†</a:t>
            </a:r>
            <a:endParaRPr lang="en-US" altLang="zh-CN" i="1" dirty="0">
              <a:solidFill>
                <a:schemeClr val="tx1"/>
              </a:solidFill>
              <a:latin typeface="Arial" panose="020B0604020202020204" pitchFamily="34" charset="0"/>
              <a:cs typeface="Arial" panose="020B0604020202020204" pitchFamily="34" charset="0"/>
            </a:endParaRPr>
          </a:p>
          <a:p>
            <a:pPr algn="ctr">
              <a:lnSpc>
                <a:spcPct val="50000"/>
              </a:lnSpc>
            </a:pPr>
            <a:r>
              <a:rPr lang="en-US" altLang="zh-CN" i="1" dirty="0">
                <a:solidFill>
                  <a:schemeClr val="tx1"/>
                </a:solidFill>
                <a:latin typeface="Arial" panose="020B0604020202020204" pitchFamily="34" charset="0"/>
                <a:cs typeface="Arial" panose="020B0604020202020204" pitchFamily="34" charset="0"/>
              </a:rPr>
              <a:t>Xiamen University</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91EA-C7F4-186A-974D-AAAFF816DB08}"/>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221883E9-08EC-A249-40A3-62E08A4BC25B}"/>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59EB5FFC-8F75-BEA6-4C89-9C6119F3CCC7}"/>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sp>
        <p:nvSpPr>
          <p:cNvPr id="200" name="文本框 7">
            <a:extLst>
              <a:ext uri="{FF2B5EF4-FFF2-40B4-BE49-F238E27FC236}">
                <a16:creationId xmlns:a16="http://schemas.microsoft.com/office/drawing/2014/main" id="{95FA46B4-EA67-D3AC-BFFF-758B719E2E96}"/>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Introduction</a:t>
            </a:r>
            <a:endParaRPr lang="zh-CN" altLang="en-US" sz="8800" b="1" i="1" dirty="0">
              <a:latin typeface="Arial Narrow" panose="020B0606020202030204" pitchFamily="34" charset="0"/>
              <a:cs typeface="Arial" panose="020B0604020202020204" pitchFamily="34" charset="0"/>
            </a:endParaRPr>
          </a:p>
        </p:txBody>
      </p:sp>
      <p:pic>
        <p:nvPicPr>
          <p:cNvPr id="201" name="图片 6" descr="图片 6">
            <a:extLst>
              <a:ext uri="{FF2B5EF4-FFF2-40B4-BE49-F238E27FC236}">
                <a16:creationId xmlns:a16="http://schemas.microsoft.com/office/drawing/2014/main" id="{662FF8C8-ADC1-5EF0-143F-7BB5F3CFB040}"/>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57428ECF-AEAA-F4F7-34A5-E29C436057D0}"/>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7" name="내용 개체 틀 2">
            <a:extLst>
              <a:ext uri="{FF2B5EF4-FFF2-40B4-BE49-F238E27FC236}">
                <a16:creationId xmlns:a16="http://schemas.microsoft.com/office/drawing/2014/main" id="{F40283DA-3428-467E-EA44-634CA080539B}"/>
              </a:ext>
            </a:extLst>
          </p:cNvPr>
          <p:cNvSpPr txBox="1">
            <a:spLocks/>
          </p:cNvSpPr>
          <p:nvPr/>
        </p:nvSpPr>
        <p:spPr>
          <a:xfrm>
            <a:off x="1618325" y="2551738"/>
            <a:ext cx="21137766" cy="8612523"/>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Raster image: a grid of pixels with specific colors</a:t>
            </a:r>
          </a:p>
          <a:p>
            <a:pPr marL="609600" indent="-609600">
              <a:lnSpc>
                <a:spcPct val="150000"/>
              </a:lnSpc>
              <a:buClrTx/>
              <a:buSzPct val="123000"/>
              <a:buChar char="•"/>
            </a:pPr>
            <a:r>
              <a:rPr lang="en-US" altLang="zh-CN" sz="4800" dirty="0">
                <a:solidFill>
                  <a:srgbClr val="000000"/>
                </a:solidFill>
              </a:rPr>
              <a:t>Vector image: defined by geometric primitives</a:t>
            </a:r>
          </a:p>
          <a:p>
            <a:pPr marL="952500" lvl="1" indent="-609600">
              <a:lnSpc>
                <a:spcPct val="150000"/>
              </a:lnSpc>
              <a:buClrTx/>
              <a:buSzPct val="123000"/>
            </a:pPr>
            <a:r>
              <a:rPr lang="en-US" altLang="zh-CN" sz="4000" dirty="0">
                <a:solidFill>
                  <a:srgbClr val="000000"/>
                </a:solidFill>
              </a:rPr>
              <a:t>Resolution independent by appropriate rendering method</a:t>
            </a:r>
          </a:p>
        </p:txBody>
      </p:sp>
      <p:sp>
        <p:nvSpPr>
          <p:cNvPr id="52" name="文本框 51">
            <a:extLst>
              <a:ext uri="{FF2B5EF4-FFF2-40B4-BE49-F238E27FC236}">
                <a16:creationId xmlns:a16="http://schemas.microsoft.com/office/drawing/2014/main" id="{D6AAF554-CD8F-6C30-64B9-0A14E4D64D39}"/>
              </a:ext>
            </a:extLst>
          </p:cNvPr>
          <p:cNvSpPr txBox="1"/>
          <p:nvPr/>
        </p:nvSpPr>
        <p:spPr>
          <a:xfrm>
            <a:off x="1770724" y="11512152"/>
            <a:ext cx="7372511" cy="545727"/>
          </a:xfrm>
          <a:prstGeom prst="rect">
            <a:avLst/>
          </a:prstGeom>
          <a:noFill/>
        </p:spPr>
        <p:txBody>
          <a:bodyPr wrap="square" rtlCol="0">
            <a:spAutoFit/>
          </a:bodyPr>
          <a:lstStyle/>
          <a:p>
            <a:pPr marL="596900" lvl="1" algn="ctr">
              <a:lnSpc>
                <a:spcPct val="115000"/>
              </a:lnSpc>
              <a:buClr>
                <a:schemeClr val="accent2">
                  <a:lumOff val="21764"/>
                </a:schemeClr>
              </a:buClr>
              <a:buSzPts val="1800"/>
            </a:pPr>
            <a:r>
              <a:rPr lang="en-US" altLang="zh-CN" sz="2800" dirty="0">
                <a:latin typeface="Arial" panose="020B0604020202020204" pitchFamily="34" charset="0"/>
                <a:cs typeface="Arial" panose="020B0604020202020204" pitchFamily="34" charset="0"/>
              </a:rPr>
              <a:t>Raster image</a:t>
            </a:r>
          </a:p>
        </p:txBody>
      </p:sp>
      <p:pic>
        <p:nvPicPr>
          <p:cNvPr id="53" name="图片 52">
            <a:extLst>
              <a:ext uri="{FF2B5EF4-FFF2-40B4-BE49-F238E27FC236}">
                <a16:creationId xmlns:a16="http://schemas.microsoft.com/office/drawing/2014/main" id="{F4EDD31B-E4E8-62C9-EB20-97D596DF56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70724" y="6935148"/>
            <a:ext cx="4468640" cy="4468639"/>
          </a:xfrm>
          <a:prstGeom prst="rect">
            <a:avLst/>
          </a:prstGeom>
        </p:spPr>
      </p:pic>
      <p:pic>
        <p:nvPicPr>
          <p:cNvPr id="54" name="图片 53">
            <a:extLst>
              <a:ext uri="{FF2B5EF4-FFF2-40B4-BE49-F238E27FC236}">
                <a16:creationId xmlns:a16="http://schemas.microsoft.com/office/drawing/2014/main" id="{91070008-0F98-06C1-92AA-0AF946560767}"/>
              </a:ext>
            </a:extLst>
          </p:cNvPr>
          <p:cNvPicPr>
            <a:picLocks noChangeAspect="1"/>
          </p:cNvPicPr>
          <p:nvPr/>
        </p:nvPicPr>
        <p:blipFill rotWithShape="1">
          <a:blip r:embed="rId5">
            <a:extLst>
              <a:ext uri="{28A0092B-C50C-407E-A947-70E740481C1C}">
                <a14:useLocalDpi xmlns:a14="http://schemas.microsoft.com/office/drawing/2010/main" val="0"/>
              </a:ext>
            </a:extLst>
          </a:blip>
          <a:srcRect l="69247" t="13973" r="4021" b="60431"/>
          <a:stretch/>
        </p:blipFill>
        <p:spPr>
          <a:xfrm>
            <a:off x="6944340" y="7401107"/>
            <a:ext cx="3527347" cy="3377359"/>
          </a:xfrm>
          <a:prstGeom prst="rect">
            <a:avLst/>
          </a:prstGeom>
        </p:spPr>
      </p:pic>
      <p:sp>
        <p:nvSpPr>
          <p:cNvPr id="55" name="矩形 54">
            <a:extLst>
              <a:ext uri="{FF2B5EF4-FFF2-40B4-BE49-F238E27FC236}">
                <a16:creationId xmlns:a16="http://schemas.microsoft.com/office/drawing/2014/main" id="{A4C8C500-CD40-F644-4941-4F5E172180CC}"/>
              </a:ext>
            </a:extLst>
          </p:cNvPr>
          <p:cNvSpPr>
            <a:spLocks noChangeAspect="1"/>
          </p:cNvSpPr>
          <p:nvPr/>
        </p:nvSpPr>
        <p:spPr>
          <a:xfrm>
            <a:off x="4973947" y="7408090"/>
            <a:ext cx="1194567" cy="114377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cxnSp>
        <p:nvCxnSpPr>
          <p:cNvPr id="56" name="直接连接符 55">
            <a:extLst>
              <a:ext uri="{FF2B5EF4-FFF2-40B4-BE49-F238E27FC236}">
                <a16:creationId xmlns:a16="http://schemas.microsoft.com/office/drawing/2014/main" id="{C2EFD397-C0F5-2DFB-5E55-27B7CF2B54BE}"/>
              </a:ext>
            </a:extLst>
          </p:cNvPr>
          <p:cNvCxnSpPr>
            <a:cxnSpLocks/>
          </p:cNvCxnSpPr>
          <p:nvPr/>
        </p:nvCxnSpPr>
        <p:spPr>
          <a:xfrm flipV="1">
            <a:off x="6274202" y="7435445"/>
            <a:ext cx="670138" cy="14567"/>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5D040AC0-5160-6867-98CA-662A86D069F5}"/>
              </a:ext>
            </a:extLst>
          </p:cNvPr>
          <p:cNvCxnSpPr>
            <a:cxnSpLocks/>
          </p:cNvCxnSpPr>
          <p:nvPr/>
        </p:nvCxnSpPr>
        <p:spPr>
          <a:xfrm>
            <a:off x="6275548" y="8507189"/>
            <a:ext cx="647421" cy="2193152"/>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DD543400-65BF-780C-2869-9309D3A78F2B}"/>
              </a:ext>
            </a:extLst>
          </p:cNvPr>
          <p:cNvSpPr txBox="1"/>
          <p:nvPr/>
        </p:nvSpPr>
        <p:spPr>
          <a:xfrm>
            <a:off x="13452818" y="11512152"/>
            <a:ext cx="6995043" cy="545727"/>
          </a:xfrm>
          <a:prstGeom prst="rect">
            <a:avLst/>
          </a:prstGeom>
          <a:noFill/>
        </p:spPr>
        <p:txBody>
          <a:bodyPr wrap="square" rtlCol="0">
            <a:spAutoFit/>
          </a:bodyPr>
          <a:lstStyle/>
          <a:p>
            <a:pPr marL="596900" lvl="1" algn="ctr">
              <a:lnSpc>
                <a:spcPct val="115000"/>
              </a:lnSpc>
              <a:buClr>
                <a:schemeClr val="accent2">
                  <a:lumOff val="21764"/>
                </a:schemeClr>
              </a:buClr>
              <a:buSzPts val="1800"/>
            </a:pPr>
            <a:r>
              <a:rPr lang="en-US" altLang="zh-CN" sz="2800" dirty="0">
                <a:latin typeface="Arial" panose="020B0604020202020204" pitchFamily="34" charset="0"/>
                <a:cs typeface="Arial" panose="020B0604020202020204" pitchFamily="34" charset="0"/>
              </a:rPr>
              <a:t>Vector image</a:t>
            </a:r>
          </a:p>
        </p:txBody>
      </p:sp>
      <p:pic>
        <p:nvPicPr>
          <p:cNvPr id="60" name="图片 59">
            <a:extLst>
              <a:ext uri="{FF2B5EF4-FFF2-40B4-BE49-F238E27FC236}">
                <a16:creationId xmlns:a16="http://schemas.microsoft.com/office/drawing/2014/main" id="{EEDA0B36-C7AD-B98E-E56F-5EFA4B57568B}"/>
              </a:ext>
            </a:extLst>
          </p:cNvPr>
          <p:cNvPicPr>
            <a:picLocks noChangeAspect="1"/>
          </p:cNvPicPr>
          <p:nvPr/>
        </p:nvPicPr>
        <p:blipFill rotWithShape="1">
          <a:blip r:embed="rId6">
            <a:extLst>
              <a:ext uri="{28A0092B-C50C-407E-A947-70E740481C1C}">
                <a14:useLocalDpi xmlns:a14="http://schemas.microsoft.com/office/drawing/2010/main" val="0"/>
              </a:ext>
            </a:extLst>
          </a:blip>
          <a:srcRect l="73268" t="12332" b="62046"/>
          <a:stretch/>
        </p:blipFill>
        <p:spPr>
          <a:xfrm>
            <a:off x="18341563" y="7276793"/>
            <a:ext cx="3586140" cy="3433651"/>
          </a:xfrm>
          <a:prstGeom prst="rect">
            <a:avLst/>
          </a:prstGeom>
        </p:spPr>
      </p:pic>
      <p:sp>
        <p:nvSpPr>
          <p:cNvPr id="61" name="矩形 60">
            <a:extLst>
              <a:ext uri="{FF2B5EF4-FFF2-40B4-BE49-F238E27FC236}">
                <a16:creationId xmlns:a16="http://schemas.microsoft.com/office/drawing/2014/main" id="{3C7200ED-E7C3-1564-F315-E9E0B78320C3}"/>
              </a:ext>
            </a:extLst>
          </p:cNvPr>
          <p:cNvSpPr>
            <a:spLocks noChangeAspect="1"/>
          </p:cNvSpPr>
          <p:nvPr/>
        </p:nvSpPr>
        <p:spPr>
          <a:xfrm>
            <a:off x="16343102" y="7291601"/>
            <a:ext cx="1214478" cy="116283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cxnSp>
        <p:nvCxnSpPr>
          <p:cNvPr id="62" name="直接连接符 61">
            <a:extLst>
              <a:ext uri="{FF2B5EF4-FFF2-40B4-BE49-F238E27FC236}">
                <a16:creationId xmlns:a16="http://schemas.microsoft.com/office/drawing/2014/main" id="{9BC4D573-FF95-2B9D-7F3B-41ED424C2F9A}"/>
              </a:ext>
            </a:extLst>
          </p:cNvPr>
          <p:cNvCxnSpPr>
            <a:cxnSpLocks/>
          </p:cNvCxnSpPr>
          <p:nvPr/>
        </p:nvCxnSpPr>
        <p:spPr>
          <a:xfrm flipV="1">
            <a:off x="17675544" y="7291601"/>
            <a:ext cx="681308" cy="14807"/>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8E96BCA0-9296-FE29-6A0A-84817DBBE6CA}"/>
              </a:ext>
            </a:extLst>
          </p:cNvPr>
          <p:cNvCxnSpPr>
            <a:cxnSpLocks/>
          </p:cNvCxnSpPr>
          <p:nvPr/>
        </p:nvCxnSpPr>
        <p:spPr>
          <a:xfrm>
            <a:off x="17670328" y="8454435"/>
            <a:ext cx="686521" cy="2221096"/>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pic>
        <p:nvPicPr>
          <p:cNvPr id="192" name="图形 191">
            <a:extLst>
              <a:ext uri="{FF2B5EF4-FFF2-40B4-BE49-F238E27FC236}">
                <a16:creationId xmlns:a16="http://schemas.microsoft.com/office/drawing/2014/main" id="{31A033FA-2DFB-A844-2E32-F63F630C6BB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109675" y="6858000"/>
            <a:ext cx="4531696" cy="4531695"/>
          </a:xfrm>
          <a:prstGeom prst="rect">
            <a:avLst/>
          </a:prstGeom>
        </p:spPr>
      </p:pic>
    </p:spTree>
    <p:extLst>
      <p:ext uri="{BB962C8B-B14F-4D97-AF65-F5344CB8AC3E}">
        <p14:creationId xmlns:p14="http://schemas.microsoft.com/office/powerpoint/2010/main" val="126133041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P spid="55" grpId="0" animBg="1"/>
      <p:bldP spid="59" grpId="0"/>
      <p:bldP spid="6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7F4A9A-3DDD-423B-ACC9-E6D7917FC389}"/>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019695E9-CC51-3F8D-74F0-F38FB5C01178}"/>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94B20F05-43A7-1EBA-F59F-5AECAF0F85A2}"/>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0BFF7D2D-FE04-A388-0816-0DFC7BA1722B}"/>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4D01FF71-E345-E275-4F41-0A9FF57C82DF}"/>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7" name="내용 개체 틀 2">
            <a:extLst>
              <a:ext uri="{FF2B5EF4-FFF2-40B4-BE49-F238E27FC236}">
                <a16:creationId xmlns:a16="http://schemas.microsoft.com/office/drawing/2014/main" id="{291964DC-E5BB-4FEB-D991-86DD071A6B7A}"/>
              </a:ext>
            </a:extLst>
          </p:cNvPr>
          <p:cNvSpPr txBox="1">
            <a:spLocks/>
          </p:cNvSpPr>
          <p:nvPr/>
        </p:nvSpPr>
        <p:spPr>
          <a:xfrm>
            <a:off x="1618325" y="2551738"/>
            <a:ext cx="21137766" cy="8612523"/>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Primitive in vector graphics: path</a:t>
            </a:r>
          </a:p>
          <a:p>
            <a:pPr marL="609600" indent="-609600">
              <a:lnSpc>
                <a:spcPct val="150000"/>
              </a:lnSpc>
              <a:buClrTx/>
              <a:buSzPct val="123000"/>
              <a:buChar char="•"/>
            </a:pPr>
            <a:r>
              <a:rPr lang="en-US" altLang="zh-CN" sz="4800" dirty="0">
                <a:solidFill>
                  <a:srgbClr val="000000"/>
                </a:solidFill>
              </a:rPr>
              <a:t>Two styles of a path: stroke and fill</a:t>
            </a:r>
          </a:p>
          <a:p>
            <a:pPr marL="952500" lvl="1" indent="-609600">
              <a:lnSpc>
                <a:spcPct val="150000"/>
              </a:lnSpc>
              <a:buClrTx/>
              <a:buSzPct val="123000"/>
            </a:pPr>
            <a:r>
              <a:rPr lang="en-US" altLang="zh-CN" sz="4400" dirty="0">
                <a:solidFill>
                  <a:srgbClr val="000000"/>
                </a:solidFill>
              </a:rPr>
              <a:t>Path: an outline</a:t>
            </a:r>
          </a:p>
          <a:p>
            <a:pPr marL="952500" lvl="1" indent="-609600">
              <a:lnSpc>
                <a:spcPct val="150000"/>
              </a:lnSpc>
              <a:buClrTx/>
              <a:buSzPct val="123000"/>
            </a:pPr>
            <a:r>
              <a:rPr lang="en-US" altLang="zh-CN" sz="4400" dirty="0">
                <a:solidFill>
                  <a:srgbClr val="000000"/>
                </a:solidFill>
              </a:rPr>
              <a:t>Stroke: trace the outline with a brush</a:t>
            </a:r>
          </a:p>
          <a:p>
            <a:pPr marL="952500" lvl="1" indent="-609600">
              <a:lnSpc>
                <a:spcPct val="150000"/>
              </a:lnSpc>
              <a:buClrTx/>
              <a:buSzPct val="123000"/>
            </a:pPr>
            <a:r>
              <a:rPr lang="en-US" altLang="zh-CN" sz="4400" dirty="0">
                <a:solidFill>
                  <a:srgbClr val="000000"/>
                </a:solidFill>
              </a:rPr>
              <a:t>Fill: color between the outlines</a:t>
            </a:r>
          </a:p>
          <a:p>
            <a:pPr marL="952500" lvl="1" indent="-609600">
              <a:lnSpc>
                <a:spcPct val="150000"/>
              </a:lnSpc>
              <a:buClrTx/>
              <a:buSzPct val="123000"/>
            </a:pPr>
            <a:endParaRPr lang="en-US" altLang="zh-CN" sz="4400" dirty="0">
              <a:solidFill>
                <a:srgbClr val="000000"/>
              </a:solidFill>
            </a:endParaRPr>
          </a:p>
        </p:txBody>
      </p:sp>
      <p:pic>
        <p:nvPicPr>
          <p:cNvPr id="3" name="图片 2">
            <a:extLst>
              <a:ext uri="{FF2B5EF4-FFF2-40B4-BE49-F238E27FC236}">
                <a16:creationId xmlns:a16="http://schemas.microsoft.com/office/drawing/2014/main" id="{80A1A367-E8B7-1CE2-AAB5-918CC288E591}"/>
              </a:ext>
            </a:extLst>
          </p:cNvPr>
          <p:cNvPicPr>
            <a:picLocks noChangeAspect="1"/>
          </p:cNvPicPr>
          <p:nvPr/>
        </p:nvPicPr>
        <p:blipFill>
          <a:blip r:embed="rId5"/>
          <a:srcRect t="12454"/>
          <a:stretch/>
        </p:blipFill>
        <p:spPr>
          <a:xfrm>
            <a:off x="1770725" y="8321271"/>
            <a:ext cx="7821629" cy="3177860"/>
          </a:xfrm>
          <a:prstGeom prst="rect">
            <a:avLst/>
          </a:prstGeom>
        </p:spPr>
      </p:pic>
      <p:pic>
        <p:nvPicPr>
          <p:cNvPr id="8" name="图片 7">
            <a:extLst>
              <a:ext uri="{FF2B5EF4-FFF2-40B4-BE49-F238E27FC236}">
                <a16:creationId xmlns:a16="http://schemas.microsoft.com/office/drawing/2014/main" id="{0C4B74A7-43BD-5472-1C66-5E7651597B07}"/>
              </a:ext>
            </a:extLst>
          </p:cNvPr>
          <p:cNvPicPr>
            <a:picLocks noChangeAspect="1"/>
          </p:cNvPicPr>
          <p:nvPr/>
        </p:nvPicPr>
        <p:blipFill>
          <a:blip r:embed="rId6"/>
          <a:srcRect t="13935"/>
          <a:stretch/>
        </p:blipFill>
        <p:spPr>
          <a:xfrm>
            <a:off x="11313392" y="8534691"/>
            <a:ext cx="10988711" cy="2996900"/>
          </a:xfrm>
          <a:prstGeom prst="rect">
            <a:avLst/>
          </a:prstGeom>
        </p:spPr>
      </p:pic>
      <p:sp>
        <p:nvSpPr>
          <p:cNvPr id="2" name="文本框 1">
            <a:extLst>
              <a:ext uri="{FF2B5EF4-FFF2-40B4-BE49-F238E27FC236}">
                <a16:creationId xmlns:a16="http://schemas.microsoft.com/office/drawing/2014/main" id="{0B5B9301-1EC4-FC3F-C4DC-6408AA8B9EEC}"/>
              </a:ext>
            </a:extLst>
          </p:cNvPr>
          <p:cNvSpPr txBox="1"/>
          <p:nvPr/>
        </p:nvSpPr>
        <p:spPr>
          <a:xfrm>
            <a:off x="4244598" y="11429673"/>
            <a:ext cx="2873881"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Stroke</a:t>
            </a:r>
          </a:p>
        </p:txBody>
      </p:sp>
      <p:sp>
        <p:nvSpPr>
          <p:cNvPr id="6" name="文本框 5">
            <a:extLst>
              <a:ext uri="{FF2B5EF4-FFF2-40B4-BE49-F238E27FC236}">
                <a16:creationId xmlns:a16="http://schemas.microsoft.com/office/drawing/2014/main" id="{0D31B788-EEB7-4AE7-E731-211A3F873523}"/>
              </a:ext>
            </a:extLst>
          </p:cNvPr>
          <p:cNvSpPr txBox="1"/>
          <p:nvPr/>
        </p:nvSpPr>
        <p:spPr>
          <a:xfrm>
            <a:off x="15370806" y="11429673"/>
            <a:ext cx="2873881"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Fill</a:t>
            </a:r>
          </a:p>
        </p:txBody>
      </p:sp>
      <p:sp>
        <p:nvSpPr>
          <p:cNvPr id="5" name="箭头: 左 4">
            <a:extLst>
              <a:ext uri="{FF2B5EF4-FFF2-40B4-BE49-F238E27FC236}">
                <a16:creationId xmlns:a16="http://schemas.microsoft.com/office/drawing/2014/main" id="{F0EBDB50-4927-CD0D-C726-E75FC25E5F6A}"/>
              </a:ext>
            </a:extLst>
          </p:cNvPr>
          <p:cNvSpPr/>
          <p:nvPr/>
        </p:nvSpPr>
        <p:spPr>
          <a:xfrm>
            <a:off x="12026348" y="6295385"/>
            <a:ext cx="1967948" cy="662631"/>
          </a:xfrm>
          <a:prstGeom prst="leftArrow">
            <a:avLst/>
          </a:prstGeom>
          <a:solidFill>
            <a:srgbClr val="00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9" name="文本框 8">
            <a:extLst>
              <a:ext uri="{FF2B5EF4-FFF2-40B4-BE49-F238E27FC236}">
                <a16:creationId xmlns:a16="http://schemas.microsoft.com/office/drawing/2014/main" id="{5BE03739-1461-4F9E-39F1-D10099B33CCD}"/>
              </a:ext>
            </a:extLst>
          </p:cNvPr>
          <p:cNvSpPr txBox="1"/>
          <p:nvPr/>
        </p:nvSpPr>
        <p:spPr>
          <a:xfrm>
            <a:off x="13994296" y="6299783"/>
            <a:ext cx="3212556" cy="701731"/>
          </a:xfrm>
          <a:prstGeom prst="rect">
            <a:avLst/>
          </a:prstGeom>
          <a:noFill/>
        </p:spPr>
        <p:txBody>
          <a:bodyPr wrap="square" rtlCol="0">
            <a:spAutoFit/>
          </a:bodyPr>
          <a:lstStyle/>
          <a:p>
            <a:pPr algn="ctr"/>
            <a:r>
              <a:rPr lang="en-US" altLang="zh-CN" sz="4400" b="1" kern="1200" dirty="0">
                <a:latin typeface="Arial" panose="020B0604020202020204" pitchFamily="34" charset="0"/>
                <a:cs typeface="Arial" panose="020B0604020202020204" pitchFamily="34" charset="0"/>
              </a:rPr>
              <a:t>Our focus</a:t>
            </a:r>
            <a:endParaRPr lang="zh-CN" altLang="en-US" sz="4400" b="1" kern="1200" dirty="0">
              <a:latin typeface="Arial" panose="020B0604020202020204" pitchFamily="34" charset="0"/>
              <a:cs typeface="Arial" panose="020B0604020202020204" pitchFamily="34" charset="0"/>
            </a:endParaRPr>
          </a:p>
        </p:txBody>
      </p:sp>
      <p:sp>
        <p:nvSpPr>
          <p:cNvPr id="10" name="文本框 7">
            <a:extLst>
              <a:ext uri="{FF2B5EF4-FFF2-40B4-BE49-F238E27FC236}">
                <a16:creationId xmlns:a16="http://schemas.microsoft.com/office/drawing/2014/main" id="{6A30C89E-6F90-F910-DB80-67250494EFDB}"/>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Introduction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383601948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 grpId="0"/>
      <p:bldP spid="5" grpId="0" animBg="1"/>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08B97-A6AB-85B5-55A5-BAB07D2FC06C}"/>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AAFE7DE5-BDA8-CBE7-2B8D-EDC7BA5A9B31}"/>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80350A13-A5EA-59E1-38F3-CD209E596A35}"/>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F0CC4B3B-CD53-29D5-683C-A112824C3456}"/>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D9B05C93-BB28-31D1-9493-6A88CD783C7D}"/>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F7AC7EC5-083C-8833-F59A-9FC37EFBEC13}"/>
                  </a:ext>
                </a:extLst>
              </p:cNvPr>
              <p:cNvSpPr txBox="1">
                <a:spLocks/>
              </p:cNvSpPr>
              <p:nvPr/>
            </p:nvSpPr>
            <p:spPr>
              <a:xfrm>
                <a:off x="1618325" y="2551738"/>
                <a:ext cx="21137766" cy="10145700"/>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r>
                  <a:rPr lang="en-US" altLang="zh-CN" sz="4800" dirty="0">
                    <a:solidFill>
                      <a:srgbClr val="000000"/>
                    </a:solidFill>
                  </a:rPr>
                  <a:t>Stroke region: area bounded by two offset curves and straight edges</a:t>
                </a:r>
              </a:p>
              <a:p>
                <a:pPr marL="609600" indent="-609600">
                  <a:lnSpc>
                    <a:spcPct val="150000"/>
                  </a:lnSpc>
                  <a:buClrTx/>
                  <a:buSzPct val="123000"/>
                  <a:buChar char="•"/>
                </a:pPr>
                <a:r>
                  <a:rPr lang="en-US" altLang="zh-CN" sz="4800" dirty="0">
                    <a:solidFill>
                      <a:srgbClr val="000000"/>
                    </a:solidFill>
                  </a:rPr>
                  <a:t>Offset curve at a distance </a:t>
                </a:r>
                <a:r>
                  <a:rPr lang="zh-CN" altLang="en-US" sz="4800" dirty="0">
                    <a:solidFill>
                      <a:srgbClr val="000000"/>
                    </a:solidFill>
                  </a:rPr>
                  <a:t>𝑑 </a:t>
                </a:r>
                <a:r>
                  <a:rPr lang="en-US" altLang="zh-CN" sz="4800" dirty="0">
                    <a:solidFill>
                      <a:srgbClr val="000000"/>
                    </a:solidFill>
                  </a:rPr>
                  <a:t>from </a:t>
                </a:r>
                <a14:m>
                  <m:oMath xmlns:m="http://schemas.openxmlformats.org/officeDocument/2006/math">
                    <m:r>
                      <a:rPr lang="en-US" altLang="zh-CN" sz="4800">
                        <a:solidFill>
                          <a:srgbClr val="000000"/>
                        </a:solidFill>
                        <a:latin typeface="Cambria Math" panose="02040503050406030204" pitchFamily="18" charset="0"/>
                      </a:rPr>
                      <m:t>𝐠</m:t>
                    </m:r>
                    <m:d>
                      <m:dPr>
                        <m:ctrlPr>
                          <a:rPr lang="en-US" altLang="zh-CN" sz="4800" i="1">
                            <a:solidFill>
                              <a:srgbClr val="000000"/>
                            </a:solidFill>
                            <a:latin typeface="Cambria Math" panose="02040503050406030204" pitchFamily="18" charset="0"/>
                          </a:rPr>
                        </m:ctrlPr>
                      </m:dPr>
                      <m:e>
                        <m:r>
                          <m:rPr>
                            <m:sty m:val="p"/>
                          </m:rPr>
                          <a:rPr lang="en-US" altLang="zh-CN" sz="4800">
                            <a:solidFill>
                              <a:srgbClr val="000000"/>
                            </a:solidFill>
                            <a:latin typeface="Cambria Math" panose="02040503050406030204" pitchFamily="18" charset="0"/>
                          </a:rPr>
                          <m:t>t</m:t>
                        </m:r>
                      </m:e>
                    </m:d>
                  </m:oMath>
                </a14:m>
                <a:r>
                  <a:rPr lang="en-US" altLang="zh-CN" sz="4800" dirty="0">
                    <a:solidFill>
                      <a:srgbClr val="000000"/>
                    </a:solidFill>
                  </a:rPr>
                  <a:t>:</a:t>
                </a:r>
              </a:p>
              <a:p>
                <a:pPr marL="0" indent="0">
                  <a:lnSpc>
                    <a:spcPct val="150000"/>
                  </a:lnSpc>
                  <a:buClrTx/>
                  <a:buSzPct val="123000"/>
                  <a:buNone/>
                </a:pPr>
                <a14:m>
                  <m:oMathPara xmlns:m="http://schemas.openxmlformats.org/officeDocument/2006/math">
                    <m:oMathParaPr>
                      <m:jc m:val="centerGroup"/>
                    </m:oMathParaPr>
                    <m:oMath xmlns:m="http://schemas.openxmlformats.org/officeDocument/2006/math">
                      <m:r>
                        <a:rPr lang="en-US" altLang="zh-CN" sz="4800" b="1" i="1" smtClean="0">
                          <a:solidFill>
                            <a:schemeClr val="tx1"/>
                          </a:solidFill>
                          <a:latin typeface="Cambria Math" panose="02040503050406030204" pitchFamily="18" charset="0"/>
                        </a:rPr>
                        <m:t>𝑶</m:t>
                      </m:r>
                      <m:d>
                        <m:dPr>
                          <m:ctrlPr>
                            <a:rPr lang="en-US" altLang="zh-CN" sz="4800" i="1">
                              <a:solidFill>
                                <a:schemeClr val="tx1"/>
                              </a:solidFill>
                              <a:latin typeface="Cambria Math" panose="02040503050406030204" pitchFamily="18" charset="0"/>
                            </a:rPr>
                          </m:ctrlPr>
                        </m:dPr>
                        <m:e>
                          <m:r>
                            <a:rPr lang="en-US" altLang="zh-CN" sz="4800" i="1">
                              <a:solidFill>
                                <a:schemeClr val="tx1"/>
                              </a:solidFill>
                              <a:latin typeface="Cambria Math" panose="02040503050406030204" pitchFamily="18" charset="0"/>
                            </a:rPr>
                            <m:t>𝑡</m:t>
                          </m:r>
                        </m:e>
                      </m:d>
                      <m:r>
                        <a:rPr lang="en-US" altLang="zh-CN" sz="4800" i="1">
                          <a:solidFill>
                            <a:schemeClr val="tx1"/>
                          </a:solidFill>
                          <a:latin typeface="Cambria Math" panose="02040503050406030204" pitchFamily="18" charset="0"/>
                        </a:rPr>
                        <m:t>=</m:t>
                      </m:r>
                      <m:r>
                        <a:rPr lang="en-US" altLang="zh-CN" sz="4800">
                          <a:solidFill>
                            <a:srgbClr val="000000"/>
                          </a:solidFill>
                          <a:latin typeface="Cambria Math" panose="02040503050406030204" pitchFamily="18" charset="0"/>
                        </a:rPr>
                        <m:t>𝐠</m:t>
                      </m:r>
                      <m:d>
                        <m:dPr>
                          <m:ctrlPr>
                            <a:rPr lang="en-US" altLang="zh-CN" sz="4800" i="1">
                              <a:solidFill>
                                <a:schemeClr val="tx1"/>
                              </a:solidFill>
                              <a:latin typeface="Cambria Math" panose="02040503050406030204" pitchFamily="18" charset="0"/>
                            </a:rPr>
                          </m:ctrlPr>
                        </m:dPr>
                        <m:e>
                          <m:r>
                            <a:rPr lang="en-US" altLang="zh-CN" sz="4800" i="1">
                              <a:solidFill>
                                <a:schemeClr val="tx1"/>
                              </a:solidFill>
                              <a:latin typeface="Cambria Math" panose="02040503050406030204" pitchFamily="18" charset="0"/>
                            </a:rPr>
                            <m:t>𝑡</m:t>
                          </m:r>
                        </m:e>
                      </m:d>
                      <m:r>
                        <a:rPr lang="en-US" altLang="zh-CN" sz="4800" i="1">
                          <a:solidFill>
                            <a:schemeClr val="tx1"/>
                          </a:solidFill>
                          <a:latin typeface="Cambria Math" panose="02040503050406030204" pitchFamily="18" charset="0"/>
                        </a:rPr>
                        <m:t>+</m:t>
                      </m:r>
                      <m:r>
                        <a:rPr lang="en-US" altLang="zh-CN" sz="4800" i="1">
                          <a:solidFill>
                            <a:schemeClr val="tx1"/>
                          </a:solidFill>
                          <a:latin typeface="Cambria Math" panose="02040503050406030204" pitchFamily="18" charset="0"/>
                        </a:rPr>
                        <m:t>𝑑</m:t>
                      </m:r>
                      <m:r>
                        <a:rPr lang="en-US" altLang="zh-CN" sz="4800" b="1" i="1">
                          <a:solidFill>
                            <a:schemeClr val="tx1"/>
                          </a:solidFill>
                          <a:latin typeface="Cambria Math" panose="02040503050406030204" pitchFamily="18" charset="0"/>
                        </a:rPr>
                        <m:t>𝒏</m:t>
                      </m:r>
                      <m:d>
                        <m:dPr>
                          <m:ctrlPr>
                            <a:rPr lang="en-US" altLang="zh-CN" sz="4800" i="1">
                              <a:solidFill>
                                <a:schemeClr val="tx1"/>
                              </a:solidFill>
                              <a:latin typeface="Cambria Math" panose="02040503050406030204" pitchFamily="18" charset="0"/>
                            </a:rPr>
                          </m:ctrlPr>
                        </m:dPr>
                        <m:e>
                          <m:r>
                            <a:rPr lang="en-US" altLang="zh-CN" sz="4800" i="1">
                              <a:solidFill>
                                <a:schemeClr val="tx1"/>
                              </a:solidFill>
                              <a:latin typeface="Cambria Math" panose="02040503050406030204" pitchFamily="18" charset="0"/>
                            </a:rPr>
                            <m:t>𝑡</m:t>
                          </m:r>
                        </m:e>
                      </m:d>
                      <m:r>
                        <a:rPr lang="en-US" altLang="zh-CN" sz="4800" i="1">
                          <a:solidFill>
                            <a:schemeClr val="tx1"/>
                          </a:solidFill>
                          <a:latin typeface="Cambria Math" panose="02040503050406030204" pitchFamily="18" charset="0"/>
                        </a:rPr>
                        <m:t>,</m:t>
                      </m:r>
                      <m:r>
                        <a:rPr lang="en-US" altLang="zh-CN" sz="4800" i="1">
                          <a:solidFill>
                            <a:schemeClr val="tx1"/>
                          </a:solidFill>
                          <a:latin typeface="Cambria Math" panose="02040503050406030204" pitchFamily="18" charset="0"/>
                        </a:rPr>
                        <m:t>𝑡</m:t>
                      </m:r>
                      <m:r>
                        <a:rPr lang="en-US" altLang="zh-CN" sz="4800" i="1">
                          <a:solidFill>
                            <a:schemeClr val="tx1"/>
                          </a:solidFill>
                          <a:latin typeface="Cambria Math" panose="02040503050406030204" pitchFamily="18" charset="0"/>
                        </a:rPr>
                        <m:t>∈[0,1]</m:t>
                      </m:r>
                    </m:oMath>
                  </m:oMathPara>
                </a14:m>
                <a:endParaRPr lang="en-US" altLang="zh-CN" sz="4800" dirty="0">
                  <a:solidFill>
                    <a:schemeClr val="tx1"/>
                  </a:solidFill>
                </a:endParaRPr>
              </a:p>
              <a:p>
                <a:pPr marL="609600" indent="-609600">
                  <a:lnSpc>
                    <a:spcPct val="150000"/>
                  </a:lnSpc>
                  <a:buClrTx/>
                  <a:buSzPct val="123000"/>
                  <a:buFont typeface="Arial" panose="020B0604020202020204" pitchFamily="34" charset="0"/>
                  <a:buChar char="•"/>
                </a:pPr>
                <a14:m>
                  <m:oMath xmlns:m="http://schemas.openxmlformats.org/officeDocument/2006/math">
                    <m:r>
                      <a:rPr lang="en-US" altLang="zh-CN" sz="4800" b="1" i="1" smtClean="0">
                        <a:solidFill>
                          <a:schemeClr val="tx1"/>
                        </a:solidFill>
                        <a:latin typeface="Cambria Math" panose="02040503050406030204" pitchFamily="18" charset="0"/>
                      </a:rPr>
                      <m:t>𝒏</m:t>
                    </m:r>
                    <m:d>
                      <m:dPr>
                        <m:ctrlPr>
                          <a:rPr lang="en-US" altLang="zh-CN" sz="4800" i="1">
                            <a:solidFill>
                              <a:schemeClr val="tx1"/>
                            </a:solidFill>
                            <a:latin typeface="Cambria Math" panose="02040503050406030204" pitchFamily="18" charset="0"/>
                          </a:rPr>
                        </m:ctrlPr>
                      </m:dPr>
                      <m:e>
                        <m:r>
                          <a:rPr lang="en-US" altLang="zh-CN" sz="4800" i="1">
                            <a:solidFill>
                              <a:schemeClr val="tx1"/>
                            </a:solidFill>
                            <a:latin typeface="Cambria Math" panose="02040503050406030204" pitchFamily="18" charset="0"/>
                          </a:rPr>
                          <m:t>𝑡</m:t>
                        </m:r>
                      </m:e>
                    </m:d>
                  </m:oMath>
                </a14:m>
                <a:r>
                  <a:rPr lang="en-US" altLang="zh-CN" sz="4800" dirty="0">
                    <a:solidFill>
                      <a:schemeClr val="tx1"/>
                    </a:solidFill>
                  </a:rPr>
                  <a:t> is unit normal</a:t>
                </a:r>
              </a:p>
              <a:p>
                <a:pPr marL="609600" indent="-609600">
                  <a:lnSpc>
                    <a:spcPct val="150000"/>
                  </a:lnSpc>
                  <a:buClrTx/>
                  <a:buSzPct val="123000"/>
                  <a:buChar char="•"/>
                </a:pPr>
                <a:r>
                  <a:rPr lang="en-US" altLang="zh-CN" sz="4800" dirty="0">
                    <a:solidFill>
                      <a:schemeClr val="tx1"/>
                    </a:solidFill>
                  </a:rPr>
                  <a:t>Offset curves are much more complex</a:t>
                </a:r>
              </a:p>
              <a:p>
                <a:pPr marL="952500" lvl="1" indent="-609600">
                  <a:lnSpc>
                    <a:spcPct val="150000"/>
                  </a:lnSpc>
                  <a:buClrTx/>
                  <a:buSzPct val="123000"/>
                </a:pPr>
                <a:r>
                  <a:rPr lang="en-US" altLang="zh-CN" sz="4000" dirty="0">
                    <a:solidFill>
                      <a:schemeClr val="tx1"/>
                    </a:solidFill>
                  </a:rPr>
                  <a:t>Stroke rendering is more challenging than fill</a:t>
                </a:r>
              </a:p>
              <a:p>
                <a:pPr marL="952500" lvl="1" indent="-609600">
                  <a:lnSpc>
                    <a:spcPct val="150000"/>
                  </a:lnSpc>
                  <a:buClrTx/>
                  <a:buSzPct val="123000"/>
                </a:pPr>
                <a:r>
                  <a:rPr lang="en-US" altLang="zh-CN" sz="4000" dirty="0">
                    <a:solidFill>
                      <a:schemeClr val="tx1"/>
                    </a:solidFill>
                  </a:rPr>
                  <a:t>Idea: convert strokes to fills</a:t>
                </a:r>
                <a:endParaRPr lang="en-US" altLang="zh-CN" sz="4000" dirty="0">
                  <a:solidFill>
                    <a:srgbClr val="000000"/>
                  </a:solidFill>
                </a:endParaRPr>
              </a:p>
            </p:txBody>
          </p:sp>
        </mc:Choice>
        <mc:Fallback xmlns="">
          <p:sp>
            <p:nvSpPr>
              <p:cNvPr id="7" name="내용 개체 틀 2">
                <a:extLst>
                  <a:ext uri="{FF2B5EF4-FFF2-40B4-BE49-F238E27FC236}">
                    <a16:creationId xmlns:a16="http://schemas.microsoft.com/office/drawing/2014/main" id="{F7AC7EC5-083C-8833-F59A-9FC37EFBEC13}"/>
                  </a:ext>
                </a:extLst>
              </p:cNvPr>
              <p:cNvSpPr txBox="1">
                <a:spLocks noRot="1" noChangeAspect="1" noMove="1" noResize="1" noEditPoints="1" noAdjustHandles="1" noChangeArrowheads="1" noChangeShapeType="1" noTextEdit="1"/>
              </p:cNvSpPr>
              <p:nvPr/>
            </p:nvSpPr>
            <p:spPr>
              <a:xfrm>
                <a:off x="1618325" y="2551738"/>
                <a:ext cx="21137766" cy="10145700"/>
              </a:xfrm>
              <a:prstGeom prst="rect">
                <a:avLst/>
              </a:prstGeom>
              <a:blipFill>
                <a:blip r:embed="rId5"/>
                <a:stretch>
                  <a:fillRect l="-1557" t="-240"/>
                </a:stretch>
              </a:blipFill>
            </p:spPr>
            <p:txBody>
              <a:bodyPr/>
              <a:lstStyle/>
              <a:p>
                <a:r>
                  <a:rPr lang="zh-CN" altLang="en-US">
                    <a:noFill/>
                  </a:rPr>
                  <a:t> </a:t>
                </a:r>
              </a:p>
            </p:txBody>
          </p:sp>
        </mc:Fallback>
      </mc:AlternateContent>
      <p:pic>
        <p:nvPicPr>
          <p:cNvPr id="2" name="Image" descr="Image">
            <a:extLst>
              <a:ext uri="{FF2B5EF4-FFF2-40B4-BE49-F238E27FC236}">
                <a16:creationId xmlns:a16="http://schemas.microsoft.com/office/drawing/2014/main" id="{C8D4DD85-6285-ED40-5691-4BE2BD789534}"/>
              </a:ext>
            </a:extLst>
          </p:cNvPr>
          <p:cNvPicPr>
            <a:picLocks noChangeAspect="1"/>
          </p:cNvPicPr>
          <p:nvPr/>
        </p:nvPicPr>
        <p:blipFill>
          <a:blip r:embed="rId6"/>
          <a:stretch>
            <a:fillRect/>
          </a:stretch>
        </p:blipFill>
        <p:spPr>
          <a:xfrm>
            <a:off x="14626469" y="4757657"/>
            <a:ext cx="9635321" cy="8801785"/>
          </a:xfrm>
          <a:prstGeom prst="rect">
            <a:avLst/>
          </a:prstGeom>
          <a:ln w="12700">
            <a:miter lim="400000"/>
          </a:ln>
        </p:spPr>
      </p:pic>
      <p:sp>
        <p:nvSpPr>
          <p:cNvPr id="3" name="文本框 7">
            <a:extLst>
              <a:ext uri="{FF2B5EF4-FFF2-40B4-BE49-F238E27FC236}">
                <a16:creationId xmlns:a16="http://schemas.microsoft.com/office/drawing/2014/main" id="{BCB28E70-DF9C-F148-BF4C-03179E86CEF3}"/>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Introduction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2572829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7AF4F2-6BCB-575D-954D-5903155D7E35}"/>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924F8AFC-D5CB-B6B3-8BD4-B82CD4C9E515}"/>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3D607617-5197-703F-516D-1A09218D3410}"/>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676C5FE5-B1A5-7469-675B-4F0CCAA35DFF}"/>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42819DCD-862A-C01C-45D3-B4E5D114802D}"/>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D0BD8932-8453-9B97-09CA-673F001A19BD}"/>
                  </a:ext>
                </a:extLst>
              </p:cNvPr>
              <p:cNvSpPr txBox="1">
                <a:spLocks/>
              </p:cNvSpPr>
              <p:nvPr/>
            </p:nvSpPr>
            <p:spPr>
              <a:xfrm>
                <a:off x="1618325" y="2551738"/>
                <a:ext cx="21137766" cy="1031301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Bézier curve of degree </a:t>
                </a:r>
                <a14:m>
                  <m:oMath xmlns:m="http://schemas.openxmlformats.org/officeDocument/2006/math">
                    <m:r>
                      <a:rPr lang="en-US" altLang="zh-CN" sz="4800" i="1" dirty="0" smtClean="0">
                        <a:solidFill>
                          <a:srgbClr val="000000"/>
                        </a:solidFill>
                        <a:latin typeface="Cambria Math" panose="02040503050406030204" pitchFamily="18" charset="0"/>
                      </a:rPr>
                      <m:t>𝑛</m:t>
                    </m:r>
                    <m:r>
                      <a:rPr lang="en-US" altLang="zh-CN" sz="4800" b="0" i="1" dirty="0" smtClean="0">
                        <a:solidFill>
                          <a:srgbClr val="000000"/>
                        </a:solidFill>
                        <a:latin typeface="Cambria Math" panose="02040503050406030204" pitchFamily="18" charset="0"/>
                      </a:rPr>
                      <m:t>:</m:t>
                    </m:r>
                  </m:oMath>
                </a14:m>
                <a:endParaRPr lang="en-US" altLang="zh-CN" sz="4800" dirty="0">
                  <a:solidFill>
                    <a:srgbClr val="000000"/>
                  </a:solidFill>
                </a:endParaRPr>
              </a:p>
              <a:p>
                <a:pPr marL="342900" lvl="1" indent="0">
                  <a:lnSpc>
                    <a:spcPct val="150000"/>
                  </a:lnSpc>
                  <a:buClrTx/>
                  <a:buSzPct val="123000"/>
                  <a:buNone/>
                </a:pPr>
                <a:endParaRPr lang="en-US" altLang="zh-CN" sz="4400" dirty="0">
                  <a:solidFill>
                    <a:schemeClr val="tx1"/>
                  </a:solidFill>
                  <a:latin typeface="Times New Roman" panose="02020603050405020304" pitchFamily="18" charset="0"/>
                  <a:cs typeface="Times New Roman" panose="02020603050405020304" pitchFamily="18" charset="0"/>
                </a:endParaRPr>
              </a:p>
              <a:p>
                <a:pPr marL="342900" lvl="1" indent="0">
                  <a:lnSpc>
                    <a:spcPct val="150000"/>
                  </a:lnSpc>
                  <a:buClrTx/>
                  <a:buSzPct val="123000"/>
                  <a:buNone/>
                </a:pPr>
                <a:endParaRPr lang="en-US" altLang="zh-CN" sz="4400" dirty="0">
                  <a:solidFill>
                    <a:schemeClr val="tx1"/>
                  </a:solidFill>
                  <a:latin typeface="Times New Roman" panose="02020603050405020304" pitchFamily="18" charset="0"/>
                  <a:cs typeface="Times New Roman" panose="02020603050405020304" pitchFamily="18" charset="0"/>
                </a:endParaRPr>
              </a:p>
              <a:p>
                <a:pPr marL="952500" lvl="1" indent="-609600">
                  <a:lnSpc>
                    <a:spcPct val="150000"/>
                  </a:lnSpc>
                  <a:buClrTx/>
                  <a:buSzPct val="123000"/>
                </a:pPr>
                <a:r>
                  <a:rPr lang="en-US" altLang="zh-CN" sz="4400" dirty="0">
                    <a:solidFill>
                      <a:srgbClr val="000000"/>
                    </a:solidFill>
                  </a:rPr>
                  <a:t>Example: quadratic and cubic curves</a:t>
                </a:r>
              </a:p>
              <a:p>
                <a:pPr marL="609600" indent="-609600">
                  <a:lnSpc>
                    <a:spcPct val="150000"/>
                  </a:lnSpc>
                  <a:buClrTx/>
                  <a:buSzPct val="123000"/>
                  <a:buChar char="•"/>
                </a:pPr>
                <a:endParaRPr lang="en-US" altLang="zh-CN" sz="4800" dirty="0">
                  <a:solidFill>
                    <a:srgbClr val="000000"/>
                  </a:solidFill>
                </a:endParaRPr>
              </a:p>
              <a:p>
                <a:pPr marL="609600" indent="-609600">
                  <a:lnSpc>
                    <a:spcPct val="150000"/>
                  </a:lnSpc>
                  <a:buClrTx/>
                  <a:buSzPct val="123000"/>
                  <a:buChar char="•"/>
                </a:pPr>
                <a:endParaRPr lang="en-US" altLang="zh-CN" sz="4800" dirty="0">
                  <a:solidFill>
                    <a:srgbClr val="000000"/>
                  </a:solidFill>
                </a:endParaRPr>
              </a:p>
              <a:p>
                <a:pPr marL="609600" indent="-609600">
                  <a:lnSpc>
                    <a:spcPct val="150000"/>
                  </a:lnSpc>
                  <a:buClrTx/>
                  <a:buSzPct val="123000"/>
                  <a:buChar char="•"/>
                </a:pPr>
                <a:endParaRPr lang="en-US" altLang="zh-CN" sz="4800" dirty="0">
                  <a:solidFill>
                    <a:srgbClr val="000000"/>
                  </a:solidFill>
                </a:endParaRPr>
              </a:p>
            </p:txBody>
          </p:sp>
        </mc:Choice>
        <mc:Fallback xmlns="">
          <p:sp>
            <p:nvSpPr>
              <p:cNvPr id="7" name="내용 개체 틀 2">
                <a:extLst>
                  <a:ext uri="{FF2B5EF4-FFF2-40B4-BE49-F238E27FC236}">
                    <a16:creationId xmlns:a16="http://schemas.microsoft.com/office/drawing/2014/main" id="{D0BD8932-8453-9B97-09CA-673F001A19BD}"/>
                  </a:ext>
                </a:extLst>
              </p:cNvPr>
              <p:cNvSpPr txBox="1">
                <a:spLocks noRot="1" noChangeAspect="1" noMove="1" noResize="1" noEditPoints="1" noAdjustHandles="1" noChangeArrowheads="1" noChangeShapeType="1" noTextEdit="1"/>
              </p:cNvSpPr>
              <p:nvPr/>
            </p:nvSpPr>
            <p:spPr>
              <a:xfrm>
                <a:off x="1618325" y="2551738"/>
                <a:ext cx="21137766" cy="10313014"/>
              </a:xfrm>
              <a:prstGeom prst="rect">
                <a:avLst/>
              </a:prstGeom>
              <a:blipFill>
                <a:blip r:embed="rId5"/>
                <a:stretch>
                  <a:fillRect l="-1557" t="-237"/>
                </a:stretch>
              </a:blipFill>
            </p:spPr>
            <p:txBody>
              <a:bodyPr/>
              <a:lstStyle/>
              <a:p>
                <a:r>
                  <a:rPr lang="zh-CN" altLang="en-US">
                    <a:noFill/>
                  </a:rPr>
                  <a:t> </a:t>
                </a:r>
              </a:p>
            </p:txBody>
          </p:sp>
        </mc:Fallback>
      </mc:AlternateContent>
      <p:grpSp>
        <p:nvGrpSpPr>
          <p:cNvPr id="2" name="组合 1">
            <a:extLst>
              <a:ext uri="{FF2B5EF4-FFF2-40B4-BE49-F238E27FC236}">
                <a16:creationId xmlns:a16="http://schemas.microsoft.com/office/drawing/2014/main" id="{547F6B18-6C9C-26E1-8E8E-920BFE56AB60}"/>
              </a:ext>
            </a:extLst>
          </p:cNvPr>
          <p:cNvGrpSpPr/>
          <p:nvPr/>
        </p:nvGrpSpPr>
        <p:grpSpPr>
          <a:xfrm>
            <a:off x="1770725" y="7784890"/>
            <a:ext cx="8887182" cy="5319562"/>
            <a:chOff x="547242" y="4067758"/>
            <a:chExt cx="3601124" cy="2155509"/>
          </a:xfrm>
        </p:grpSpPr>
        <p:cxnSp>
          <p:nvCxnSpPr>
            <p:cNvPr id="3" name="直接连接符 2">
              <a:extLst>
                <a:ext uri="{FF2B5EF4-FFF2-40B4-BE49-F238E27FC236}">
                  <a16:creationId xmlns:a16="http://schemas.microsoft.com/office/drawing/2014/main" id="{65391BFF-8859-3C7F-12FA-DED6B2D8DD23}"/>
                </a:ext>
              </a:extLst>
            </p:cNvPr>
            <p:cNvCxnSpPr>
              <a:cxnSpLocks/>
              <a:stCxn id="10" idx="3"/>
              <a:endCxn id="9" idx="7"/>
            </p:cNvCxnSpPr>
            <p:nvPr/>
          </p:nvCxnSpPr>
          <p:spPr>
            <a:xfrm flipH="1">
              <a:off x="1159750" y="4537355"/>
              <a:ext cx="978163" cy="1030628"/>
            </a:xfrm>
            <a:prstGeom prst="line">
              <a:avLst/>
            </a:prstGeom>
            <a:ln w="50800" cap="rnd">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接连接符 4">
              <a:extLst>
                <a:ext uri="{FF2B5EF4-FFF2-40B4-BE49-F238E27FC236}">
                  <a16:creationId xmlns:a16="http://schemas.microsoft.com/office/drawing/2014/main" id="{957851D8-A620-FCC4-8EED-8522DFFB662D}"/>
                </a:ext>
              </a:extLst>
            </p:cNvPr>
            <p:cNvCxnSpPr>
              <a:cxnSpLocks/>
              <a:stCxn id="10" idx="5"/>
              <a:endCxn id="8" idx="1"/>
            </p:cNvCxnSpPr>
            <p:nvPr/>
          </p:nvCxnSpPr>
          <p:spPr>
            <a:xfrm>
              <a:off x="2264782" y="4537355"/>
              <a:ext cx="1312796" cy="1030628"/>
            </a:xfrm>
            <a:prstGeom prst="line">
              <a:avLst/>
            </a:prstGeom>
            <a:ln w="50800" cap="rnd">
              <a:solidFill>
                <a:schemeClr val="accent1"/>
              </a:solidFill>
              <a:prstDash val="sysDash"/>
            </a:ln>
          </p:spPr>
          <p:style>
            <a:lnRef idx="1">
              <a:schemeClr val="accent1"/>
            </a:lnRef>
            <a:fillRef idx="0">
              <a:schemeClr val="accent1"/>
            </a:fillRef>
            <a:effectRef idx="0">
              <a:schemeClr val="accent1"/>
            </a:effectRef>
            <a:fontRef idx="minor">
              <a:schemeClr val="tx1"/>
            </a:fontRef>
          </p:style>
        </p:cxnSp>
        <p:sp>
          <p:nvSpPr>
            <p:cNvPr id="6" name="任意多边形 103">
              <a:extLst>
                <a:ext uri="{FF2B5EF4-FFF2-40B4-BE49-F238E27FC236}">
                  <a16:creationId xmlns:a16="http://schemas.microsoft.com/office/drawing/2014/main" id="{F25862C0-3D9A-B92E-71EE-F2CC9C7D9961}"/>
                </a:ext>
              </a:extLst>
            </p:cNvPr>
            <p:cNvSpPr/>
            <p:nvPr/>
          </p:nvSpPr>
          <p:spPr>
            <a:xfrm rot="1764391">
              <a:off x="1329458" y="4967345"/>
              <a:ext cx="2114541" cy="1255922"/>
            </a:xfrm>
            <a:custGeom>
              <a:avLst/>
              <a:gdLst>
                <a:gd name="connsiteX0" fmla="*/ 2171700 w 2171700"/>
                <a:gd name="connsiteY0" fmla="*/ 69847 h 1205227"/>
                <a:gd name="connsiteX1" fmla="*/ 723900 w 2171700"/>
                <a:gd name="connsiteY1" fmla="*/ 123187 h 1205227"/>
                <a:gd name="connsiteX2" fmla="*/ 0 w 2171700"/>
                <a:gd name="connsiteY2" fmla="*/ 1205227 h 1205227"/>
                <a:gd name="connsiteX0" fmla="*/ 2171700 w 2171700"/>
                <a:gd name="connsiteY0" fmla="*/ 42223 h 1177603"/>
                <a:gd name="connsiteX1" fmla="*/ 653245 w 2171700"/>
                <a:gd name="connsiteY1" fmla="*/ 160868 h 1177603"/>
                <a:gd name="connsiteX2" fmla="*/ 0 w 2171700"/>
                <a:gd name="connsiteY2" fmla="*/ 1177603 h 1177603"/>
              </a:gdLst>
              <a:ahLst/>
              <a:cxnLst>
                <a:cxn ang="0">
                  <a:pos x="connsiteX0" y="connsiteY0"/>
                </a:cxn>
                <a:cxn ang="0">
                  <a:pos x="connsiteX1" y="connsiteY1"/>
                </a:cxn>
                <a:cxn ang="0">
                  <a:pos x="connsiteX2" y="connsiteY2"/>
                </a:cxn>
              </a:cxnLst>
              <a:rect l="l" t="t" r="r" b="b"/>
              <a:pathLst>
                <a:path w="2171700" h="1177603">
                  <a:moveTo>
                    <a:pt x="2171700" y="42223"/>
                  </a:moveTo>
                  <a:cubicBezTo>
                    <a:pt x="1628775" y="-25722"/>
                    <a:pt x="1015195" y="-28362"/>
                    <a:pt x="653245" y="160868"/>
                  </a:cubicBezTo>
                  <a:cubicBezTo>
                    <a:pt x="291295" y="350098"/>
                    <a:pt x="180975" y="731198"/>
                    <a:pt x="0" y="1177603"/>
                  </a:cubicBezTo>
                </a:path>
              </a:pathLst>
            </a:custGeom>
            <a:noFill/>
            <a:ln w="381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8" name="椭圆 7">
              <a:extLst>
                <a:ext uri="{FF2B5EF4-FFF2-40B4-BE49-F238E27FC236}">
                  <a16:creationId xmlns:a16="http://schemas.microsoft.com/office/drawing/2014/main" id="{14E7F3BB-90F3-204A-F8AC-D6C95571F695}"/>
                </a:ext>
              </a:extLst>
            </p:cNvPr>
            <p:cNvSpPr/>
            <p:nvPr/>
          </p:nvSpPr>
          <p:spPr>
            <a:xfrm>
              <a:off x="3551303" y="5541708"/>
              <a:ext cx="179419" cy="17941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9" name="椭圆 8">
              <a:extLst>
                <a:ext uri="{FF2B5EF4-FFF2-40B4-BE49-F238E27FC236}">
                  <a16:creationId xmlns:a16="http://schemas.microsoft.com/office/drawing/2014/main" id="{534E49E1-6977-F234-C66D-077C8DBBD4F1}"/>
                </a:ext>
              </a:extLst>
            </p:cNvPr>
            <p:cNvSpPr/>
            <p:nvPr/>
          </p:nvSpPr>
          <p:spPr>
            <a:xfrm>
              <a:off x="1006606" y="5541708"/>
              <a:ext cx="179419" cy="17941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10" name="椭圆 9">
              <a:extLst>
                <a:ext uri="{FF2B5EF4-FFF2-40B4-BE49-F238E27FC236}">
                  <a16:creationId xmlns:a16="http://schemas.microsoft.com/office/drawing/2014/main" id="{11ADC031-5391-852F-23BC-9AED5ABC9A15}"/>
                </a:ext>
              </a:extLst>
            </p:cNvPr>
            <p:cNvSpPr/>
            <p:nvPr/>
          </p:nvSpPr>
          <p:spPr>
            <a:xfrm>
              <a:off x="2111638" y="4384211"/>
              <a:ext cx="179419" cy="17941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358CB6E9-A55D-FF3E-B0DF-7C69FB4593E7}"/>
                    </a:ext>
                  </a:extLst>
                </p:cNvPr>
                <p:cNvSpPr txBox="1"/>
                <p:nvPr/>
              </p:nvSpPr>
              <p:spPr>
                <a:xfrm>
                  <a:off x="547242" y="5179389"/>
                  <a:ext cx="810776" cy="3067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cs typeface="Times New Roman" panose="02020603050405020304" pitchFamily="18" charset="0"/>
                                <a:sym typeface="+mn-lt"/>
                              </a:rPr>
                            </m:ctrlPr>
                          </m:sSubPr>
                          <m:e>
                            <m:r>
                              <a:rPr lang="en-US" altLang="zh-CN" b="1" i="0">
                                <a:latin typeface="Cambria Math" panose="02040503050406030204" pitchFamily="18" charset="0"/>
                                <a:cs typeface="Times New Roman" panose="02020603050405020304" pitchFamily="18" charset="0"/>
                                <a:sym typeface="+mn-lt"/>
                              </a:rPr>
                              <m:t>𝐏</m:t>
                            </m:r>
                          </m:e>
                          <m:sub>
                            <m:r>
                              <a:rPr lang="en-US" altLang="zh-CN" b="0" i="1" smtClean="0">
                                <a:latin typeface="Cambria Math" panose="02040503050406030204" pitchFamily="18" charset="0"/>
                                <a:cs typeface="Times New Roman" panose="02020603050405020304" pitchFamily="18" charset="0"/>
                                <a:sym typeface="+mn-lt"/>
                              </a:rPr>
                              <m:t>0</m:t>
                            </m:r>
                          </m:sub>
                        </m:sSub>
                      </m:oMath>
                    </m:oMathPara>
                  </a14:m>
                  <a:endParaRPr lang="zh-CN" altLang="en-US" dirty="0">
                    <a:latin typeface="Arial" panose="020B0604020202020204" pitchFamily="34" charset="0"/>
                    <a:cs typeface="Arial" panose="020B0604020202020204" pitchFamily="34" charset="0"/>
                  </a:endParaRPr>
                </a:p>
              </p:txBody>
            </p:sp>
          </mc:Choice>
          <mc:Fallback xmlns="">
            <p:sp>
              <p:nvSpPr>
                <p:cNvPr id="11" name="文本框 10">
                  <a:extLst>
                    <a:ext uri="{FF2B5EF4-FFF2-40B4-BE49-F238E27FC236}">
                      <a16:creationId xmlns:a16="http://schemas.microsoft.com/office/drawing/2014/main" id="{358CB6E9-A55D-FF3E-B0DF-7C69FB4593E7}"/>
                    </a:ext>
                  </a:extLst>
                </p:cNvPr>
                <p:cNvSpPr txBox="1">
                  <a:spLocks noRot="1" noChangeAspect="1" noMove="1" noResize="1" noEditPoints="1" noAdjustHandles="1" noChangeArrowheads="1" noChangeShapeType="1" noTextEdit="1"/>
                </p:cNvSpPr>
                <p:nvPr/>
              </p:nvSpPr>
              <p:spPr>
                <a:xfrm>
                  <a:off x="547242" y="5179389"/>
                  <a:ext cx="810776" cy="306792"/>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F5A41612-8BB6-D85C-21AE-89B6355A93A2}"/>
                    </a:ext>
                  </a:extLst>
                </p:cNvPr>
                <p:cNvSpPr txBox="1"/>
                <p:nvPr/>
              </p:nvSpPr>
              <p:spPr>
                <a:xfrm>
                  <a:off x="1575952" y="4067758"/>
                  <a:ext cx="810776" cy="3067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cs typeface="Times New Roman" panose="02020603050405020304" pitchFamily="18" charset="0"/>
                                <a:sym typeface="+mn-lt"/>
                              </a:rPr>
                            </m:ctrlPr>
                          </m:sSubPr>
                          <m:e>
                            <m:r>
                              <a:rPr lang="en-US" altLang="zh-CN" b="1" i="0">
                                <a:latin typeface="Cambria Math" panose="02040503050406030204" pitchFamily="18" charset="0"/>
                                <a:cs typeface="Times New Roman" panose="02020603050405020304" pitchFamily="18" charset="0"/>
                                <a:sym typeface="+mn-lt"/>
                              </a:rPr>
                              <m:t>𝐏</m:t>
                            </m:r>
                          </m:e>
                          <m:sub>
                            <m:r>
                              <a:rPr lang="en-US" altLang="zh-CN" b="0" i="1" smtClean="0">
                                <a:latin typeface="Cambria Math" panose="02040503050406030204" pitchFamily="18" charset="0"/>
                                <a:cs typeface="Times New Roman" panose="02020603050405020304" pitchFamily="18" charset="0"/>
                                <a:sym typeface="+mn-lt"/>
                              </a:rPr>
                              <m:t>1</m:t>
                            </m:r>
                          </m:sub>
                        </m:sSub>
                      </m:oMath>
                    </m:oMathPara>
                  </a14:m>
                  <a:endParaRPr lang="zh-CN" altLang="en-US" dirty="0">
                    <a:latin typeface="Arial" panose="020B0604020202020204" pitchFamily="34" charset="0"/>
                    <a:cs typeface="Arial" panose="020B0604020202020204" pitchFamily="34" charset="0"/>
                  </a:endParaRPr>
                </a:p>
              </p:txBody>
            </p:sp>
          </mc:Choice>
          <mc:Fallback xmlns="">
            <p:sp>
              <p:nvSpPr>
                <p:cNvPr id="12" name="文本框 11">
                  <a:extLst>
                    <a:ext uri="{FF2B5EF4-FFF2-40B4-BE49-F238E27FC236}">
                      <a16:creationId xmlns:a16="http://schemas.microsoft.com/office/drawing/2014/main" id="{F5A41612-8BB6-D85C-21AE-89B6355A93A2}"/>
                    </a:ext>
                  </a:extLst>
                </p:cNvPr>
                <p:cNvSpPr txBox="1">
                  <a:spLocks noRot="1" noChangeAspect="1" noMove="1" noResize="1" noEditPoints="1" noAdjustHandles="1" noChangeArrowheads="1" noChangeShapeType="1" noTextEdit="1"/>
                </p:cNvSpPr>
                <p:nvPr/>
              </p:nvSpPr>
              <p:spPr>
                <a:xfrm>
                  <a:off x="1575952" y="4067758"/>
                  <a:ext cx="810776" cy="306792"/>
                </a:xfrm>
                <a:prstGeom prst="rect">
                  <a:avLst/>
                </a:prstGeom>
                <a:blipFill>
                  <a:blip r:embed="rId7"/>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2E235852-D5ED-3AA0-57F8-01AC09BB36DE}"/>
                    </a:ext>
                  </a:extLst>
                </p:cNvPr>
                <p:cNvSpPr txBox="1"/>
                <p:nvPr/>
              </p:nvSpPr>
              <p:spPr>
                <a:xfrm>
                  <a:off x="3337590" y="5156511"/>
                  <a:ext cx="810776" cy="3067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cs typeface="Times New Roman" panose="02020603050405020304" pitchFamily="18" charset="0"/>
                                <a:sym typeface="+mn-lt"/>
                              </a:rPr>
                            </m:ctrlPr>
                          </m:sSubPr>
                          <m:e>
                            <m:r>
                              <a:rPr lang="en-US" altLang="zh-CN" b="1" i="0">
                                <a:latin typeface="Cambria Math" panose="02040503050406030204" pitchFamily="18" charset="0"/>
                                <a:cs typeface="Times New Roman" panose="02020603050405020304" pitchFamily="18" charset="0"/>
                                <a:sym typeface="+mn-lt"/>
                              </a:rPr>
                              <m:t>𝐏</m:t>
                            </m:r>
                          </m:e>
                          <m:sub>
                            <m:r>
                              <a:rPr lang="en-US" altLang="zh-CN" b="0" i="1" smtClean="0">
                                <a:latin typeface="Cambria Math" panose="02040503050406030204" pitchFamily="18" charset="0"/>
                                <a:cs typeface="Times New Roman" panose="02020603050405020304" pitchFamily="18" charset="0"/>
                                <a:sym typeface="+mn-lt"/>
                              </a:rPr>
                              <m:t>2</m:t>
                            </m:r>
                          </m:sub>
                        </m:sSub>
                      </m:oMath>
                    </m:oMathPara>
                  </a14:m>
                  <a:endParaRPr lang="zh-CN" altLang="en-US" dirty="0">
                    <a:latin typeface="Arial" panose="020B0604020202020204" pitchFamily="34" charset="0"/>
                    <a:cs typeface="Arial" panose="020B0604020202020204" pitchFamily="34" charset="0"/>
                  </a:endParaRPr>
                </a:p>
              </p:txBody>
            </p:sp>
          </mc:Choice>
          <mc:Fallback xmlns="">
            <p:sp>
              <p:nvSpPr>
                <p:cNvPr id="13" name="文本框 12">
                  <a:extLst>
                    <a:ext uri="{FF2B5EF4-FFF2-40B4-BE49-F238E27FC236}">
                      <a16:creationId xmlns:a16="http://schemas.microsoft.com/office/drawing/2014/main" id="{2E235852-D5ED-3AA0-57F8-01AC09BB36DE}"/>
                    </a:ext>
                  </a:extLst>
                </p:cNvPr>
                <p:cNvSpPr txBox="1">
                  <a:spLocks noRot="1" noChangeAspect="1" noMove="1" noResize="1" noEditPoints="1" noAdjustHandles="1" noChangeArrowheads="1" noChangeShapeType="1" noTextEdit="1"/>
                </p:cNvSpPr>
                <p:nvPr/>
              </p:nvSpPr>
              <p:spPr>
                <a:xfrm>
                  <a:off x="3337590" y="5156511"/>
                  <a:ext cx="810776" cy="306792"/>
                </a:xfrm>
                <a:prstGeom prst="rect">
                  <a:avLst/>
                </a:prstGeom>
                <a:blipFill>
                  <a:blip r:embed="rId8"/>
                  <a:stretch>
                    <a:fillRect/>
                  </a:stretch>
                </a:blipFill>
              </p:spPr>
              <p:txBody>
                <a:bodyPr/>
                <a:lstStyle/>
                <a:p>
                  <a:r>
                    <a:rPr lang="zh-CN" altLang="en-US">
                      <a:noFill/>
                    </a:rPr>
                    <a:t> </a:t>
                  </a:r>
                </a:p>
              </p:txBody>
            </p:sp>
          </mc:Fallback>
        </mc:AlternateContent>
      </p:grpSp>
      <p:grpSp>
        <p:nvGrpSpPr>
          <p:cNvPr id="14" name="组合 13">
            <a:extLst>
              <a:ext uri="{FF2B5EF4-FFF2-40B4-BE49-F238E27FC236}">
                <a16:creationId xmlns:a16="http://schemas.microsoft.com/office/drawing/2014/main" id="{ACA18362-DB96-5644-C941-114702731228}"/>
              </a:ext>
            </a:extLst>
          </p:cNvPr>
          <p:cNvGrpSpPr/>
          <p:nvPr/>
        </p:nvGrpSpPr>
        <p:grpSpPr>
          <a:xfrm>
            <a:off x="12510452" y="6685551"/>
            <a:ext cx="10102823" cy="6630377"/>
            <a:chOff x="6892943" y="3529938"/>
            <a:chExt cx="4294222" cy="2818253"/>
          </a:xfrm>
        </p:grpSpPr>
        <p:sp>
          <p:nvSpPr>
            <p:cNvPr id="15" name="任意多边形: 形状 14">
              <a:extLst>
                <a:ext uri="{FF2B5EF4-FFF2-40B4-BE49-F238E27FC236}">
                  <a16:creationId xmlns:a16="http://schemas.microsoft.com/office/drawing/2014/main" id="{96AC0EFA-0CE0-492F-FADA-2D4629C05D30}"/>
                </a:ext>
              </a:extLst>
            </p:cNvPr>
            <p:cNvSpPr/>
            <p:nvPr/>
          </p:nvSpPr>
          <p:spPr>
            <a:xfrm rot="13553584" flipV="1">
              <a:off x="7616692" y="4223184"/>
              <a:ext cx="2818253" cy="1431762"/>
            </a:xfrm>
            <a:custGeom>
              <a:avLst/>
              <a:gdLst>
                <a:gd name="connsiteX0" fmla="*/ 0 w 1970467"/>
                <a:gd name="connsiteY0" fmla="*/ 46093 h 1198752"/>
                <a:gd name="connsiteX1" fmla="*/ 850005 w 1970467"/>
                <a:gd name="connsiteY1" fmla="*/ 97608 h 1198752"/>
                <a:gd name="connsiteX2" fmla="*/ 1139780 w 1970467"/>
                <a:gd name="connsiteY2" fmla="*/ 915417 h 1198752"/>
                <a:gd name="connsiteX3" fmla="*/ 1970467 w 1970467"/>
                <a:gd name="connsiteY3" fmla="*/ 1198752 h 1198752"/>
                <a:gd name="connsiteX0" fmla="*/ 0 w 1970467"/>
                <a:gd name="connsiteY0" fmla="*/ 54964 h 1207623"/>
                <a:gd name="connsiteX1" fmla="*/ 850005 w 1970467"/>
                <a:gd name="connsiteY1" fmla="*/ 106479 h 1207623"/>
                <a:gd name="connsiteX2" fmla="*/ 1108054 w 1970467"/>
                <a:gd name="connsiteY2" fmla="*/ 1064057 h 1207623"/>
                <a:gd name="connsiteX3" fmla="*/ 1970467 w 1970467"/>
                <a:gd name="connsiteY3" fmla="*/ 1207623 h 1207623"/>
              </a:gdLst>
              <a:ahLst/>
              <a:cxnLst>
                <a:cxn ang="0">
                  <a:pos x="connsiteX0" y="connsiteY0"/>
                </a:cxn>
                <a:cxn ang="0">
                  <a:pos x="connsiteX1" y="connsiteY1"/>
                </a:cxn>
                <a:cxn ang="0">
                  <a:pos x="connsiteX2" y="connsiteY2"/>
                </a:cxn>
                <a:cxn ang="0">
                  <a:pos x="connsiteX3" y="connsiteY3"/>
                </a:cxn>
              </a:cxnLst>
              <a:rect l="l" t="t" r="r" b="b"/>
              <a:pathLst>
                <a:path w="1970467" h="1207623">
                  <a:moveTo>
                    <a:pt x="0" y="54964"/>
                  </a:moveTo>
                  <a:cubicBezTo>
                    <a:pt x="330021" y="8278"/>
                    <a:pt x="665329" y="-61703"/>
                    <a:pt x="850005" y="106479"/>
                  </a:cubicBezTo>
                  <a:cubicBezTo>
                    <a:pt x="1034681" y="274661"/>
                    <a:pt x="921310" y="880533"/>
                    <a:pt x="1108054" y="1064057"/>
                  </a:cubicBezTo>
                  <a:cubicBezTo>
                    <a:pt x="1294798" y="1247581"/>
                    <a:pt x="1822360" y="1157181"/>
                    <a:pt x="1970467" y="1207623"/>
                  </a:cubicBezTo>
                </a:path>
              </a:pathLst>
            </a:custGeom>
            <a:noFill/>
            <a:ln w="381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cxnSp>
          <p:nvCxnSpPr>
            <p:cNvPr id="16" name="直接连接符 15">
              <a:extLst>
                <a:ext uri="{FF2B5EF4-FFF2-40B4-BE49-F238E27FC236}">
                  <a16:creationId xmlns:a16="http://schemas.microsoft.com/office/drawing/2014/main" id="{CC0746D4-E6CE-D422-4EA6-1102BC1E8BD9}"/>
                </a:ext>
              </a:extLst>
            </p:cNvPr>
            <p:cNvCxnSpPr>
              <a:cxnSpLocks/>
              <a:stCxn id="21" idx="1"/>
              <a:endCxn id="19" idx="5"/>
            </p:cNvCxnSpPr>
            <p:nvPr/>
          </p:nvCxnSpPr>
          <p:spPr>
            <a:xfrm flipH="1" flipV="1">
              <a:off x="7574296" y="4459088"/>
              <a:ext cx="884833" cy="1055306"/>
            </a:xfrm>
            <a:prstGeom prst="line">
              <a:avLst/>
            </a:prstGeom>
            <a:ln w="50800" cap="rnd">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8C3AE24-B830-DEDB-2DBE-7A6DBA3A8649}"/>
                </a:ext>
              </a:extLst>
            </p:cNvPr>
            <p:cNvCxnSpPr>
              <a:cxnSpLocks/>
              <a:stCxn id="21" idx="7"/>
              <a:endCxn id="22" idx="3"/>
            </p:cNvCxnSpPr>
            <p:nvPr/>
          </p:nvCxnSpPr>
          <p:spPr>
            <a:xfrm flipV="1">
              <a:off x="8585998" y="4283235"/>
              <a:ext cx="892837" cy="1231159"/>
            </a:xfrm>
            <a:prstGeom prst="line">
              <a:avLst/>
            </a:prstGeom>
            <a:ln w="50800" cap="rnd">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F815A45-FEC5-8D29-C876-0EA38B02402F}"/>
                </a:ext>
              </a:extLst>
            </p:cNvPr>
            <p:cNvCxnSpPr>
              <a:cxnSpLocks/>
              <a:stCxn id="20" idx="1"/>
              <a:endCxn id="22" idx="5"/>
            </p:cNvCxnSpPr>
            <p:nvPr/>
          </p:nvCxnSpPr>
          <p:spPr>
            <a:xfrm flipH="1" flipV="1">
              <a:off x="9605704" y="4283235"/>
              <a:ext cx="821888" cy="1141450"/>
            </a:xfrm>
            <a:prstGeom prst="line">
              <a:avLst/>
            </a:prstGeom>
            <a:ln w="50800" cap="rnd">
              <a:solidFill>
                <a:schemeClr val="accent1"/>
              </a:solidFill>
              <a:prstDash val="sysDash"/>
            </a:ln>
          </p:spPr>
          <p:style>
            <a:lnRef idx="1">
              <a:schemeClr val="accent1"/>
            </a:lnRef>
            <a:fillRef idx="0">
              <a:schemeClr val="accent1"/>
            </a:fillRef>
            <a:effectRef idx="0">
              <a:schemeClr val="accent1"/>
            </a:effectRef>
            <a:fontRef idx="minor">
              <a:schemeClr val="tx1"/>
            </a:fontRef>
          </p:style>
        </p:cxnSp>
        <p:sp>
          <p:nvSpPr>
            <p:cNvPr id="19" name="椭圆 18">
              <a:extLst>
                <a:ext uri="{FF2B5EF4-FFF2-40B4-BE49-F238E27FC236}">
                  <a16:creationId xmlns:a16="http://schemas.microsoft.com/office/drawing/2014/main" id="{07C25630-223E-E77C-FB50-DDC710EEA31E}"/>
                </a:ext>
              </a:extLst>
            </p:cNvPr>
            <p:cNvSpPr/>
            <p:nvPr/>
          </p:nvSpPr>
          <p:spPr>
            <a:xfrm>
              <a:off x="7421152" y="4305944"/>
              <a:ext cx="179419" cy="17941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20" name="椭圆 19">
              <a:extLst>
                <a:ext uri="{FF2B5EF4-FFF2-40B4-BE49-F238E27FC236}">
                  <a16:creationId xmlns:a16="http://schemas.microsoft.com/office/drawing/2014/main" id="{4FAF67D6-C4FA-F2B5-9912-5DA70FD7C005}"/>
                </a:ext>
              </a:extLst>
            </p:cNvPr>
            <p:cNvSpPr/>
            <p:nvPr/>
          </p:nvSpPr>
          <p:spPr>
            <a:xfrm>
              <a:off x="10401317" y="5398410"/>
              <a:ext cx="179419" cy="17941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21" name="椭圆 20">
              <a:extLst>
                <a:ext uri="{FF2B5EF4-FFF2-40B4-BE49-F238E27FC236}">
                  <a16:creationId xmlns:a16="http://schemas.microsoft.com/office/drawing/2014/main" id="{020D1338-33E3-C3F8-E2E1-A2B0A0049FCC}"/>
                </a:ext>
              </a:extLst>
            </p:cNvPr>
            <p:cNvSpPr/>
            <p:nvPr/>
          </p:nvSpPr>
          <p:spPr>
            <a:xfrm>
              <a:off x="8432854" y="5488119"/>
              <a:ext cx="179419" cy="17941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22" name="椭圆 21">
              <a:extLst>
                <a:ext uri="{FF2B5EF4-FFF2-40B4-BE49-F238E27FC236}">
                  <a16:creationId xmlns:a16="http://schemas.microsoft.com/office/drawing/2014/main" id="{0F77E61F-BCF6-ADC6-471E-041EA3F16FC0}"/>
                </a:ext>
              </a:extLst>
            </p:cNvPr>
            <p:cNvSpPr/>
            <p:nvPr/>
          </p:nvSpPr>
          <p:spPr>
            <a:xfrm>
              <a:off x="9452560" y="4130091"/>
              <a:ext cx="179419" cy="17941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23" name="文本框 22">
                  <a:extLst>
                    <a:ext uri="{FF2B5EF4-FFF2-40B4-BE49-F238E27FC236}">
                      <a16:creationId xmlns:a16="http://schemas.microsoft.com/office/drawing/2014/main" id="{2DAAE642-1D55-8729-D905-E9E3141B8849}"/>
                    </a:ext>
                  </a:extLst>
                </p:cNvPr>
                <p:cNvSpPr txBox="1"/>
                <p:nvPr/>
              </p:nvSpPr>
              <p:spPr>
                <a:xfrm>
                  <a:off x="6892943" y="4026412"/>
                  <a:ext cx="810776" cy="3218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cs typeface="Times New Roman" panose="02020603050405020304" pitchFamily="18" charset="0"/>
                                <a:sym typeface="+mn-lt"/>
                              </a:rPr>
                            </m:ctrlPr>
                          </m:sSubPr>
                          <m:e>
                            <m:r>
                              <a:rPr lang="en-US" altLang="zh-CN" b="1" i="0">
                                <a:latin typeface="Cambria Math" panose="02040503050406030204" pitchFamily="18" charset="0"/>
                                <a:cs typeface="Times New Roman" panose="02020603050405020304" pitchFamily="18" charset="0"/>
                                <a:sym typeface="+mn-lt"/>
                              </a:rPr>
                              <m:t>𝐏</m:t>
                            </m:r>
                          </m:e>
                          <m:sub>
                            <m:r>
                              <a:rPr lang="en-US" altLang="zh-CN" b="0" i="1" smtClean="0">
                                <a:latin typeface="Cambria Math" panose="02040503050406030204" pitchFamily="18" charset="0"/>
                                <a:cs typeface="Times New Roman" panose="02020603050405020304" pitchFamily="18" charset="0"/>
                                <a:sym typeface="+mn-lt"/>
                              </a:rPr>
                              <m:t>0</m:t>
                            </m:r>
                          </m:sub>
                        </m:sSub>
                      </m:oMath>
                    </m:oMathPara>
                  </a14:m>
                  <a:endParaRPr lang="zh-CN" altLang="en-US" dirty="0">
                    <a:latin typeface="Arial" panose="020B0604020202020204" pitchFamily="34" charset="0"/>
                    <a:cs typeface="Arial" panose="020B0604020202020204" pitchFamily="34" charset="0"/>
                  </a:endParaRPr>
                </a:p>
              </p:txBody>
            </p:sp>
          </mc:Choice>
          <mc:Fallback xmlns="">
            <p:sp>
              <p:nvSpPr>
                <p:cNvPr id="23" name="文本框 22">
                  <a:extLst>
                    <a:ext uri="{FF2B5EF4-FFF2-40B4-BE49-F238E27FC236}">
                      <a16:creationId xmlns:a16="http://schemas.microsoft.com/office/drawing/2014/main" id="{2DAAE642-1D55-8729-D905-E9E3141B8849}"/>
                    </a:ext>
                  </a:extLst>
                </p:cNvPr>
                <p:cNvSpPr txBox="1">
                  <a:spLocks noRot="1" noChangeAspect="1" noMove="1" noResize="1" noEditPoints="1" noAdjustHandles="1" noChangeArrowheads="1" noChangeShapeType="1" noTextEdit="1"/>
                </p:cNvSpPr>
                <p:nvPr/>
              </p:nvSpPr>
              <p:spPr>
                <a:xfrm>
                  <a:off x="6892943" y="4026412"/>
                  <a:ext cx="810776" cy="321819"/>
                </a:xfrm>
                <a:prstGeom prst="rect">
                  <a:avLst/>
                </a:prstGeom>
                <a:blipFill>
                  <a:blip r:embed="rId9"/>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4" name="文本框 23">
                  <a:extLst>
                    <a:ext uri="{FF2B5EF4-FFF2-40B4-BE49-F238E27FC236}">
                      <a16:creationId xmlns:a16="http://schemas.microsoft.com/office/drawing/2014/main" id="{89FA7F09-E13B-C7A1-ECD0-14E4E1353DA7}"/>
                    </a:ext>
                  </a:extLst>
                </p:cNvPr>
                <p:cNvSpPr txBox="1"/>
                <p:nvPr/>
              </p:nvSpPr>
              <p:spPr>
                <a:xfrm>
                  <a:off x="7805414" y="5334085"/>
                  <a:ext cx="810776" cy="3218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cs typeface="Times New Roman" panose="02020603050405020304" pitchFamily="18" charset="0"/>
                                <a:sym typeface="+mn-lt"/>
                              </a:rPr>
                            </m:ctrlPr>
                          </m:sSubPr>
                          <m:e>
                            <m:r>
                              <a:rPr lang="en-US" altLang="zh-CN" b="1" i="0">
                                <a:latin typeface="Cambria Math" panose="02040503050406030204" pitchFamily="18" charset="0"/>
                                <a:cs typeface="Times New Roman" panose="02020603050405020304" pitchFamily="18" charset="0"/>
                                <a:sym typeface="+mn-lt"/>
                              </a:rPr>
                              <m:t>𝐏</m:t>
                            </m:r>
                          </m:e>
                          <m:sub>
                            <m:r>
                              <a:rPr lang="en-US" altLang="zh-CN" b="0" i="1" smtClean="0">
                                <a:latin typeface="Cambria Math" panose="02040503050406030204" pitchFamily="18" charset="0"/>
                                <a:cs typeface="Times New Roman" panose="02020603050405020304" pitchFamily="18" charset="0"/>
                                <a:sym typeface="+mn-lt"/>
                              </a:rPr>
                              <m:t>1</m:t>
                            </m:r>
                          </m:sub>
                        </m:sSub>
                      </m:oMath>
                    </m:oMathPara>
                  </a14:m>
                  <a:endParaRPr lang="zh-CN" altLang="en-US" dirty="0">
                    <a:latin typeface="Arial" panose="020B0604020202020204" pitchFamily="34" charset="0"/>
                    <a:cs typeface="Arial" panose="020B0604020202020204" pitchFamily="34" charset="0"/>
                  </a:endParaRPr>
                </a:p>
              </p:txBody>
            </p:sp>
          </mc:Choice>
          <mc:Fallback xmlns="">
            <p:sp>
              <p:nvSpPr>
                <p:cNvPr id="24" name="文本框 23">
                  <a:extLst>
                    <a:ext uri="{FF2B5EF4-FFF2-40B4-BE49-F238E27FC236}">
                      <a16:creationId xmlns:a16="http://schemas.microsoft.com/office/drawing/2014/main" id="{89FA7F09-E13B-C7A1-ECD0-14E4E1353DA7}"/>
                    </a:ext>
                  </a:extLst>
                </p:cNvPr>
                <p:cNvSpPr txBox="1">
                  <a:spLocks noRot="1" noChangeAspect="1" noMove="1" noResize="1" noEditPoints="1" noAdjustHandles="1" noChangeArrowheads="1" noChangeShapeType="1" noTextEdit="1"/>
                </p:cNvSpPr>
                <p:nvPr/>
              </p:nvSpPr>
              <p:spPr>
                <a:xfrm>
                  <a:off x="7805414" y="5334085"/>
                  <a:ext cx="810776" cy="321819"/>
                </a:xfrm>
                <a:prstGeom prst="rect">
                  <a:avLst/>
                </a:prstGeom>
                <a:blipFill>
                  <a:blip r:embed="rId10"/>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5" name="文本框 24">
                  <a:extLst>
                    <a:ext uri="{FF2B5EF4-FFF2-40B4-BE49-F238E27FC236}">
                      <a16:creationId xmlns:a16="http://schemas.microsoft.com/office/drawing/2014/main" id="{27B5F72F-1968-3181-A6C3-02A9708EC4D6}"/>
                    </a:ext>
                  </a:extLst>
                </p:cNvPr>
                <p:cNvSpPr txBox="1"/>
                <p:nvPr/>
              </p:nvSpPr>
              <p:spPr>
                <a:xfrm>
                  <a:off x="9304440" y="3821537"/>
                  <a:ext cx="810776" cy="3218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cs typeface="Times New Roman" panose="02020603050405020304" pitchFamily="18" charset="0"/>
                                <a:sym typeface="+mn-lt"/>
                              </a:rPr>
                            </m:ctrlPr>
                          </m:sSubPr>
                          <m:e>
                            <m:r>
                              <a:rPr lang="en-US" altLang="zh-CN" b="1" i="0">
                                <a:latin typeface="Cambria Math" panose="02040503050406030204" pitchFamily="18" charset="0"/>
                                <a:cs typeface="Times New Roman" panose="02020603050405020304" pitchFamily="18" charset="0"/>
                                <a:sym typeface="+mn-lt"/>
                              </a:rPr>
                              <m:t>𝐏</m:t>
                            </m:r>
                          </m:e>
                          <m:sub>
                            <m:r>
                              <a:rPr lang="en-US" altLang="zh-CN" b="0" i="1" smtClean="0">
                                <a:latin typeface="Cambria Math" panose="02040503050406030204" pitchFamily="18" charset="0"/>
                                <a:cs typeface="Times New Roman" panose="02020603050405020304" pitchFamily="18" charset="0"/>
                                <a:sym typeface="+mn-lt"/>
                              </a:rPr>
                              <m:t>2</m:t>
                            </m:r>
                          </m:sub>
                        </m:sSub>
                      </m:oMath>
                    </m:oMathPara>
                  </a14:m>
                  <a:endParaRPr lang="zh-CN" altLang="en-US" dirty="0">
                    <a:latin typeface="Arial" panose="020B0604020202020204" pitchFamily="34" charset="0"/>
                    <a:cs typeface="Arial" panose="020B0604020202020204" pitchFamily="34" charset="0"/>
                  </a:endParaRPr>
                </a:p>
              </p:txBody>
            </p:sp>
          </mc:Choice>
          <mc:Fallback xmlns="">
            <p:sp>
              <p:nvSpPr>
                <p:cNvPr id="25" name="文本框 24">
                  <a:extLst>
                    <a:ext uri="{FF2B5EF4-FFF2-40B4-BE49-F238E27FC236}">
                      <a16:creationId xmlns:a16="http://schemas.microsoft.com/office/drawing/2014/main" id="{27B5F72F-1968-3181-A6C3-02A9708EC4D6}"/>
                    </a:ext>
                  </a:extLst>
                </p:cNvPr>
                <p:cNvSpPr txBox="1">
                  <a:spLocks noRot="1" noChangeAspect="1" noMove="1" noResize="1" noEditPoints="1" noAdjustHandles="1" noChangeArrowheads="1" noChangeShapeType="1" noTextEdit="1"/>
                </p:cNvSpPr>
                <p:nvPr/>
              </p:nvSpPr>
              <p:spPr>
                <a:xfrm>
                  <a:off x="9304440" y="3821537"/>
                  <a:ext cx="810776" cy="321819"/>
                </a:xfrm>
                <a:prstGeom prst="rect">
                  <a:avLst/>
                </a:prstGeom>
                <a:blipFill>
                  <a:blip r:embed="rId11"/>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6" name="文本框 25">
                  <a:extLst>
                    <a:ext uri="{FF2B5EF4-FFF2-40B4-BE49-F238E27FC236}">
                      <a16:creationId xmlns:a16="http://schemas.microsoft.com/office/drawing/2014/main" id="{8A4A4D5A-7C64-B409-303B-1E62DAEAD2CF}"/>
                    </a:ext>
                  </a:extLst>
                </p:cNvPr>
                <p:cNvSpPr txBox="1"/>
                <p:nvPr/>
              </p:nvSpPr>
              <p:spPr>
                <a:xfrm>
                  <a:off x="10376389" y="5360449"/>
                  <a:ext cx="810776" cy="3218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cs typeface="Times New Roman" panose="02020603050405020304" pitchFamily="18" charset="0"/>
                                <a:sym typeface="+mn-lt"/>
                              </a:rPr>
                            </m:ctrlPr>
                          </m:sSubPr>
                          <m:e>
                            <m:r>
                              <a:rPr lang="en-US" altLang="zh-CN" b="1" i="0">
                                <a:latin typeface="Cambria Math" panose="02040503050406030204" pitchFamily="18" charset="0"/>
                                <a:cs typeface="Times New Roman" panose="02020603050405020304" pitchFamily="18" charset="0"/>
                                <a:sym typeface="+mn-lt"/>
                              </a:rPr>
                              <m:t>𝐏</m:t>
                            </m:r>
                          </m:e>
                          <m:sub>
                            <m:r>
                              <a:rPr lang="en-US" altLang="zh-CN" b="0" i="1" smtClean="0">
                                <a:latin typeface="Cambria Math" panose="02040503050406030204" pitchFamily="18" charset="0"/>
                                <a:cs typeface="Times New Roman" panose="02020603050405020304" pitchFamily="18" charset="0"/>
                                <a:sym typeface="+mn-lt"/>
                              </a:rPr>
                              <m:t>3</m:t>
                            </m:r>
                          </m:sub>
                        </m:sSub>
                      </m:oMath>
                    </m:oMathPara>
                  </a14:m>
                  <a:endParaRPr lang="zh-CN" altLang="en-US" dirty="0">
                    <a:latin typeface="Arial" panose="020B0604020202020204" pitchFamily="34" charset="0"/>
                    <a:cs typeface="Arial" panose="020B0604020202020204" pitchFamily="34" charset="0"/>
                  </a:endParaRPr>
                </a:p>
              </p:txBody>
            </p:sp>
          </mc:Choice>
          <mc:Fallback xmlns="">
            <p:sp>
              <p:nvSpPr>
                <p:cNvPr id="26" name="文本框 25">
                  <a:extLst>
                    <a:ext uri="{FF2B5EF4-FFF2-40B4-BE49-F238E27FC236}">
                      <a16:creationId xmlns:a16="http://schemas.microsoft.com/office/drawing/2014/main" id="{8A4A4D5A-7C64-B409-303B-1E62DAEAD2CF}"/>
                    </a:ext>
                  </a:extLst>
                </p:cNvPr>
                <p:cNvSpPr txBox="1">
                  <a:spLocks noRot="1" noChangeAspect="1" noMove="1" noResize="1" noEditPoints="1" noAdjustHandles="1" noChangeArrowheads="1" noChangeShapeType="1" noTextEdit="1"/>
                </p:cNvSpPr>
                <p:nvPr/>
              </p:nvSpPr>
              <p:spPr>
                <a:xfrm>
                  <a:off x="10376389" y="5360449"/>
                  <a:ext cx="810776" cy="321819"/>
                </a:xfrm>
                <a:prstGeom prst="rect">
                  <a:avLst/>
                </a:prstGeom>
                <a:blipFill>
                  <a:blip r:embed="rId12"/>
                  <a:stretch>
                    <a:fillRect/>
                  </a:stretch>
                </a:blipFill>
              </p:spPr>
              <p:txBody>
                <a:bodyPr/>
                <a:lstStyle/>
                <a:p>
                  <a:r>
                    <a:rPr lang="zh-CN" altLang="en-US">
                      <a:noFill/>
                    </a:rPr>
                    <a:t> </a:t>
                  </a:r>
                </a:p>
              </p:txBody>
            </p:sp>
          </mc:Fallback>
        </mc:AlternateContent>
      </p:grpSp>
      <p:sp>
        <p:nvSpPr>
          <p:cNvPr id="29" name="文本框 28">
            <a:extLst>
              <a:ext uri="{FF2B5EF4-FFF2-40B4-BE49-F238E27FC236}">
                <a16:creationId xmlns:a16="http://schemas.microsoft.com/office/drawing/2014/main" id="{B31B515F-4EC6-3E8F-6BD5-BC54A60EB048}"/>
              </a:ext>
            </a:extLst>
          </p:cNvPr>
          <p:cNvSpPr txBox="1"/>
          <p:nvPr/>
        </p:nvSpPr>
        <p:spPr>
          <a:xfrm>
            <a:off x="4123962" y="11990742"/>
            <a:ext cx="3900618"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Quadratic </a:t>
            </a:r>
            <a:r>
              <a:rPr lang="en-US" altLang="zh-CN" sz="2800" dirty="0" err="1">
                <a:solidFill>
                  <a:schemeClr val="tx1"/>
                </a:solidFill>
                <a:latin typeface="Arial" panose="020B0604020202020204" pitchFamily="34" charset="0"/>
                <a:cs typeface="Arial" panose="020B0604020202020204" pitchFamily="34" charset="0"/>
              </a:rPr>
              <a:t>Bézier</a:t>
            </a:r>
            <a:r>
              <a:rPr lang="en-US" altLang="zh-CN" sz="2800" dirty="0">
                <a:solidFill>
                  <a:schemeClr val="tx1"/>
                </a:solidFill>
                <a:latin typeface="Arial" panose="020B0604020202020204" pitchFamily="34" charset="0"/>
                <a:cs typeface="Arial" panose="020B0604020202020204" pitchFamily="34" charset="0"/>
              </a:rPr>
              <a:t> curve</a:t>
            </a:r>
          </a:p>
        </p:txBody>
      </p:sp>
      <p:sp>
        <p:nvSpPr>
          <p:cNvPr id="30" name="文本框 29">
            <a:extLst>
              <a:ext uri="{FF2B5EF4-FFF2-40B4-BE49-F238E27FC236}">
                <a16:creationId xmlns:a16="http://schemas.microsoft.com/office/drawing/2014/main" id="{83215D4C-D9F8-6F04-5651-B9AA0D84EA8A}"/>
              </a:ext>
            </a:extLst>
          </p:cNvPr>
          <p:cNvSpPr txBox="1"/>
          <p:nvPr/>
        </p:nvSpPr>
        <p:spPr>
          <a:xfrm>
            <a:off x="16106953" y="11990742"/>
            <a:ext cx="3178574"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Cubic </a:t>
            </a:r>
            <a:r>
              <a:rPr lang="en-US" altLang="zh-CN" sz="2800" dirty="0" err="1">
                <a:solidFill>
                  <a:schemeClr val="tx1"/>
                </a:solidFill>
                <a:latin typeface="Arial" panose="020B0604020202020204" pitchFamily="34" charset="0"/>
                <a:cs typeface="Arial" panose="020B0604020202020204" pitchFamily="34" charset="0"/>
              </a:rPr>
              <a:t>Bézier</a:t>
            </a:r>
            <a:r>
              <a:rPr lang="en-US" altLang="zh-CN" sz="2800" dirty="0">
                <a:solidFill>
                  <a:schemeClr val="tx1"/>
                </a:solidFill>
                <a:latin typeface="Arial" panose="020B0604020202020204" pitchFamily="34" charset="0"/>
                <a:cs typeface="Arial" panose="020B0604020202020204" pitchFamily="34" charset="0"/>
              </a:rPr>
              <a:t> curve</a:t>
            </a:r>
          </a:p>
        </p:txBody>
      </p:sp>
      <p:sp>
        <p:nvSpPr>
          <p:cNvPr id="27" name="文本框 7">
            <a:extLst>
              <a:ext uri="{FF2B5EF4-FFF2-40B4-BE49-F238E27FC236}">
                <a16:creationId xmlns:a16="http://schemas.microsoft.com/office/drawing/2014/main" id="{79CE2BEB-0676-9319-58E4-D68109243505}"/>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Introduction</a:t>
            </a:r>
            <a:endParaRPr lang="zh-CN" altLang="en-US" sz="8800" b="1" i="1" dirty="0">
              <a:latin typeface="Arial Narrow" panose="020B060602020203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1" name="文本框 30">
                <a:extLst>
                  <a:ext uri="{FF2B5EF4-FFF2-40B4-BE49-F238E27FC236}">
                    <a16:creationId xmlns:a16="http://schemas.microsoft.com/office/drawing/2014/main" id="{9B504AD9-227B-CDA2-C273-1BAEE849CC81}"/>
                  </a:ext>
                </a:extLst>
              </p:cNvPr>
              <p:cNvSpPr txBox="1"/>
              <p:nvPr/>
            </p:nvSpPr>
            <p:spPr>
              <a:xfrm>
                <a:off x="6414452" y="3851724"/>
                <a:ext cx="12192000" cy="190770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r>
                        <a:rPr lang="en-US" altLang="zh-CN" sz="4800" b="1" i="1" smtClean="0">
                          <a:solidFill>
                            <a:schemeClr val="tx1"/>
                          </a:solidFill>
                          <a:latin typeface="Cambria Math" panose="02040503050406030204" pitchFamily="18" charset="0"/>
                          <a:cs typeface="Times New Roman" panose="02020603050405020304" pitchFamily="18" charset="0"/>
                          <a:sym typeface="+mn-lt"/>
                        </a:rPr>
                        <m:t>𝐁</m:t>
                      </m:r>
                      <m:d>
                        <m:dPr>
                          <m:ctrlPr>
                            <a:rPr lang="en-US" altLang="zh-CN" sz="4800" i="1">
                              <a:solidFill>
                                <a:schemeClr val="tx1"/>
                              </a:solidFill>
                              <a:latin typeface="Cambria Math" panose="02040503050406030204" pitchFamily="18" charset="0"/>
                              <a:cs typeface="Times New Roman" panose="02020603050405020304" pitchFamily="18" charset="0"/>
                              <a:sym typeface="+mn-lt"/>
                            </a:rPr>
                          </m:ctrlPr>
                        </m:dPr>
                        <m:e>
                          <m:r>
                            <a:rPr lang="en-US" altLang="zh-CN" sz="4800">
                              <a:solidFill>
                                <a:schemeClr val="tx1"/>
                              </a:solidFill>
                              <a:latin typeface="Cambria Math" panose="02040503050406030204" pitchFamily="18" charset="0"/>
                              <a:cs typeface="Times New Roman" panose="02020603050405020304" pitchFamily="18" charset="0"/>
                              <a:sym typeface="+mn-lt"/>
                            </a:rPr>
                            <m:t>𝑡</m:t>
                          </m:r>
                        </m:e>
                      </m:d>
                      <m:r>
                        <a:rPr lang="en-US" altLang="zh-CN" sz="4800">
                          <a:solidFill>
                            <a:schemeClr val="tx1"/>
                          </a:solidFill>
                          <a:latin typeface="Cambria Math" panose="02040503050406030204" pitchFamily="18" charset="0"/>
                          <a:cs typeface="Times New Roman" panose="02020603050405020304" pitchFamily="18" charset="0"/>
                          <a:sym typeface="+mn-lt"/>
                        </a:rPr>
                        <m:t>=</m:t>
                      </m:r>
                      <m:nary>
                        <m:naryPr>
                          <m:chr m:val="∑"/>
                          <m:ctrlPr>
                            <a:rPr lang="pt-BR" altLang="zh-CN" sz="4800" i="1">
                              <a:solidFill>
                                <a:schemeClr val="tx1"/>
                              </a:solidFill>
                              <a:latin typeface="Cambria Math" panose="02040503050406030204" pitchFamily="18" charset="0"/>
                              <a:cs typeface="Times New Roman" panose="02020603050405020304" pitchFamily="18" charset="0"/>
                              <a:sym typeface="+mn-lt"/>
                            </a:rPr>
                          </m:ctrlPr>
                        </m:naryPr>
                        <m:sub>
                          <m:r>
                            <a:rPr lang="pt-BR" altLang="zh-CN" sz="4800" i="1">
                              <a:solidFill>
                                <a:schemeClr val="tx1"/>
                              </a:solidFill>
                              <a:latin typeface="Cambria Math" panose="02040503050406030204" pitchFamily="18" charset="0"/>
                              <a:cs typeface="Times New Roman" panose="02020603050405020304" pitchFamily="18" charset="0"/>
                              <a:sym typeface="+mn-lt"/>
                            </a:rPr>
                            <m:t>𝑘</m:t>
                          </m:r>
                          <m:r>
                            <a:rPr lang="pt-BR" altLang="zh-CN" sz="4800" i="1">
                              <a:solidFill>
                                <a:schemeClr val="tx1"/>
                              </a:solidFill>
                              <a:latin typeface="Cambria Math" panose="02040503050406030204" pitchFamily="18" charset="0"/>
                              <a:cs typeface="Times New Roman" panose="02020603050405020304" pitchFamily="18" charset="0"/>
                              <a:sym typeface="+mn-lt"/>
                            </a:rPr>
                            <m:t>=0</m:t>
                          </m:r>
                        </m:sub>
                        <m:sup>
                          <m:r>
                            <a:rPr lang="pt-BR" altLang="zh-CN" sz="4800" i="1">
                              <a:solidFill>
                                <a:schemeClr val="tx1"/>
                              </a:solidFill>
                              <a:latin typeface="Cambria Math" panose="02040503050406030204" pitchFamily="18" charset="0"/>
                              <a:cs typeface="Times New Roman" panose="02020603050405020304" pitchFamily="18" charset="0"/>
                              <a:sym typeface="+mn-lt"/>
                            </a:rPr>
                            <m:t>𝑛</m:t>
                          </m:r>
                        </m:sup>
                        <m:e>
                          <m:d>
                            <m:dPr>
                              <m:ctrlPr>
                                <a:rPr lang="pt-BR" altLang="zh-CN" sz="4800" i="1">
                                  <a:solidFill>
                                    <a:schemeClr val="tx1"/>
                                  </a:solidFill>
                                  <a:latin typeface="Cambria Math" panose="02040503050406030204" pitchFamily="18" charset="0"/>
                                  <a:cs typeface="Times New Roman" panose="02020603050405020304" pitchFamily="18" charset="0"/>
                                  <a:sym typeface="+mn-lt"/>
                                </a:rPr>
                              </m:ctrlPr>
                            </m:dPr>
                            <m:e>
                              <m:f>
                                <m:fPr>
                                  <m:type m:val="noBar"/>
                                  <m:ctrlPr>
                                    <a:rPr lang="pt-BR" altLang="zh-CN" sz="4800" i="1">
                                      <a:solidFill>
                                        <a:schemeClr val="tx1"/>
                                      </a:solidFill>
                                      <a:latin typeface="Cambria Math" panose="02040503050406030204" pitchFamily="18" charset="0"/>
                                      <a:cs typeface="Times New Roman" panose="02020603050405020304" pitchFamily="18" charset="0"/>
                                      <a:sym typeface="+mn-lt"/>
                                    </a:rPr>
                                  </m:ctrlPr>
                                </m:fPr>
                                <m:num>
                                  <m:r>
                                    <a:rPr lang="pt-BR" altLang="zh-CN" sz="4800" i="1">
                                      <a:solidFill>
                                        <a:schemeClr val="tx1"/>
                                      </a:solidFill>
                                      <a:latin typeface="Cambria Math" panose="02040503050406030204" pitchFamily="18" charset="0"/>
                                      <a:cs typeface="Times New Roman" panose="02020603050405020304" pitchFamily="18" charset="0"/>
                                      <a:sym typeface="+mn-lt"/>
                                    </a:rPr>
                                    <m:t>𝑛</m:t>
                                  </m:r>
                                </m:num>
                                <m:den>
                                  <m:r>
                                    <a:rPr lang="pt-BR" altLang="zh-CN" sz="4800" i="1">
                                      <a:solidFill>
                                        <a:schemeClr val="tx1"/>
                                      </a:solidFill>
                                      <a:latin typeface="Cambria Math" panose="02040503050406030204" pitchFamily="18" charset="0"/>
                                      <a:cs typeface="Times New Roman" panose="02020603050405020304" pitchFamily="18" charset="0"/>
                                      <a:sym typeface="+mn-lt"/>
                                    </a:rPr>
                                    <m:t>𝑘</m:t>
                                  </m:r>
                                </m:den>
                              </m:f>
                            </m:e>
                          </m:d>
                          <m:sSup>
                            <m:sSupPr>
                              <m:ctrlPr>
                                <a:rPr lang="pt-BR" altLang="zh-CN" sz="4800" i="1">
                                  <a:solidFill>
                                    <a:schemeClr val="tx1"/>
                                  </a:solidFill>
                                  <a:latin typeface="Cambria Math" panose="02040503050406030204" pitchFamily="18" charset="0"/>
                                  <a:cs typeface="Times New Roman" panose="02020603050405020304" pitchFamily="18" charset="0"/>
                                  <a:sym typeface="+mn-lt"/>
                                </a:rPr>
                              </m:ctrlPr>
                            </m:sSupPr>
                            <m:e>
                              <m:r>
                                <a:rPr lang="en-US" altLang="zh-CN" sz="4800" i="1">
                                  <a:solidFill>
                                    <a:schemeClr val="tx1"/>
                                  </a:solidFill>
                                  <a:latin typeface="Cambria Math" panose="02040503050406030204" pitchFamily="18" charset="0"/>
                                  <a:cs typeface="Times New Roman" panose="02020603050405020304" pitchFamily="18" charset="0"/>
                                  <a:sym typeface="+mn-lt"/>
                                </a:rPr>
                                <m:t>𝑡</m:t>
                              </m:r>
                            </m:e>
                            <m:sup>
                              <m:r>
                                <a:rPr lang="pt-BR" altLang="zh-CN" sz="4800" i="1">
                                  <a:solidFill>
                                    <a:schemeClr val="tx1"/>
                                  </a:solidFill>
                                  <a:latin typeface="Cambria Math" panose="02040503050406030204" pitchFamily="18" charset="0"/>
                                  <a:cs typeface="Times New Roman" panose="02020603050405020304" pitchFamily="18" charset="0"/>
                                  <a:sym typeface="+mn-lt"/>
                                </a:rPr>
                                <m:t>𝑘</m:t>
                              </m:r>
                            </m:sup>
                          </m:sSup>
                          <m:sSup>
                            <m:sSupPr>
                              <m:ctrlPr>
                                <a:rPr lang="pt-BR" altLang="zh-CN" sz="4800" i="1">
                                  <a:solidFill>
                                    <a:schemeClr val="tx1"/>
                                  </a:solidFill>
                                  <a:latin typeface="Cambria Math" panose="02040503050406030204" pitchFamily="18" charset="0"/>
                                  <a:cs typeface="Times New Roman" panose="02020603050405020304" pitchFamily="18" charset="0"/>
                                  <a:sym typeface="+mn-lt"/>
                                </a:rPr>
                              </m:ctrlPr>
                            </m:sSupPr>
                            <m:e>
                              <m:r>
                                <a:rPr lang="en-US" altLang="zh-CN" sz="4800" i="1">
                                  <a:solidFill>
                                    <a:schemeClr val="tx1"/>
                                  </a:solidFill>
                                  <a:latin typeface="Cambria Math" panose="02040503050406030204" pitchFamily="18" charset="0"/>
                                  <a:cs typeface="Times New Roman" panose="02020603050405020304" pitchFamily="18" charset="0"/>
                                  <a:sym typeface="+mn-lt"/>
                                </a:rPr>
                                <m:t>(1−</m:t>
                              </m:r>
                              <m:r>
                                <a:rPr lang="en-US" altLang="zh-CN" sz="4800" i="1">
                                  <a:solidFill>
                                    <a:schemeClr val="tx1"/>
                                  </a:solidFill>
                                  <a:latin typeface="Cambria Math" panose="02040503050406030204" pitchFamily="18" charset="0"/>
                                  <a:cs typeface="Times New Roman" panose="02020603050405020304" pitchFamily="18" charset="0"/>
                                  <a:sym typeface="+mn-lt"/>
                                </a:rPr>
                                <m:t>𝑡</m:t>
                              </m:r>
                              <m:r>
                                <a:rPr lang="en-US" altLang="zh-CN" sz="4800" i="1">
                                  <a:solidFill>
                                    <a:schemeClr val="tx1"/>
                                  </a:solidFill>
                                  <a:latin typeface="Cambria Math" panose="02040503050406030204" pitchFamily="18" charset="0"/>
                                  <a:cs typeface="Times New Roman" panose="02020603050405020304" pitchFamily="18" charset="0"/>
                                  <a:sym typeface="+mn-lt"/>
                                </a:rPr>
                                <m:t>)</m:t>
                              </m:r>
                            </m:e>
                            <m:sup>
                              <m:r>
                                <a:rPr lang="pt-BR" altLang="zh-CN" sz="4800" i="1">
                                  <a:solidFill>
                                    <a:schemeClr val="tx1"/>
                                  </a:solidFill>
                                  <a:latin typeface="Cambria Math" panose="02040503050406030204" pitchFamily="18" charset="0"/>
                                  <a:cs typeface="Times New Roman" panose="02020603050405020304" pitchFamily="18" charset="0"/>
                                  <a:sym typeface="+mn-lt"/>
                                </a:rPr>
                                <m:t>𝑛</m:t>
                              </m:r>
                              <m:r>
                                <a:rPr lang="pt-BR" altLang="zh-CN" sz="4800" i="1">
                                  <a:solidFill>
                                    <a:schemeClr val="tx1"/>
                                  </a:solidFill>
                                  <a:latin typeface="Cambria Math" panose="02040503050406030204" pitchFamily="18" charset="0"/>
                                  <a:cs typeface="Times New Roman" panose="02020603050405020304" pitchFamily="18" charset="0"/>
                                  <a:sym typeface="+mn-lt"/>
                                </a:rPr>
                                <m:t>−</m:t>
                              </m:r>
                              <m:r>
                                <a:rPr lang="pt-BR" altLang="zh-CN" sz="4800" i="1">
                                  <a:solidFill>
                                    <a:schemeClr val="tx1"/>
                                  </a:solidFill>
                                  <a:latin typeface="Cambria Math" panose="02040503050406030204" pitchFamily="18" charset="0"/>
                                  <a:cs typeface="Times New Roman" panose="02020603050405020304" pitchFamily="18" charset="0"/>
                                  <a:sym typeface="+mn-lt"/>
                                </a:rPr>
                                <m:t>𝑘</m:t>
                              </m:r>
                            </m:sup>
                          </m:sSup>
                        </m:e>
                      </m:nary>
                      <m:sSub>
                        <m:sSubPr>
                          <m:ctrlPr>
                            <a:rPr lang="en-US" altLang="zh-CN" sz="4800" i="1">
                              <a:solidFill>
                                <a:schemeClr val="tx1"/>
                              </a:solidFill>
                              <a:latin typeface="Cambria Math" panose="02040503050406030204" pitchFamily="18" charset="0"/>
                              <a:cs typeface="Times New Roman" panose="02020603050405020304" pitchFamily="18" charset="0"/>
                              <a:sym typeface="+mn-lt"/>
                            </a:rPr>
                          </m:ctrlPr>
                        </m:sSubPr>
                        <m:e>
                          <m:r>
                            <a:rPr lang="en-US" altLang="zh-CN" sz="4800" b="1" i="0">
                              <a:solidFill>
                                <a:schemeClr val="tx1"/>
                              </a:solidFill>
                              <a:latin typeface="Cambria Math" panose="02040503050406030204" pitchFamily="18" charset="0"/>
                              <a:cs typeface="Times New Roman" panose="02020603050405020304" pitchFamily="18" charset="0"/>
                              <a:sym typeface="+mn-lt"/>
                            </a:rPr>
                            <m:t>𝐏</m:t>
                          </m:r>
                        </m:e>
                        <m:sub>
                          <m:r>
                            <a:rPr lang="pt-BR" altLang="zh-CN" sz="4800" i="1">
                              <a:solidFill>
                                <a:schemeClr val="tx1"/>
                              </a:solidFill>
                              <a:latin typeface="Cambria Math" panose="02040503050406030204" pitchFamily="18" charset="0"/>
                              <a:cs typeface="Times New Roman" panose="02020603050405020304" pitchFamily="18" charset="0"/>
                              <a:sym typeface="+mn-lt"/>
                            </a:rPr>
                            <m:t>𝑘</m:t>
                          </m:r>
                        </m:sub>
                      </m:sSub>
                    </m:oMath>
                  </m:oMathPara>
                </a14:m>
                <a:endParaRPr lang="zh-CN" altLang="en-US" dirty="0">
                  <a:latin typeface="Arial" panose="020B0604020202020204" pitchFamily="34" charset="0"/>
                  <a:cs typeface="Arial" panose="020B0604020202020204" pitchFamily="34" charset="0"/>
                </a:endParaRPr>
              </a:p>
            </p:txBody>
          </p:sp>
        </mc:Choice>
        <mc:Fallback xmlns="">
          <p:sp>
            <p:nvSpPr>
              <p:cNvPr id="31" name="文本框 30">
                <a:extLst>
                  <a:ext uri="{FF2B5EF4-FFF2-40B4-BE49-F238E27FC236}">
                    <a16:creationId xmlns:a16="http://schemas.microsoft.com/office/drawing/2014/main" id="{9B504AD9-227B-CDA2-C273-1BAEE849CC81}"/>
                  </a:ext>
                </a:extLst>
              </p:cNvPr>
              <p:cNvSpPr txBox="1">
                <a:spLocks noRot="1" noChangeAspect="1" noMove="1" noResize="1" noEditPoints="1" noAdjustHandles="1" noChangeArrowheads="1" noChangeShapeType="1" noTextEdit="1"/>
              </p:cNvSpPr>
              <p:nvPr/>
            </p:nvSpPr>
            <p:spPr>
              <a:xfrm>
                <a:off x="6414452" y="3851724"/>
                <a:ext cx="12192000" cy="1907702"/>
              </a:xfrm>
              <a:prstGeom prst="rect">
                <a:avLst/>
              </a:prstGeom>
              <a:blipFill>
                <a:blip r:embed="rId13"/>
                <a:stretch>
                  <a:fillRect t="-1278"/>
                </a:stretch>
              </a:blipFill>
              <a:ln w="12700" cap="flat">
                <a:noFill/>
                <a:miter lim="400000"/>
              </a:ln>
              <a:effectLst/>
            </p:spPr>
            <p:txBody>
              <a:bodyPr/>
              <a:lstStyle/>
              <a:p>
                <a:r>
                  <a:rPr lang="zh-CN" altLang="en-US">
                    <a:noFill/>
                  </a:rPr>
                  <a:t> </a:t>
                </a:r>
              </a:p>
            </p:txBody>
          </p:sp>
        </mc:Fallback>
      </mc:AlternateContent>
    </p:spTree>
    <p:extLst>
      <p:ext uri="{BB962C8B-B14F-4D97-AF65-F5344CB8AC3E}">
        <p14:creationId xmlns:p14="http://schemas.microsoft.com/office/powerpoint/2010/main" val="201234937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6ADEF-27C6-FE2B-1939-9F9042235168}"/>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30693603-0CE3-91A9-74B7-23E6C992601F}"/>
              </a:ext>
            </a:extLst>
          </p:cNvPr>
          <p:cNvGrpSpPr/>
          <p:nvPr/>
        </p:nvGrpSpPr>
        <p:grpSpPr>
          <a:xfrm>
            <a:off x="2716501" y="6180732"/>
            <a:ext cx="7579051" cy="5569057"/>
            <a:chOff x="2716501" y="6546492"/>
            <a:chExt cx="7579051" cy="5569057"/>
          </a:xfrm>
        </p:grpSpPr>
        <p:grpSp>
          <p:nvGrpSpPr>
            <p:cNvPr id="6" name="组合 5">
              <a:extLst>
                <a:ext uri="{FF2B5EF4-FFF2-40B4-BE49-F238E27FC236}">
                  <a16:creationId xmlns:a16="http://schemas.microsoft.com/office/drawing/2014/main" id="{4EB2EAE1-4E8E-0FEA-95B7-D1DB30A2E75F}"/>
                </a:ext>
              </a:extLst>
            </p:cNvPr>
            <p:cNvGrpSpPr/>
            <p:nvPr/>
          </p:nvGrpSpPr>
          <p:grpSpPr>
            <a:xfrm>
              <a:off x="3408168" y="6546492"/>
              <a:ext cx="5949285" cy="5569057"/>
              <a:chOff x="3618461" y="7128381"/>
              <a:chExt cx="5949285" cy="5569057"/>
            </a:xfrm>
          </p:grpSpPr>
          <p:pic>
            <p:nvPicPr>
              <p:cNvPr id="3" name="图片 2">
                <a:extLst>
                  <a:ext uri="{FF2B5EF4-FFF2-40B4-BE49-F238E27FC236}">
                    <a16:creationId xmlns:a16="http://schemas.microsoft.com/office/drawing/2014/main" id="{870BBB10-7F67-A5EB-B35F-AAAF47665234}"/>
                  </a:ext>
                </a:extLst>
              </p:cNvPr>
              <p:cNvPicPr>
                <a:picLocks noChangeAspect="1"/>
              </p:cNvPicPr>
              <p:nvPr/>
            </p:nvPicPr>
            <p:blipFill>
              <a:blip r:embed="rId3"/>
              <a:stretch>
                <a:fillRect/>
              </a:stretch>
            </p:blipFill>
            <p:spPr>
              <a:xfrm>
                <a:off x="3618461" y="7128381"/>
                <a:ext cx="5456778" cy="5569057"/>
              </a:xfrm>
              <a:prstGeom prst="rect">
                <a:avLst/>
              </a:prstGeom>
            </p:spPr>
          </p:pic>
          <p:sp>
            <p:nvSpPr>
              <p:cNvPr id="5" name="矩形 4">
                <a:extLst>
                  <a:ext uri="{FF2B5EF4-FFF2-40B4-BE49-F238E27FC236}">
                    <a16:creationId xmlns:a16="http://schemas.microsoft.com/office/drawing/2014/main" id="{CE1E9F1C-2CE8-F2E3-3FCF-9439FA555AB0}"/>
                  </a:ext>
                </a:extLst>
              </p:cNvPr>
              <p:cNvSpPr/>
              <p:nvPr/>
            </p:nvSpPr>
            <p:spPr>
              <a:xfrm>
                <a:off x="8586439" y="9344722"/>
                <a:ext cx="981307" cy="624468"/>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grpSp>
        <p:cxnSp>
          <p:nvCxnSpPr>
            <p:cNvPr id="9" name="直接箭头连接符 8">
              <a:extLst>
                <a:ext uri="{FF2B5EF4-FFF2-40B4-BE49-F238E27FC236}">
                  <a16:creationId xmlns:a16="http://schemas.microsoft.com/office/drawing/2014/main" id="{1C7C3405-AD8F-E5E4-7F41-39871B9ADBEC}"/>
                </a:ext>
              </a:extLst>
            </p:cNvPr>
            <p:cNvCxnSpPr>
              <a:cxnSpLocks/>
            </p:cNvCxnSpPr>
            <p:nvPr/>
          </p:nvCxnSpPr>
          <p:spPr>
            <a:xfrm>
              <a:off x="4859909" y="8758103"/>
              <a:ext cx="1276648" cy="1312903"/>
            </a:xfrm>
            <a:prstGeom prst="straightConnector1">
              <a:avLst/>
            </a:prstGeom>
            <a:noFill/>
            <a:ln w="635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F0A9FC19-718A-1D59-03E0-C046433226D6}"/>
                    </a:ext>
                  </a:extLst>
                </p:cNvPr>
                <p:cNvSpPr txBox="1"/>
                <p:nvPr/>
              </p:nvSpPr>
              <p:spPr>
                <a:xfrm>
                  <a:off x="2716501" y="8137173"/>
                  <a:ext cx="2861213" cy="5909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r>
                          <a:rPr lang="en-US" altLang="zh-CN" sz="3600" b="0" i="1" smtClean="0">
                            <a:solidFill>
                              <a:srgbClr val="000000"/>
                            </a:solidFill>
                            <a:latin typeface="Cambria Math" panose="02040503050406030204" pitchFamily="18" charset="0"/>
                          </a:rPr>
                          <m:t>𝑓</m:t>
                        </m:r>
                        <m:d>
                          <m:dPr>
                            <m:ctrlPr>
                              <a:rPr lang="en-US" altLang="zh-CN" sz="3600" b="0" i="1" smtClean="0">
                                <a:solidFill>
                                  <a:srgbClr val="000000"/>
                                </a:solidFill>
                                <a:latin typeface="Cambria Math" panose="02040503050406030204" pitchFamily="18" charset="0"/>
                              </a:rPr>
                            </m:ctrlPr>
                          </m:dPr>
                          <m:e>
                            <m:r>
                              <a:rPr lang="en-US" altLang="zh-CN" sz="3600" b="0" i="1" smtClean="0">
                                <a:solidFill>
                                  <a:srgbClr val="000000"/>
                                </a:solidFill>
                                <a:latin typeface="Cambria Math" panose="02040503050406030204" pitchFamily="18" charset="0"/>
                              </a:rPr>
                              <m:t>𝑢</m:t>
                            </m:r>
                            <m:r>
                              <a:rPr lang="en-US" altLang="zh-CN" sz="3600" b="0" i="1" smtClean="0">
                                <a:solidFill>
                                  <a:srgbClr val="000000"/>
                                </a:solidFill>
                                <a:latin typeface="Cambria Math" panose="02040503050406030204" pitchFamily="18" charset="0"/>
                              </a:rPr>
                              <m:t>,</m:t>
                            </m:r>
                            <m:r>
                              <a:rPr lang="en-US" altLang="zh-CN" sz="3600" b="0" i="1" smtClean="0">
                                <a:solidFill>
                                  <a:srgbClr val="000000"/>
                                </a:solidFill>
                                <a:latin typeface="Cambria Math" panose="02040503050406030204" pitchFamily="18" charset="0"/>
                              </a:rPr>
                              <m:t>𝑣</m:t>
                            </m:r>
                          </m:e>
                        </m:d>
                        <m:r>
                          <a:rPr lang="en-US" altLang="zh-CN" sz="3600" b="0" i="1" smtClean="0">
                            <a:solidFill>
                              <a:srgbClr val="000000"/>
                            </a:solidFill>
                            <a:latin typeface="Cambria Math" panose="02040503050406030204" pitchFamily="18" charset="0"/>
                          </a:rPr>
                          <m:t>&lt;0</m:t>
                        </m:r>
                      </m:oMath>
                    </m:oMathPara>
                  </a14:m>
                  <a:endParaRPr lang="zh-CN" altLang="en-US" sz="3600" dirty="0">
                    <a:latin typeface="Arial" panose="020B0604020202020204" pitchFamily="34" charset="0"/>
                    <a:cs typeface="Arial" panose="020B0604020202020204" pitchFamily="34" charset="0"/>
                  </a:endParaRPr>
                </a:p>
              </p:txBody>
            </p:sp>
          </mc:Choice>
          <mc:Fallback xmlns="">
            <p:sp>
              <p:nvSpPr>
                <p:cNvPr id="12" name="文本框 11">
                  <a:extLst>
                    <a:ext uri="{FF2B5EF4-FFF2-40B4-BE49-F238E27FC236}">
                      <a16:creationId xmlns:a16="http://schemas.microsoft.com/office/drawing/2014/main" id="{F0A9FC19-718A-1D59-03E0-C046433226D6}"/>
                    </a:ext>
                  </a:extLst>
                </p:cNvPr>
                <p:cNvSpPr txBox="1">
                  <a:spLocks noRot="1" noChangeAspect="1" noMove="1" noResize="1" noEditPoints="1" noAdjustHandles="1" noChangeArrowheads="1" noChangeShapeType="1" noTextEdit="1"/>
                </p:cNvSpPr>
                <p:nvPr/>
              </p:nvSpPr>
              <p:spPr>
                <a:xfrm>
                  <a:off x="2716501" y="8137173"/>
                  <a:ext cx="2861213" cy="590931"/>
                </a:xfrm>
                <a:prstGeom prst="rect">
                  <a:avLst/>
                </a:prstGeom>
                <a:blipFill>
                  <a:blip r:embed="rId4"/>
                  <a:stretch>
                    <a:fillRect/>
                  </a:stretch>
                </a:blipFill>
                <a:ln w="12700" cap="flat">
                  <a:noFill/>
                  <a:miter lim="400000"/>
                </a:ln>
                <a:effec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57952B09-5728-8471-F28B-9C0ACE4FE45F}"/>
                    </a:ext>
                  </a:extLst>
                </p:cNvPr>
                <p:cNvSpPr txBox="1"/>
                <p:nvPr/>
              </p:nvSpPr>
              <p:spPr>
                <a:xfrm>
                  <a:off x="7434339" y="10450431"/>
                  <a:ext cx="2861213" cy="5909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r>
                          <a:rPr lang="en-US" altLang="zh-CN" sz="3600" b="0" i="1" smtClean="0">
                            <a:solidFill>
                              <a:srgbClr val="000000"/>
                            </a:solidFill>
                            <a:latin typeface="Cambria Math" panose="02040503050406030204" pitchFamily="18" charset="0"/>
                          </a:rPr>
                          <m:t>𝑓</m:t>
                        </m:r>
                        <m:d>
                          <m:dPr>
                            <m:ctrlPr>
                              <a:rPr lang="en-US" altLang="zh-CN" sz="3600" b="0" i="1" smtClean="0">
                                <a:solidFill>
                                  <a:srgbClr val="000000"/>
                                </a:solidFill>
                                <a:latin typeface="Cambria Math" panose="02040503050406030204" pitchFamily="18" charset="0"/>
                              </a:rPr>
                            </m:ctrlPr>
                          </m:dPr>
                          <m:e>
                            <m:r>
                              <a:rPr lang="en-US" altLang="zh-CN" sz="3600" b="0" i="1" smtClean="0">
                                <a:solidFill>
                                  <a:srgbClr val="000000"/>
                                </a:solidFill>
                                <a:latin typeface="Cambria Math" panose="02040503050406030204" pitchFamily="18" charset="0"/>
                              </a:rPr>
                              <m:t>𝑢</m:t>
                            </m:r>
                            <m:r>
                              <a:rPr lang="en-US" altLang="zh-CN" sz="3600" b="0" i="1" smtClean="0">
                                <a:solidFill>
                                  <a:srgbClr val="000000"/>
                                </a:solidFill>
                                <a:latin typeface="Cambria Math" panose="02040503050406030204" pitchFamily="18" charset="0"/>
                              </a:rPr>
                              <m:t>,</m:t>
                            </m:r>
                            <m:r>
                              <a:rPr lang="en-US" altLang="zh-CN" sz="3600" b="0" i="1" smtClean="0">
                                <a:solidFill>
                                  <a:srgbClr val="000000"/>
                                </a:solidFill>
                                <a:latin typeface="Cambria Math" panose="02040503050406030204" pitchFamily="18" charset="0"/>
                              </a:rPr>
                              <m:t>𝑣</m:t>
                            </m:r>
                          </m:e>
                        </m:d>
                        <m:r>
                          <a:rPr lang="en-US" altLang="zh-CN" sz="3600" b="0" i="1" smtClean="0">
                            <a:solidFill>
                              <a:srgbClr val="000000"/>
                            </a:solidFill>
                            <a:latin typeface="Cambria Math" panose="02040503050406030204" pitchFamily="18" charset="0"/>
                          </a:rPr>
                          <m:t>&gt;0</m:t>
                        </m:r>
                      </m:oMath>
                    </m:oMathPara>
                  </a14:m>
                  <a:endParaRPr lang="zh-CN" altLang="en-US" sz="3600" dirty="0">
                    <a:latin typeface="Arial" panose="020B0604020202020204" pitchFamily="34" charset="0"/>
                    <a:cs typeface="Arial" panose="020B0604020202020204" pitchFamily="34" charset="0"/>
                  </a:endParaRPr>
                </a:p>
              </p:txBody>
            </p:sp>
          </mc:Choice>
          <mc:Fallback xmlns="">
            <p:sp>
              <p:nvSpPr>
                <p:cNvPr id="13" name="文本框 12">
                  <a:extLst>
                    <a:ext uri="{FF2B5EF4-FFF2-40B4-BE49-F238E27FC236}">
                      <a16:creationId xmlns:a16="http://schemas.microsoft.com/office/drawing/2014/main" id="{57952B09-5728-8471-F28B-9C0ACE4FE45F}"/>
                    </a:ext>
                  </a:extLst>
                </p:cNvPr>
                <p:cNvSpPr txBox="1">
                  <a:spLocks noRot="1" noChangeAspect="1" noMove="1" noResize="1" noEditPoints="1" noAdjustHandles="1" noChangeArrowheads="1" noChangeShapeType="1" noTextEdit="1"/>
                </p:cNvSpPr>
                <p:nvPr/>
              </p:nvSpPr>
              <p:spPr>
                <a:xfrm>
                  <a:off x="7434339" y="10450431"/>
                  <a:ext cx="2861213" cy="590931"/>
                </a:xfrm>
                <a:prstGeom prst="rect">
                  <a:avLst/>
                </a:prstGeom>
                <a:blipFill>
                  <a:blip r:embed="rId5"/>
                  <a:stretch>
                    <a:fillRect/>
                  </a:stretch>
                </a:blipFill>
                <a:ln w="12700" cap="flat">
                  <a:noFill/>
                  <a:miter lim="400000"/>
                </a:ln>
                <a:effectLst/>
              </p:spPr>
              <p:txBody>
                <a:bodyPr/>
                <a:lstStyle/>
                <a:p>
                  <a:r>
                    <a:rPr lang="zh-CN" altLang="en-US">
                      <a:noFill/>
                    </a:rPr>
                    <a:t> </a:t>
                  </a:r>
                </a:p>
              </p:txBody>
            </p:sp>
          </mc:Fallback>
        </mc:AlternateContent>
        <p:cxnSp>
          <p:nvCxnSpPr>
            <p:cNvPr id="14" name="直接箭头连接符 13">
              <a:extLst>
                <a:ext uri="{FF2B5EF4-FFF2-40B4-BE49-F238E27FC236}">
                  <a16:creationId xmlns:a16="http://schemas.microsoft.com/office/drawing/2014/main" id="{A583F800-AA79-B6BA-66FF-AF5C427103CC}"/>
                </a:ext>
              </a:extLst>
            </p:cNvPr>
            <p:cNvCxnSpPr>
              <a:cxnSpLocks/>
            </p:cNvCxnSpPr>
            <p:nvPr/>
          </p:nvCxnSpPr>
          <p:spPr>
            <a:xfrm flipH="1">
              <a:off x="6136557" y="10709239"/>
              <a:ext cx="1297782" cy="0"/>
            </a:xfrm>
            <a:prstGeom prst="straightConnector1">
              <a:avLst/>
            </a:prstGeom>
            <a:noFill/>
            <a:ln w="635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grpSp>
      <p:pic>
        <p:nvPicPr>
          <p:cNvPr id="24" name="图片 23">
            <a:extLst>
              <a:ext uri="{FF2B5EF4-FFF2-40B4-BE49-F238E27FC236}">
                <a16:creationId xmlns:a16="http://schemas.microsoft.com/office/drawing/2014/main" id="{082320FD-DA5D-5B8F-9DDB-66A149A4901E}"/>
              </a:ext>
            </a:extLst>
          </p:cNvPr>
          <p:cNvPicPr>
            <a:picLocks noChangeAspect="1"/>
          </p:cNvPicPr>
          <p:nvPr/>
        </p:nvPicPr>
        <p:blipFill>
          <a:blip r:embed="rId6"/>
          <a:stretch>
            <a:fillRect/>
          </a:stretch>
        </p:blipFill>
        <p:spPr>
          <a:xfrm>
            <a:off x="14559073" y="6221971"/>
            <a:ext cx="5628848" cy="5188496"/>
          </a:xfrm>
          <a:prstGeom prst="rect">
            <a:avLst/>
          </a:prstGeom>
        </p:spPr>
      </p:pic>
      <p:sp>
        <p:nvSpPr>
          <p:cNvPr id="198" name="直接连接符 5">
            <a:extLst>
              <a:ext uri="{FF2B5EF4-FFF2-40B4-BE49-F238E27FC236}">
                <a16:creationId xmlns:a16="http://schemas.microsoft.com/office/drawing/2014/main" id="{940B96AB-18DA-CA75-86A8-242D966CC20F}"/>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CF3353DC-8EA1-71B8-6684-D8CF7658FBB1}"/>
              </a:ext>
            </a:extLst>
          </p:cNvPr>
          <p:cNvPicPr>
            <a:picLocks noChangeAspect="1"/>
          </p:cNvPicPr>
          <p:nvPr/>
        </p:nvPicPr>
        <p:blipFill>
          <a:blip r:embed="rId7"/>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A6EAEF42-FAE1-23D5-7CA4-179569534954}"/>
              </a:ext>
            </a:extLst>
          </p:cNvPr>
          <p:cNvPicPr>
            <a:picLocks noChangeAspect="1"/>
          </p:cNvPicPr>
          <p:nvPr/>
        </p:nvPicPr>
        <p:blipFill>
          <a:blip r:embed="rId8"/>
          <a:stretch>
            <a:fillRect/>
          </a:stretch>
        </p:blipFill>
        <p:spPr>
          <a:xfrm>
            <a:off x="265026" y="12697438"/>
            <a:ext cx="6706870" cy="1009651"/>
          </a:xfrm>
          <a:prstGeom prst="rect">
            <a:avLst/>
          </a:prstGeom>
          <a:ln w="12700">
            <a:miter lim="400000"/>
          </a:ln>
        </p:spPr>
      </p:pic>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F2CE1F48-3689-89EA-0E0F-FEAFA1496C9F}"/>
                  </a:ext>
                </a:extLst>
              </p:cNvPr>
              <p:cNvSpPr txBox="1">
                <a:spLocks/>
              </p:cNvSpPr>
              <p:nvPr/>
            </p:nvSpPr>
            <p:spPr>
              <a:xfrm>
                <a:off x="1618325" y="2551738"/>
                <a:ext cx="21137766" cy="8612523"/>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Implicit equation-based filled path rendering</a:t>
                </a:r>
                <a:r>
                  <a:rPr lang="zh-CN" altLang="en-US" sz="4800" dirty="0">
                    <a:solidFill>
                      <a:srgbClr val="000000"/>
                    </a:solidFill>
                  </a:rPr>
                  <a:t> </a:t>
                </a:r>
                <a:r>
                  <a:rPr lang="en-US" altLang="zh-CN" sz="4800" dirty="0">
                    <a:solidFill>
                      <a:srgbClr val="000000"/>
                    </a:solidFill>
                  </a:rPr>
                  <a:t>[Loop et al. 2005]</a:t>
                </a:r>
              </a:p>
              <a:p>
                <a:pPr marL="609600" indent="-609600">
                  <a:lnSpc>
                    <a:spcPct val="150000"/>
                  </a:lnSpc>
                  <a:buClrTx/>
                  <a:buSzPct val="123000"/>
                  <a:buChar char="•"/>
                </a:pPr>
                <a:r>
                  <a:rPr lang="en-US" altLang="zh-CN" sz="4400" dirty="0">
                    <a:solidFill>
                      <a:srgbClr val="000000"/>
                    </a:solidFill>
                  </a:rPr>
                  <a:t>Standard quadratic curve: control points</a:t>
                </a:r>
                <a:r>
                  <a:rPr lang="zh-CN" altLang="en-US" sz="4400" dirty="0">
                    <a:solidFill>
                      <a:srgbClr val="000000"/>
                    </a:solidFill>
                  </a:rPr>
                  <a:t> </a:t>
                </a:r>
                <a14:m>
                  <m:oMath xmlns:m="http://schemas.openxmlformats.org/officeDocument/2006/math">
                    <m:sSub>
                      <m:sSubPr>
                        <m:ctrlPr>
                          <a:rPr lang="en-US" altLang="zh-CN" sz="4400" i="1">
                            <a:solidFill>
                              <a:schemeClr val="tx1"/>
                            </a:solidFill>
                            <a:latin typeface="Cambria Math" panose="02040503050406030204" pitchFamily="18" charset="0"/>
                            <a:cs typeface="Times New Roman" panose="02020603050405020304" pitchFamily="18" charset="0"/>
                            <a:sym typeface="+mn-lt"/>
                          </a:rPr>
                        </m:ctrlPr>
                      </m:sSubPr>
                      <m:e>
                        <m:r>
                          <a:rPr lang="en-US" altLang="zh-CN" sz="4400" b="1">
                            <a:solidFill>
                              <a:schemeClr val="tx1"/>
                            </a:solidFill>
                            <a:latin typeface="Cambria Math" panose="02040503050406030204" pitchFamily="18" charset="0"/>
                            <a:cs typeface="Times New Roman" panose="02020603050405020304" pitchFamily="18" charset="0"/>
                            <a:sym typeface="+mn-lt"/>
                          </a:rPr>
                          <m:t>𝐏</m:t>
                        </m:r>
                      </m:e>
                      <m:sub>
                        <m:r>
                          <a:rPr lang="en-US" altLang="zh-CN" sz="4400" b="1" i="1">
                            <a:solidFill>
                              <a:schemeClr val="tx1"/>
                            </a:solidFill>
                            <a:latin typeface="Cambria Math" panose="02040503050406030204" pitchFamily="18" charset="0"/>
                            <a:cs typeface="Times New Roman" panose="02020603050405020304" pitchFamily="18" charset="0"/>
                            <a:sym typeface="+mn-lt"/>
                          </a:rPr>
                          <m:t>0</m:t>
                        </m:r>
                      </m:sub>
                    </m:sSub>
                    <m:r>
                      <a:rPr lang="en-US" altLang="zh-CN" sz="4400" b="0" i="1" smtClean="0">
                        <a:solidFill>
                          <a:schemeClr val="tx1"/>
                        </a:solidFill>
                        <a:latin typeface="Cambria Math" panose="02040503050406030204" pitchFamily="18" charset="0"/>
                        <a:cs typeface="Times New Roman" panose="02020603050405020304" pitchFamily="18" charset="0"/>
                        <a:sym typeface="+mn-lt"/>
                      </a:rPr>
                      <m:t>=</m:t>
                    </m:r>
                    <m:d>
                      <m:dPr>
                        <m:ctrlPr>
                          <a:rPr lang="en-US" altLang="zh-CN" sz="4400" b="0" i="1" smtClean="0">
                            <a:solidFill>
                              <a:schemeClr val="tx1"/>
                            </a:solidFill>
                            <a:latin typeface="Cambria Math" panose="02040503050406030204" pitchFamily="18" charset="0"/>
                            <a:cs typeface="Times New Roman" panose="02020603050405020304" pitchFamily="18" charset="0"/>
                            <a:sym typeface="+mn-lt"/>
                          </a:rPr>
                        </m:ctrlPr>
                      </m:dPr>
                      <m:e>
                        <m:r>
                          <a:rPr lang="en-US" altLang="zh-CN" sz="4400" b="0" i="1" smtClean="0">
                            <a:solidFill>
                              <a:schemeClr val="tx1"/>
                            </a:solidFill>
                            <a:latin typeface="Cambria Math" panose="02040503050406030204" pitchFamily="18" charset="0"/>
                            <a:cs typeface="Times New Roman" panose="02020603050405020304" pitchFamily="18" charset="0"/>
                            <a:sym typeface="+mn-lt"/>
                          </a:rPr>
                          <m:t>0,0</m:t>
                        </m:r>
                      </m:e>
                    </m:d>
                    <m:r>
                      <a:rPr lang="en-US" altLang="zh-CN" sz="4400" b="0" i="1" smtClean="0">
                        <a:solidFill>
                          <a:schemeClr val="tx1"/>
                        </a:solidFill>
                        <a:latin typeface="Cambria Math" panose="02040503050406030204" pitchFamily="18" charset="0"/>
                        <a:cs typeface="Times New Roman" panose="02020603050405020304" pitchFamily="18" charset="0"/>
                        <a:sym typeface="+mn-lt"/>
                      </a:rPr>
                      <m:t>,</m:t>
                    </m:r>
                    <m:sSub>
                      <m:sSubPr>
                        <m:ctrlPr>
                          <a:rPr lang="en-US" altLang="zh-CN" sz="4400" i="1">
                            <a:solidFill>
                              <a:schemeClr val="tx1"/>
                            </a:solidFill>
                            <a:latin typeface="Cambria Math" panose="02040503050406030204" pitchFamily="18" charset="0"/>
                            <a:cs typeface="Times New Roman" panose="02020603050405020304" pitchFamily="18" charset="0"/>
                            <a:sym typeface="+mn-lt"/>
                          </a:rPr>
                        </m:ctrlPr>
                      </m:sSubPr>
                      <m:e>
                        <m:r>
                          <a:rPr lang="en-US" altLang="zh-CN" sz="4400" b="1">
                            <a:solidFill>
                              <a:schemeClr val="tx1"/>
                            </a:solidFill>
                            <a:latin typeface="Cambria Math" panose="02040503050406030204" pitchFamily="18" charset="0"/>
                            <a:cs typeface="Times New Roman" panose="02020603050405020304" pitchFamily="18" charset="0"/>
                            <a:sym typeface="+mn-lt"/>
                          </a:rPr>
                          <m:t>𝐏</m:t>
                        </m:r>
                      </m:e>
                      <m:sub>
                        <m:r>
                          <a:rPr lang="en-US" altLang="zh-CN" sz="4400" b="0" i="1" smtClean="0">
                            <a:solidFill>
                              <a:schemeClr val="tx1"/>
                            </a:solidFill>
                            <a:latin typeface="Cambria Math" panose="02040503050406030204" pitchFamily="18" charset="0"/>
                            <a:cs typeface="Times New Roman" panose="02020603050405020304" pitchFamily="18" charset="0"/>
                            <a:sym typeface="+mn-lt"/>
                          </a:rPr>
                          <m:t>1</m:t>
                        </m:r>
                      </m:sub>
                    </m:sSub>
                    <m:r>
                      <a:rPr lang="en-US" altLang="zh-CN" sz="4400" b="1" i="1" smtClean="0">
                        <a:solidFill>
                          <a:schemeClr val="tx1"/>
                        </a:solidFill>
                        <a:latin typeface="Cambria Math" panose="02040503050406030204" pitchFamily="18" charset="0"/>
                        <a:cs typeface="Times New Roman" panose="02020603050405020304" pitchFamily="18" charset="0"/>
                        <a:sym typeface="+mn-lt"/>
                      </a:rPr>
                      <m:t>=</m:t>
                    </m:r>
                    <m:d>
                      <m:dPr>
                        <m:ctrlPr>
                          <a:rPr lang="en-US" altLang="zh-CN" sz="4400" b="1" i="1" smtClean="0">
                            <a:solidFill>
                              <a:schemeClr val="tx1"/>
                            </a:solidFill>
                            <a:latin typeface="Cambria Math" panose="02040503050406030204" pitchFamily="18" charset="0"/>
                            <a:cs typeface="Times New Roman" panose="02020603050405020304" pitchFamily="18" charset="0"/>
                            <a:sym typeface="+mn-lt"/>
                          </a:rPr>
                        </m:ctrlPr>
                      </m:dPr>
                      <m:e>
                        <m:r>
                          <a:rPr lang="en-US" altLang="zh-CN" sz="4400" b="0" i="1" smtClean="0">
                            <a:solidFill>
                              <a:schemeClr val="tx1"/>
                            </a:solidFill>
                            <a:latin typeface="Cambria Math" panose="02040503050406030204" pitchFamily="18" charset="0"/>
                            <a:cs typeface="Times New Roman" panose="02020603050405020304" pitchFamily="18" charset="0"/>
                            <a:sym typeface="+mn-lt"/>
                          </a:rPr>
                          <m:t>0.5,0</m:t>
                        </m:r>
                      </m:e>
                    </m:d>
                    <m:r>
                      <a:rPr lang="en-US" altLang="zh-CN" sz="4400" b="1" i="1" smtClean="0">
                        <a:solidFill>
                          <a:schemeClr val="tx1"/>
                        </a:solidFill>
                        <a:latin typeface="Cambria Math" panose="02040503050406030204" pitchFamily="18" charset="0"/>
                        <a:cs typeface="Times New Roman" panose="02020603050405020304" pitchFamily="18" charset="0"/>
                        <a:sym typeface="+mn-lt"/>
                      </a:rPr>
                      <m:t>,</m:t>
                    </m:r>
                    <m:sSub>
                      <m:sSubPr>
                        <m:ctrlPr>
                          <a:rPr lang="en-US" altLang="zh-CN" sz="4400" i="1">
                            <a:solidFill>
                              <a:schemeClr val="tx1"/>
                            </a:solidFill>
                            <a:latin typeface="Cambria Math" panose="02040503050406030204" pitchFamily="18" charset="0"/>
                            <a:cs typeface="Times New Roman" panose="02020603050405020304" pitchFamily="18" charset="0"/>
                            <a:sym typeface="+mn-lt"/>
                          </a:rPr>
                        </m:ctrlPr>
                      </m:sSubPr>
                      <m:e>
                        <m:r>
                          <a:rPr lang="en-US" altLang="zh-CN" sz="4400" b="1">
                            <a:solidFill>
                              <a:schemeClr val="tx1"/>
                            </a:solidFill>
                            <a:latin typeface="Cambria Math" panose="02040503050406030204" pitchFamily="18" charset="0"/>
                            <a:cs typeface="Times New Roman" panose="02020603050405020304" pitchFamily="18" charset="0"/>
                            <a:sym typeface="+mn-lt"/>
                          </a:rPr>
                          <m:t>𝐏</m:t>
                        </m:r>
                      </m:e>
                      <m:sub>
                        <m:r>
                          <a:rPr lang="en-US" altLang="zh-CN" sz="4400" b="1" i="1" smtClean="0">
                            <a:solidFill>
                              <a:schemeClr val="tx1"/>
                            </a:solidFill>
                            <a:latin typeface="Cambria Math" panose="02040503050406030204" pitchFamily="18" charset="0"/>
                            <a:cs typeface="Times New Roman" panose="02020603050405020304" pitchFamily="18" charset="0"/>
                            <a:sym typeface="+mn-lt"/>
                          </a:rPr>
                          <m:t>𝟐</m:t>
                        </m:r>
                      </m:sub>
                    </m:sSub>
                    <m:r>
                      <a:rPr lang="en-US" altLang="zh-CN" sz="4400" b="1" i="1" smtClean="0">
                        <a:solidFill>
                          <a:schemeClr val="tx1"/>
                        </a:solidFill>
                        <a:latin typeface="Cambria Math" panose="02040503050406030204" pitchFamily="18" charset="0"/>
                        <a:cs typeface="Times New Roman" panose="02020603050405020304" pitchFamily="18" charset="0"/>
                        <a:sym typeface="+mn-lt"/>
                      </a:rPr>
                      <m:t>=(</m:t>
                    </m:r>
                    <m:r>
                      <a:rPr lang="en-US" altLang="zh-CN" sz="4400" b="0" i="1" smtClean="0">
                        <a:solidFill>
                          <a:schemeClr val="tx1"/>
                        </a:solidFill>
                        <a:latin typeface="Cambria Math" panose="02040503050406030204" pitchFamily="18" charset="0"/>
                        <a:cs typeface="Times New Roman" panose="02020603050405020304" pitchFamily="18" charset="0"/>
                        <a:sym typeface="+mn-lt"/>
                      </a:rPr>
                      <m:t>1,1)</m:t>
                    </m:r>
                  </m:oMath>
                </a14:m>
                <a:endParaRPr lang="en-US" altLang="zh-CN" sz="4400" dirty="0">
                  <a:solidFill>
                    <a:srgbClr val="000000"/>
                  </a:solidFill>
                </a:endParaRPr>
              </a:p>
              <a:p>
                <a:pPr marL="952500" lvl="1" indent="-609600">
                  <a:lnSpc>
                    <a:spcPct val="150000"/>
                  </a:lnSpc>
                  <a:buClrTx/>
                  <a:buSzPct val="123000"/>
                </a:pPr>
                <a14:m>
                  <m:oMath xmlns:m="http://schemas.openxmlformats.org/officeDocument/2006/math">
                    <m:r>
                      <a:rPr lang="en-US" altLang="zh-CN" sz="4000" b="1" i="1">
                        <a:solidFill>
                          <a:schemeClr val="tx1"/>
                        </a:solidFill>
                        <a:latin typeface="Cambria Math" panose="02040503050406030204" pitchFamily="18" charset="0"/>
                        <a:cs typeface="Times New Roman" panose="02020603050405020304" pitchFamily="18" charset="0"/>
                        <a:sym typeface="+mn-lt"/>
                      </a:rPr>
                      <m:t>𝐁</m:t>
                    </m:r>
                    <m:d>
                      <m:dPr>
                        <m:ctrlPr>
                          <a:rPr lang="en-US" altLang="zh-CN" sz="4000" i="1">
                            <a:solidFill>
                              <a:schemeClr val="tx1"/>
                            </a:solidFill>
                            <a:latin typeface="Cambria Math" panose="02040503050406030204" pitchFamily="18" charset="0"/>
                            <a:cs typeface="Times New Roman" panose="02020603050405020304" pitchFamily="18" charset="0"/>
                            <a:sym typeface="+mn-lt"/>
                          </a:rPr>
                        </m:ctrlPr>
                      </m:dPr>
                      <m:e>
                        <m:r>
                          <a:rPr lang="en-US" altLang="zh-CN" sz="4000">
                            <a:solidFill>
                              <a:schemeClr val="tx1"/>
                            </a:solidFill>
                            <a:latin typeface="Cambria Math" panose="02040503050406030204" pitchFamily="18" charset="0"/>
                            <a:cs typeface="Times New Roman" panose="02020603050405020304" pitchFamily="18" charset="0"/>
                            <a:sym typeface="+mn-lt"/>
                          </a:rPr>
                          <m:t>𝑡</m:t>
                        </m:r>
                      </m:e>
                    </m:d>
                    <m:r>
                      <a:rPr lang="en-US" altLang="zh-CN" sz="4000" i="1">
                        <a:solidFill>
                          <a:schemeClr val="tx1"/>
                        </a:solidFill>
                        <a:latin typeface="Cambria Math" panose="02040503050406030204" pitchFamily="18" charset="0"/>
                        <a:cs typeface="Times New Roman" panose="02020603050405020304" pitchFamily="18" charset="0"/>
                        <a:sym typeface="+mn-lt"/>
                      </a:rPr>
                      <m:t>=</m:t>
                    </m:r>
                    <m:r>
                      <a:rPr lang="en-US" altLang="zh-CN" sz="4000" b="0" i="1" smtClean="0">
                        <a:solidFill>
                          <a:schemeClr val="tx1"/>
                        </a:solidFill>
                        <a:latin typeface="Cambria Math" panose="02040503050406030204" pitchFamily="18" charset="0"/>
                        <a:cs typeface="Times New Roman" panose="02020603050405020304" pitchFamily="18" charset="0"/>
                        <a:sym typeface="+mn-lt"/>
                      </a:rPr>
                      <m:t>(</m:t>
                    </m:r>
                    <m:r>
                      <a:rPr lang="en-US" altLang="zh-CN" sz="4000" b="0" i="1" smtClean="0">
                        <a:solidFill>
                          <a:schemeClr val="tx1"/>
                        </a:solidFill>
                        <a:latin typeface="Cambria Math" panose="02040503050406030204" pitchFamily="18" charset="0"/>
                        <a:cs typeface="Times New Roman" panose="02020603050405020304" pitchFamily="18" charset="0"/>
                        <a:sym typeface="+mn-lt"/>
                      </a:rPr>
                      <m:t>𝑡</m:t>
                    </m:r>
                    <m:r>
                      <a:rPr lang="en-US" altLang="zh-CN" sz="4000" b="0" i="1" smtClean="0">
                        <a:solidFill>
                          <a:schemeClr val="tx1"/>
                        </a:solidFill>
                        <a:latin typeface="Cambria Math" panose="02040503050406030204" pitchFamily="18" charset="0"/>
                        <a:cs typeface="Times New Roman" panose="02020603050405020304" pitchFamily="18" charset="0"/>
                        <a:sym typeface="+mn-lt"/>
                      </a:rPr>
                      <m:t>,</m:t>
                    </m:r>
                    <m:sSup>
                      <m:sSupPr>
                        <m:ctrlPr>
                          <a:rPr lang="en-US" altLang="zh-CN" sz="4000" b="0" i="1" smtClean="0">
                            <a:solidFill>
                              <a:schemeClr val="tx1"/>
                            </a:solidFill>
                            <a:latin typeface="Cambria Math" panose="02040503050406030204" pitchFamily="18" charset="0"/>
                            <a:cs typeface="Times New Roman" panose="02020603050405020304" pitchFamily="18" charset="0"/>
                            <a:sym typeface="+mn-lt"/>
                          </a:rPr>
                        </m:ctrlPr>
                      </m:sSupPr>
                      <m:e>
                        <m:r>
                          <a:rPr lang="en-US" altLang="zh-CN" sz="4000" b="0" i="1" smtClean="0">
                            <a:solidFill>
                              <a:schemeClr val="tx1"/>
                            </a:solidFill>
                            <a:latin typeface="Cambria Math" panose="02040503050406030204" pitchFamily="18" charset="0"/>
                            <a:cs typeface="Times New Roman" panose="02020603050405020304" pitchFamily="18" charset="0"/>
                            <a:sym typeface="+mn-lt"/>
                          </a:rPr>
                          <m:t>𝑡</m:t>
                        </m:r>
                      </m:e>
                      <m:sup>
                        <m:r>
                          <a:rPr lang="en-US" altLang="zh-CN" sz="4000" b="0" i="1" smtClean="0">
                            <a:solidFill>
                              <a:schemeClr val="tx1"/>
                            </a:solidFill>
                            <a:latin typeface="Cambria Math" panose="02040503050406030204" pitchFamily="18" charset="0"/>
                            <a:cs typeface="Times New Roman" panose="02020603050405020304" pitchFamily="18" charset="0"/>
                            <a:sym typeface="+mn-lt"/>
                          </a:rPr>
                          <m:t>2</m:t>
                        </m:r>
                      </m:sup>
                    </m:sSup>
                    <m:r>
                      <a:rPr lang="en-US" altLang="zh-CN" sz="4000" b="0" i="1" smtClean="0">
                        <a:solidFill>
                          <a:schemeClr val="tx1"/>
                        </a:solidFill>
                        <a:latin typeface="Cambria Math" panose="02040503050406030204" pitchFamily="18" charset="0"/>
                        <a:cs typeface="Times New Roman" panose="02020603050405020304" pitchFamily="18" charset="0"/>
                        <a:sym typeface="+mn-lt"/>
                      </a:rPr>
                      <m:t>)</m:t>
                    </m:r>
                  </m:oMath>
                </a14:m>
                <a:r>
                  <a:rPr lang="en-US" altLang="zh-CN" sz="4000" dirty="0">
                    <a:solidFill>
                      <a:srgbClr val="000000"/>
                    </a:solidFill>
                  </a:rPr>
                  <a:t>, satisfies the equation </a:t>
                </a:r>
                <a14:m>
                  <m:oMath xmlns:m="http://schemas.openxmlformats.org/officeDocument/2006/math">
                    <m:sSup>
                      <m:sSupPr>
                        <m:ctrlPr>
                          <a:rPr lang="en-US" altLang="zh-CN" sz="4000" b="0" i="1" smtClean="0">
                            <a:solidFill>
                              <a:srgbClr val="000000"/>
                            </a:solidFill>
                            <a:latin typeface="Cambria Math" panose="02040503050406030204" pitchFamily="18" charset="0"/>
                            <a:cs typeface="+mn-cs"/>
                          </a:rPr>
                        </m:ctrlPr>
                      </m:sSupPr>
                      <m:e>
                        <m:r>
                          <a:rPr lang="en-US" altLang="zh-CN" sz="4000" b="0" i="1" smtClean="0">
                            <a:solidFill>
                              <a:srgbClr val="000000"/>
                            </a:solidFill>
                            <a:latin typeface="Cambria Math" panose="02040503050406030204" pitchFamily="18" charset="0"/>
                            <a:cs typeface="+mn-cs"/>
                          </a:rPr>
                          <m:t>𝑓</m:t>
                        </m:r>
                        <m:d>
                          <m:dPr>
                            <m:ctrlPr>
                              <a:rPr lang="en-US" altLang="zh-CN" sz="4000" b="0" i="1" smtClean="0">
                                <a:solidFill>
                                  <a:srgbClr val="000000"/>
                                </a:solidFill>
                                <a:latin typeface="Cambria Math" panose="02040503050406030204" pitchFamily="18" charset="0"/>
                                <a:cs typeface="+mn-cs"/>
                              </a:rPr>
                            </m:ctrlPr>
                          </m:dPr>
                          <m:e>
                            <m:r>
                              <a:rPr lang="en-US" altLang="zh-CN" sz="4000" b="0" i="1" smtClean="0">
                                <a:solidFill>
                                  <a:srgbClr val="000000"/>
                                </a:solidFill>
                                <a:latin typeface="Cambria Math" panose="02040503050406030204" pitchFamily="18" charset="0"/>
                                <a:cs typeface="+mn-cs"/>
                              </a:rPr>
                              <m:t>𝑢</m:t>
                            </m:r>
                            <m:r>
                              <a:rPr lang="en-US" altLang="zh-CN" sz="4000" b="0" i="1" smtClean="0">
                                <a:solidFill>
                                  <a:srgbClr val="000000"/>
                                </a:solidFill>
                                <a:latin typeface="Cambria Math" panose="02040503050406030204" pitchFamily="18" charset="0"/>
                                <a:cs typeface="+mn-cs"/>
                              </a:rPr>
                              <m:t>,</m:t>
                            </m:r>
                            <m:r>
                              <a:rPr lang="en-US" altLang="zh-CN" sz="4000" b="0" i="1" smtClean="0">
                                <a:solidFill>
                                  <a:srgbClr val="000000"/>
                                </a:solidFill>
                                <a:latin typeface="Cambria Math" panose="02040503050406030204" pitchFamily="18" charset="0"/>
                                <a:cs typeface="+mn-cs"/>
                              </a:rPr>
                              <m:t>𝑣</m:t>
                            </m:r>
                          </m:e>
                        </m:d>
                        <m:r>
                          <a:rPr lang="en-US" altLang="zh-CN" sz="4000" b="0" i="1" smtClean="0">
                            <a:solidFill>
                              <a:srgbClr val="000000"/>
                            </a:solidFill>
                            <a:latin typeface="Cambria Math" panose="02040503050406030204" pitchFamily="18" charset="0"/>
                            <a:cs typeface="+mn-cs"/>
                          </a:rPr>
                          <m:t>=</m:t>
                        </m:r>
                        <m:r>
                          <a:rPr lang="en-US" altLang="zh-CN" sz="4000" b="0" i="1" smtClean="0">
                            <a:solidFill>
                              <a:srgbClr val="000000"/>
                            </a:solidFill>
                            <a:latin typeface="Cambria Math" panose="02040503050406030204" pitchFamily="18" charset="0"/>
                            <a:cs typeface="+mn-cs"/>
                          </a:rPr>
                          <m:t>𝑢</m:t>
                        </m:r>
                      </m:e>
                      <m:sup>
                        <m:r>
                          <a:rPr lang="en-US" altLang="zh-CN" sz="4000" b="0" i="1" smtClean="0">
                            <a:solidFill>
                              <a:srgbClr val="000000"/>
                            </a:solidFill>
                            <a:latin typeface="Cambria Math" panose="02040503050406030204" pitchFamily="18" charset="0"/>
                            <a:cs typeface="+mn-cs"/>
                          </a:rPr>
                          <m:t>2</m:t>
                        </m:r>
                      </m:sup>
                    </m:sSup>
                    <m:r>
                      <a:rPr lang="en-US" altLang="zh-CN" sz="4000" b="0" i="1" smtClean="0">
                        <a:solidFill>
                          <a:srgbClr val="000000"/>
                        </a:solidFill>
                        <a:latin typeface="Cambria Math" panose="02040503050406030204" pitchFamily="18" charset="0"/>
                        <a:cs typeface="+mn-cs"/>
                      </a:rPr>
                      <m:t>−</m:t>
                    </m:r>
                    <m:r>
                      <a:rPr lang="en-US" altLang="zh-CN" sz="4000" b="0" i="1" smtClean="0">
                        <a:solidFill>
                          <a:srgbClr val="000000"/>
                        </a:solidFill>
                        <a:latin typeface="Cambria Math" panose="02040503050406030204" pitchFamily="18" charset="0"/>
                        <a:cs typeface="+mn-cs"/>
                      </a:rPr>
                      <m:t>𝑣</m:t>
                    </m:r>
                    <m:r>
                      <a:rPr lang="en-US" altLang="zh-CN" sz="4000" b="0" i="1" smtClean="0">
                        <a:solidFill>
                          <a:srgbClr val="000000"/>
                        </a:solidFill>
                        <a:latin typeface="Cambria Math" panose="02040503050406030204" pitchFamily="18" charset="0"/>
                        <a:cs typeface="+mn-cs"/>
                      </a:rPr>
                      <m:t>=0</m:t>
                    </m:r>
                  </m:oMath>
                </a14:m>
                <a:endParaRPr lang="en-US" altLang="zh-CN" sz="4000" dirty="0">
                  <a:solidFill>
                    <a:srgbClr val="000000"/>
                  </a:solidFill>
                </a:endParaRPr>
              </a:p>
            </p:txBody>
          </p:sp>
        </mc:Choice>
        <mc:Fallback xmlns="">
          <p:sp>
            <p:nvSpPr>
              <p:cNvPr id="7" name="내용 개체 틀 2">
                <a:extLst>
                  <a:ext uri="{FF2B5EF4-FFF2-40B4-BE49-F238E27FC236}">
                    <a16:creationId xmlns:a16="http://schemas.microsoft.com/office/drawing/2014/main" id="{F2CE1F48-3689-89EA-0E0F-FEAFA1496C9F}"/>
                  </a:ext>
                </a:extLst>
              </p:cNvPr>
              <p:cNvSpPr txBox="1">
                <a:spLocks noRot="1" noChangeAspect="1" noMove="1" noResize="1" noEditPoints="1" noAdjustHandles="1" noChangeArrowheads="1" noChangeShapeType="1" noTextEdit="1"/>
              </p:cNvSpPr>
              <p:nvPr/>
            </p:nvSpPr>
            <p:spPr>
              <a:xfrm>
                <a:off x="1618325" y="2551738"/>
                <a:ext cx="21137766" cy="8612523"/>
              </a:xfrm>
              <a:prstGeom prst="rect">
                <a:avLst/>
              </a:prstGeom>
              <a:blipFill>
                <a:blip r:embed="rId9"/>
                <a:stretch>
                  <a:fillRect l="-1557" t="-283"/>
                </a:stretch>
              </a:blipFill>
            </p:spPr>
            <p:txBody>
              <a:bodyPr/>
              <a:lstStyle/>
              <a:p>
                <a:r>
                  <a:rPr lang="zh-CN" altLang="en-US">
                    <a:noFill/>
                  </a:rPr>
                  <a:t> </a:t>
                </a:r>
              </a:p>
            </p:txBody>
          </p:sp>
        </mc:Fallback>
      </mc:AlternateContent>
      <p:sp>
        <p:nvSpPr>
          <p:cNvPr id="18" name="文本框 17">
            <a:extLst>
              <a:ext uri="{FF2B5EF4-FFF2-40B4-BE49-F238E27FC236}">
                <a16:creationId xmlns:a16="http://schemas.microsoft.com/office/drawing/2014/main" id="{5B725A96-35ED-CCE9-9E36-8A204D4AD1C1}"/>
              </a:ext>
            </a:extLst>
          </p:cNvPr>
          <p:cNvSpPr txBox="1"/>
          <p:nvPr/>
        </p:nvSpPr>
        <p:spPr>
          <a:xfrm>
            <a:off x="2716501" y="11846159"/>
            <a:ext cx="6156092"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Inside region of standard curve(Red)</a:t>
            </a:r>
            <a:endParaRPr lang="zh-CN" altLang="en-US" sz="2800" dirty="0">
              <a:solidFill>
                <a:schemeClr val="tx1"/>
              </a:solidFill>
              <a:latin typeface="Arial" panose="020B0604020202020204" pitchFamily="34" charset="0"/>
              <a:cs typeface="Arial" panose="020B0604020202020204" pitchFamily="34" charset="0"/>
            </a:endParaRPr>
          </a:p>
        </p:txBody>
      </p:sp>
      <p:cxnSp>
        <p:nvCxnSpPr>
          <p:cNvPr id="25" name="直接箭头连接符 24">
            <a:extLst>
              <a:ext uri="{FF2B5EF4-FFF2-40B4-BE49-F238E27FC236}">
                <a16:creationId xmlns:a16="http://schemas.microsoft.com/office/drawing/2014/main" id="{4578E190-96E5-F179-99DB-DF26AEAEAF34}"/>
              </a:ext>
            </a:extLst>
          </p:cNvPr>
          <p:cNvCxnSpPr>
            <a:cxnSpLocks/>
            <a:stCxn id="24" idx="1"/>
          </p:cNvCxnSpPr>
          <p:nvPr/>
        </p:nvCxnSpPr>
        <p:spPr>
          <a:xfrm flipH="1">
            <a:off x="9556613" y="8816219"/>
            <a:ext cx="5002460" cy="0"/>
          </a:xfrm>
          <a:prstGeom prst="straightConnector1">
            <a:avLst/>
          </a:prstGeom>
          <a:noFill/>
          <a:ln w="635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28" name="文本框 27">
            <a:extLst>
              <a:ext uri="{FF2B5EF4-FFF2-40B4-BE49-F238E27FC236}">
                <a16:creationId xmlns:a16="http://schemas.microsoft.com/office/drawing/2014/main" id="{8D287371-3752-6601-A500-EC3C99B30116}"/>
              </a:ext>
            </a:extLst>
          </p:cNvPr>
          <p:cNvSpPr txBox="1"/>
          <p:nvPr/>
        </p:nvSpPr>
        <p:spPr>
          <a:xfrm>
            <a:off x="14239475" y="11846159"/>
            <a:ext cx="5628847" cy="867930"/>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General case is reduced to standard case by affine transform </a:t>
            </a:r>
            <a:endParaRPr lang="zh-CN" altLang="en-US" sz="2800" dirty="0">
              <a:solidFill>
                <a:schemeClr val="tx1"/>
              </a:solidFill>
              <a:latin typeface="Arial" panose="020B0604020202020204" pitchFamily="34" charset="0"/>
              <a:cs typeface="Arial" panose="020B0604020202020204" pitchFamily="34" charset="0"/>
            </a:endParaRPr>
          </a:p>
        </p:txBody>
      </p:sp>
      <p:sp>
        <p:nvSpPr>
          <p:cNvPr id="29" name="文本框 28">
            <a:extLst>
              <a:ext uri="{FF2B5EF4-FFF2-40B4-BE49-F238E27FC236}">
                <a16:creationId xmlns:a16="http://schemas.microsoft.com/office/drawing/2014/main" id="{3B01A77E-B848-D43F-8124-9505F1630CF7}"/>
              </a:ext>
            </a:extLst>
          </p:cNvPr>
          <p:cNvSpPr txBox="1"/>
          <p:nvPr/>
        </p:nvSpPr>
        <p:spPr>
          <a:xfrm>
            <a:off x="10627236" y="8099631"/>
            <a:ext cx="2861213" cy="4820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ctr"/>
            <a:r>
              <a:rPr lang="en-US" altLang="zh-CN" sz="2800" dirty="0">
                <a:latin typeface="Arial" panose="020B0604020202020204" pitchFamily="34" charset="0"/>
                <a:cs typeface="Arial" panose="020B0604020202020204" pitchFamily="34" charset="0"/>
              </a:rPr>
              <a:t>Affine Transform</a:t>
            </a:r>
            <a:endParaRPr lang="zh-CN" altLang="en-US" sz="2800" dirty="0">
              <a:latin typeface="Arial" panose="020B0604020202020204" pitchFamily="34" charset="0"/>
              <a:cs typeface="Arial" panose="020B0604020202020204" pitchFamily="34" charset="0"/>
            </a:endParaRPr>
          </a:p>
        </p:txBody>
      </p:sp>
      <p:sp>
        <p:nvSpPr>
          <p:cNvPr id="4" name="文本框 7">
            <a:extLst>
              <a:ext uri="{FF2B5EF4-FFF2-40B4-BE49-F238E27FC236}">
                <a16:creationId xmlns:a16="http://schemas.microsoft.com/office/drawing/2014/main" id="{309999D1-1B4C-7BB6-9EE6-7EEE7E9D9DC3}"/>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Introduction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104387293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8" grpId="0"/>
      <p:bldP spid="2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97FE1-01EE-76A5-BE97-8028790E70E0}"/>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8EAAB0AF-9DF3-71C9-37F1-2FF451186612}"/>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EEDE573A-6EEF-1235-9D99-151863ABCEE2}"/>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FE5DF405-4756-3A66-7FE9-B63D41369708}"/>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47F51056-AB8E-AE87-2F27-86744F498B06}"/>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4A0438CA-6D9C-7A35-0F1E-2D92E8833381}"/>
                  </a:ext>
                </a:extLst>
              </p:cNvPr>
              <p:cNvSpPr txBox="1">
                <a:spLocks/>
              </p:cNvSpPr>
              <p:nvPr/>
            </p:nvSpPr>
            <p:spPr>
              <a:xfrm>
                <a:off x="1618325" y="2551738"/>
                <a:ext cx="21137766" cy="8612523"/>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Curvature of </a:t>
                </a:r>
                <a14:m>
                  <m:oMath xmlns:m="http://schemas.openxmlformats.org/officeDocument/2006/math">
                    <m:r>
                      <a:rPr lang="en-US" altLang="zh-CN" sz="4800">
                        <a:solidFill>
                          <a:srgbClr val="000000"/>
                        </a:solidFill>
                        <a:latin typeface="Cambria Math" panose="02040503050406030204" pitchFamily="18" charset="0"/>
                        <a:cs typeface="+mn-cs"/>
                      </a:rPr>
                      <m:t>𝐠</m:t>
                    </m:r>
                    <m:d>
                      <m:dPr>
                        <m:ctrlPr>
                          <a:rPr lang="en-US" altLang="zh-CN" sz="4800" i="1">
                            <a:solidFill>
                              <a:srgbClr val="000000"/>
                            </a:solidFill>
                            <a:latin typeface="Cambria Math" panose="02040503050406030204" pitchFamily="18" charset="0"/>
                            <a:cs typeface="+mn-cs"/>
                          </a:rPr>
                        </m:ctrlPr>
                      </m:dPr>
                      <m:e>
                        <m:r>
                          <m:rPr>
                            <m:sty m:val="p"/>
                          </m:rPr>
                          <a:rPr lang="en-US" altLang="zh-CN" sz="4800">
                            <a:solidFill>
                              <a:srgbClr val="000000"/>
                            </a:solidFill>
                            <a:latin typeface="Cambria Math" panose="02040503050406030204" pitchFamily="18" charset="0"/>
                            <a:cs typeface="+mn-cs"/>
                          </a:rPr>
                          <m:t>t</m:t>
                        </m:r>
                      </m:e>
                    </m:d>
                  </m:oMath>
                </a14:m>
                <a:r>
                  <a:rPr lang="zh-CN" altLang="en-US" sz="4800" dirty="0">
                    <a:solidFill>
                      <a:srgbClr val="000000"/>
                    </a:solidFill>
                  </a:rPr>
                  <a:t> </a:t>
                </a:r>
                <a:r>
                  <a:rPr lang="en-US" altLang="zh-CN" sz="4800" dirty="0">
                    <a:solidFill>
                      <a:srgbClr val="000000"/>
                    </a:solidFill>
                  </a:rPr>
                  <a:t>at</a:t>
                </a:r>
                <a14:m>
                  <m:oMath xmlns:m="http://schemas.openxmlformats.org/officeDocument/2006/math">
                    <m:r>
                      <a:rPr lang="en-US" altLang="zh-CN" sz="4800" b="0" i="0" smtClean="0">
                        <a:solidFill>
                          <a:srgbClr val="000000"/>
                        </a:solidFill>
                        <a:latin typeface="Cambria Math" panose="02040503050406030204" pitchFamily="18" charset="0"/>
                        <a:cs typeface="+mn-cs"/>
                      </a:rPr>
                      <m:t> </m:t>
                    </m:r>
                    <m:r>
                      <a:rPr lang="en-US" altLang="zh-CN" sz="4800">
                        <a:solidFill>
                          <a:srgbClr val="000000"/>
                        </a:solidFill>
                        <a:latin typeface="Cambria Math" panose="02040503050406030204" pitchFamily="18" charset="0"/>
                        <a:cs typeface="+mn-cs"/>
                      </a:rPr>
                      <m:t>𝐏</m:t>
                    </m:r>
                  </m:oMath>
                </a14:m>
                <a:endParaRPr lang="en-US" altLang="zh-CN" sz="4800" dirty="0">
                  <a:solidFill>
                    <a:srgbClr val="000000"/>
                  </a:solidFill>
                </a:endParaRPr>
              </a:p>
              <a:p>
                <a:pPr marL="609600" indent="-609600">
                  <a:lnSpc>
                    <a:spcPct val="150000"/>
                  </a:lnSpc>
                  <a:buClrTx/>
                  <a:buSzPct val="123000"/>
                  <a:buChar char="•"/>
                </a:pPr>
                <a14:m>
                  <m:oMath xmlns:m="http://schemas.openxmlformats.org/officeDocument/2006/math">
                    <m:r>
                      <a:rPr lang="en-US" altLang="zh-CN" sz="4800" i="1" smtClean="0">
                        <a:solidFill>
                          <a:schemeClr val="tx1"/>
                        </a:solidFill>
                        <a:latin typeface="Cambria Math" panose="02040503050406030204" pitchFamily="18" charset="0"/>
                      </a:rPr>
                      <m:t>𝜅</m:t>
                    </m:r>
                    <m:r>
                      <a:rPr lang="en-US" altLang="zh-CN" sz="4800" i="1" smtClean="0">
                        <a:solidFill>
                          <a:schemeClr val="tx1"/>
                        </a:solidFill>
                        <a:latin typeface="Cambria Math" panose="02040503050406030204" pitchFamily="18" charset="0"/>
                      </a:rPr>
                      <m:t>=</m:t>
                    </m:r>
                    <m:limLow>
                      <m:limLowPr>
                        <m:ctrlPr>
                          <a:rPr lang="en-US" altLang="zh-CN" sz="4800" i="1">
                            <a:solidFill>
                              <a:schemeClr val="tx1"/>
                            </a:solidFill>
                            <a:latin typeface="Cambria Math" panose="02040503050406030204" pitchFamily="18" charset="0"/>
                          </a:rPr>
                        </m:ctrlPr>
                      </m:limLowPr>
                      <m:e>
                        <m:r>
                          <m:rPr>
                            <m:sty m:val="p"/>
                          </m:rPr>
                          <a:rPr lang="en-US" altLang="zh-CN" sz="4800">
                            <a:solidFill>
                              <a:schemeClr val="tx1"/>
                            </a:solidFill>
                            <a:latin typeface="Cambria Math" panose="02040503050406030204" pitchFamily="18" charset="0"/>
                          </a:rPr>
                          <m:t>lim</m:t>
                        </m:r>
                      </m:e>
                      <m:lim>
                        <m:r>
                          <m:rPr>
                            <m:sty m:val="p"/>
                          </m:rPr>
                          <a:rPr lang="en-US" altLang="zh-CN" sz="4800">
                            <a:solidFill>
                              <a:schemeClr val="tx1"/>
                            </a:solidFill>
                            <a:latin typeface="Cambria Math" panose="02040503050406030204" pitchFamily="18" charset="0"/>
                          </a:rPr>
                          <m:t>Δ</m:t>
                        </m:r>
                        <m:r>
                          <a:rPr lang="en-US" altLang="zh-CN" sz="4800" i="1">
                            <a:solidFill>
                              <a:schemeClr val="tx1"/>
                            </a:solidFill>
                            <a:latin typeface="Cambria Math" panose="02040503050406030204" pitchFamily="18" charset="0"/>
                          </a:rPr>
                          <m:t>𝑠</m:t>
                        </m:r>
                        <m:r>
                          <a:rPr lang="en-US" altLang="zh-CN" sz="4800" i="1">
                            <a:solidFill>
                              <a:schemeClr val="tx1"/>
                            </a:solidFill>
                            <a:latin typeface="Cambria Math" panose="02040503050406030204" pitchFamily="18" charset="0"/>
                          </a:rPr>
                          <m:t>→0</m:t>
                        </m:r>
                      </m:lim>
                    </m:limLow>
                    <m:f>
                      <m:fPr>
                        <m:ctrlPr>
                          <a:rPr lang="en-US" altLang="zh-CN" sz="4800" i="1">
                            <a:solidFill>
                              <a:schemeClr val="tx1"/>
                            </a:solidFill>
                            <a:latin typeface="Cambria Math" panose="02040503050406030204" pitchFamily="18" charset="0"/>
                          </a:rPr>
                        </m:ctrlPr>
                      </m:fPr>
                      <m:num>
                        <m:r>
                          <m:rPr>
                            <m:sty m:val="p"/>
                          </m:rPr>
                          <a:rPr lang="en-US" altLang="zh-CN" sz="4800">
                            <a:solidFill>
                              <a:schemeClr val="tx1"/>
                            </a:solidFill>
                            <a:latin typeface="Cambria Math" panose="02040503050406030204" pitchFamily="18" charset="0"/>
                          </a:rPr>
                          <m:t>Δ</m:t>
                        </m:r>
                        <m:r>
                          <a:rPr lang="en-US" altLang="zh-CN" sz="4800" i="1">
                            <a:solidFill>
                              <a:schemeClr val="tx1"/>
                            </a:solidFill>
                            <a:latin typeface="Cambria Math" panose="02040503050406030204" pitchFamily="18" charset="0"/>
                          </a:rPr>
                          <m:t>𝛼</m:t>
                        </m:r>
                      </m:num>
                      <m:den>
                        <m:r>
                          <m:rPr>
                            <m:sty m:val="p"/>
                          </m:rPr>
                          <a:rPr lang="en-US" altLang="zh-CN" sz="4800">
                            <a:solidFill>
                              <a:schemeClr val="tx1"/>
                            </a:solidFill>
                            <a:latin typeface="Cambria Math" panose="02040503050406030204" pitchFamily="18" charset="0"/>
                          </a:rPr>
                          <m:t>Δ</m:t>
                        </m:r>
                        <m:r>
                          <a:rPr lang="en-US" altLang="zh-CN" sz="4800" i="1">
                            <a:solidFill>
                              <a:schemeClr val="tx1"/>
                            </a:solidFill>
                            <a:latin typeface="Cambria Math" panose="02040503050406030204" pitchFamily="18" charset="0"/>
                          </a:rPr>
                          <m:t>𝑠</m:t>
                        </m:r>
                      </m:den>
                    </m:f>
                  </m:oMath>
                </a14:m>
                <a:r>
                  <a:rPr lang="en-US" altLang="zh-CN" sz="4800" dirty="0">
                    <a:solidFill>
                      <a:schemeClr val="tx1"/>
                    </a:solidFill>
                  </a:rPr>
                  <a:t> is change rate of tangent angle</a:t>
                </a:r>
              </a:p>
              <a:p>
                <a:pPr marL="609600" indent="-609600">
                  <a:lnSpc>
                    <a:spcPct val="150000"/>
                  </a:lnSpc>
                  <a:buClrTx/>
                  <a:buSzPct val="123000"/>
                  <a:buFont typeface="Arial" panose="020B0604020202020204" pitchFamily="34" charset="0"/>
                  <a:buChar char="•"/>
                </a:pPr>
                <a14:m>
                  <m:oMath xmlns:m="http://schemas.openxmlformats.org/officeDocument/2006/math">
                    <m:nary>
                      <m:naryPr>
                        <m:limLoc m:val="undOvr"/>
                        <m:ctrlPr>
                          <a:rPr lang="zh-CN" altLang="en-US" sz="4800" i="1" smtClean="0">
                            <a:solidFill>
                              <a:schemeClr val="tx1"/>
                            </a:solidFill>
                            <a:latin typeface="Cambria Math" panose="02040503050406030204" pitchFamily="18" charset="0"/>
                          </a:rPr>
                        </m:ctrlPr>
                      </m:naryPr>
                      <m:sub>
                        <m:r>
                          <m:rPr>
                            <m:brk m:alnAt="24"/>
                          </m:rPr>
                          <a:rPr lang="en-US" altLang="zh-CN" sz="4800" i="1">
                            <a:solidFill>
                              <a:schemeClr val="tx1"/>
                            </a:solidFill>
                            <a:latin typeface="Cambria Math" panose="02040503050406030204" pitchFamily="18" charset="0"/>
                          </a:rPr>
                          <m:t>0</m:t>
                        </m:r>
                      </m:sub>
                      <m:sup>
                        <m:r>
                          <a:rPr lang="en-US" altLang="zh-CN" sz="4800" i="1">
                            <a:solidFill>
                              <a:schemeClr val="tx1"/>
                            </a:solidFill>
                            <a:latin typeface="Cambria Math" panose="02040503050406030204" pitchFamily="18" charset="0"/>
                          </a:rPr>
                          <m:t>𝑠</m:t>
                        </m:r>
                      </m:sup>
                      <m:e>
                        <m:r>
                          <a:rPr lang="en-US" altLang="zh-CN" sz="4800" i="1">
                            <a:solidFill>
                              <a:schemeClr val="tx1"/>
                            </a:solidFill>
                            <a:latin typeface="Cambria Math" panose="02040503050406030204" pitchFamily="18" charset="0"/>
                          </a:rPr>
                          <m:t>𝜅</m:t>
                        </m:r>
                        <m:r>
                          <a:rPr lang="en-US" altLang="zh-CN" sz="4800" i="1">
                            <a:solidFill>
                              <a:schemeClr val="tx1"/>
                            </a:solidFill>
                            <a:latin typeface="Cambria Math" panose="02040503050406030204" pitchFamily="18" charset="0"/>
                          </a:rPr>
                          <m:t>𝑑𝑠</m:t>
                        </m:r>
                      </m:e>
                    </m:nary>
                    <m:r>
                      <a:rPr lang="en-US" altLang="zh-CN" sz="4800" i="1">
                        <a:solidFill>
                          <a:schemeClr val="tx1"/>
                        </a:solidFill>
                        <a:latin typeface="Cambria Math" panose="02040503050406030204" pitchFamily="18" charset="0"/>
                      </a:rPr>
                      <m:t>=</m:t>
                    </m:r>
                    <m:nary>
                      <m:naryPr>
                        <m:limLoc m:val="undOvr"/>
                        <m:ctrlPr>
                          <a:rPr lang="zh-CN" altLang="en-US" sz="4800" i="1">
                            <a:solidFill>
                              <a:schemeClr val="tx1"/>
                            </a:solidFill>
                            <a:latin typeface="Cambria Math" panose="02040503050406030204" pitchFamily="18" charset="0"/>
                          </a:rPr>
                        </m:ctrlPr>
                      </m:naryPr>
                      <m:sub>
                        <m:r>
                          <m:rPr>
                            <m:brk m:alnAt="24"/>
                          </m:rPr>
                          <a:rPr lang="en-US" altLang="zh-CN" sz="4800" i="1">
                            <a:solidFill>
                              <a:schemeClr val="tx1"/>
                            </a:solidFill>
                            <a:latin typeface="Cambria Math" panose="02040503050406030204" pitchFamily="18" charset="0"/>
                          </a:rPr>
                          <m:t>0</m:t>
                        </m:r>
                      </m:sub>
                      <m:sup>
                        <m:r>
                          <a:rPr lang="en-US" altLang="zh-CN" sz="4800" i="1">
                            <a:solidFill>
                              <a:schemeClr val="tx1"/>
                            </a:solidFill>
                            <a:latin typeface="Cambria Math" panose="02040503050406030204" pitchFamily="18" charset="0"/>
                          </a:rPr>
                          <m:t>𝑠</m:t>
                        </m:r>
                      </m:sup>
                      <m:e>
                        <m:f>
                          <m:fPr>
                            <m:ctrlPr>
                              <a:rPr lang="en-US" altLang="zh-CN" sz="4800" i="1">
                                <a:solidFill>
                                  <a:schemeClr val="tx1"/>
                                </a:solidFill>
                                <a:latin typeface="Cambria Math" panose="02040503050406030204" pitchFamily="18" charset="0"/>
                              </a:rPr>
                            </m:ctrlPr>
                          </m:fPr>
                          <m:num>
                            <m:r>
                              <a:rPr lang="en-US" altLang="zh-CN" sz="4800" i="1">
                                <a:solidFill>
                                  <a:schemeClr val="tx1"/>
                                </a:solidFill>
                                <a:latin typeface="Cambria Math" panose="02040503050406030204" pitchFamily="18" charset="0"/>
                              </a:rPr>
                              <m:t>𝑑</m:t>
                            </m:r>
                            <m:r>
                              <a:rPr lang="en-US" altLang="zh-CN" sz="4800" i="1">
                                <a:solidFill>
                                  <a:schemeClr val="tx1"/>
                                </a:solidFill>
                                <a:latin typeface="Cambria Math" panose="02040503050406030204" pitchFamily="18" charset="0"/>
                              </a:rPr>
                              <m:t>𝛼</m:t>
                            </m:r>
                          </m:num>
                          <m:den>
                            <m:r>
                              <a:rPr lang="en-US" altLang="zh-CN" sz="4800" i="1">
                                <a:solidFill>
                                  <a:schemeClr val="tx1"/>
                                </a:solidFill>
                                <a:latin typeface="Cambria Math" panose="02040503050406030204" pitchFamily="18" charset="0"/>
                              </a:rPr>
                              <m:t>𝑑𝑠</m:t>
                            </m:r>
                          </m:den>
                        </m:f>
                        <m:r>
                          <a:rPr lang="en-US" altLang="zh-CN" sz="4800" i="1">
                            <a:solidFill>
                              <a:schemeClr val="tx1"/>
                            </a:solidFill>
                            <a:latin typeface="Cambria Math" panose="02040503050406030204" pitchFamily="18" charset="0"/>
                          </a:rPr>
                          <m:t>𝑑𝑠</m:t>
                        </m:r>
                      </m:e>
                    </m:nary>
                    <m:r>
                      <a:rPr lang="en-US" altLang="zh-CN" sz="4800" i="1">
                        <a:solidFill>
                          <a:schemeClr val="tx1"/>
                        </a:solidFill>
                        <a:latin typeface="Cambria Math" panose="02040503050406030204" pitchFamily="18" charset="0"/>
                      </a:rPr>
                      <m:t>=</m:t>
                    </m:r>
                    <m:nary>
                      <m:naryPr>
                        <m:limLoc m:val="undOvr"/>
                        <m:ctrlPr>
                          <a:rPr lang="zh-CN" altLang="en-US" sz="4800" i="1">
                            <a:solidFill>
                              <a:schemeClr val="tx1"/>
                            </a:solidFill>
                            <a:latin typeface="Cambria Math" panose="02040503050406030204" pitchFamily="18" charset="0"/>
                          </a:rPr>
                        </m:ctrlPr>
                      </m:naryPr>
                      <m:sub>
                        <m:r>
                          <m:rPr>
                            <m:brk m:alnAt="24"/>
                          </m:rPr>
                          <a:rPr lang="en-US" altLang="zh-CN" sz="4800" i="1">
                            <a:solidFill>
                              <a:schemeClr val="tx1"/>
                            </a:solidFill>
                            <a:latin typeface="Cambria Math" panose="02040503050406030204" pitchFamily="18" charset="0"/>
                          </a:rPr>
                          <m:t>0</m:t>
                        </m:r>
                      </m:sub>
                      <m:sup>
                        <m:r>
                          <a:rPr lang="en-US" altLang="zh-CN" sz="4800" i="1">
                            <a:solidFill>
                              <a:schemeClr val="tx1"/>
                            </a:solidFill>
                            <a:latin typeface="Cambria Math" panose="02040503050406030204" pitchFamily="18" charset="0"/>
                          </a:rPr>
                          <m:t>𝑠</m:t>
                        </m:r>
                      </m:sup>
                      <m:e>
                        <m:r>
                          <a:rPr lang="en-US" altLang="zh-CN" sz="4800" i="1">
                            <a:solidFill>
                              <a:schemeClr val="tx1"/>
                            </a:solidFill>
                            <a:latin typeface="Cambria Math" panose="02040503050406030204" pitchFamily="18" charset="0"/>
                          </a:rPr>
                          <m:t>𝑑</m:t>
                        </m:r>
                        <m:r>
                          <a:rPr lang="en-US" altLang="zh-CN" sz="4800" i="1">
                            <a:solidFill>
                              <a:schemeClr val="tx1"/>
                            </a:solidFill>
                            <a:latin typeface="Cambria Math" panose="02040503050406030204" pitchFamily="18" charset="0"/>
                          </a:rPr>
                          <m:t>𝛼</m:t>
                        </m:r>
                      </m:e>
                    </m:nary>
                    <m:r>
                      <a:rPr lang="en-US" altLang="zh-CN" sz="4800" i="1">
                        <a:solidFill>
                          <a:schemeClr val="tx1"/>
                        </a:solidFill>
                        <a:latin typeface="Cambria Math" panose="02040503050406030204" pitchFamily="18" charset="0"/>
                      </a:rPr>
                      <m:t>=</m:t>
                    </m:r>
                    <m:r>
                      <a:rPr lang="en-US" altLang="zh-CN" sz="4800" i="1">
                        <a:solidFill>
                          <a:schemeClr val="tx1"/>
                        </a:solidFill>
                        <a:latin typeface="Cambria Math" panose="02040503050406030204" pitchFamily="18" charset="0"/>
                      </a:rPr>
                      <m:t>𝜑</m:t>
                    </m:r>
                  </m:oMath>
                </a14:m>
                <a:endParaRPr lang="en-US" altLang="zh-CN" sz="4800" dirty="0">
                  <a:solidFill>
                    <a:schemeClr val="tx1"/>
                  </a:solidFill>
                </a:endParaRPr>
              </a:p>
              <a:p>
                <a:pPr marL="609600" indent="-609600">
                  <a:lnSpc>
                    <a:spcPct val="150000"/>
                  </a:lnSpc>
                  <a:buClrTx/>
                  <a:buSzPct val="123000"/>
                  <a:buChar char="•"/>
                </a:pPr>
                <a14:m>
                  <m:oMath xmlns:m="http://schemas.openxmlformats.org/officeDocument/2006/math">
                    <m:r>
                      <a:rPr lang="en-US" altLang="zh-CN" sz="4800" i="1">
                        <a:solidFill>
                          <a:schemeClr val="tx1"/>
                        </a:solidFill>
                        <a:latin typeface="Cambria Math" panose="02040503050406030204" pitchFamily="18" charset="0"/>
                      </a:rPr>
                      <m:t>𝜑</m:t>
                    </m:r>
                    <m:r>
                      <a:rPr lang="en-US" altLang="zh-CN" sz="4800" b="0" i="0" smtClean="0">
                        <a:solidFill>
                          <a:schemeClr val="tx1"/>
                        </a:solidFill>
                        <a:latin typeface="Cambria Math" panose="02040503050406030204" pitchFamily="18" charset="0"/>
                      </a:rPr>
                      <m:t>:</m:t>
                    </m:r>
                  </m:oMath>
                </a14:m>
                <a:r>
                  <a:rPr lang="en-US" altLang="zh-CN" sz="4800" dirty="0">
                    <a:solidFill>
                      <a:schemeClr val="tx1"/>
                    </a:solidFill>
                  </a:rPr>
                  <a:t> angle between</a:t>
                </a:r>
                <a14:m>
                  <m:oMath xmlns:m="http://schemas.openxmlformats.org/officeDocument/2006/math">
                    <m:r>
                      <a:rPr lang="en-US" altLang="zh-CN" sz="4800" b="0" i="0" dirty="0" smtClean="0">
                        <a:solidFill>
                          <a:schemeClr val="tx1"/>
                        </a:solidFill>
                        <a:latin typeface="Cambria Math" panose="02040503050406030204" pitchFamily="18" charset="0"/>
                        <a:cs typeface="+mn-cs"/>
                      </a:rPr>
                      <m:t> </m:t>
                    </m:r>
                    <m:r>
                      <a:rPr lang="zh-CN" altLang="en-US" sz="4800" i="1" dirty="0" smtClean="0">
                        <a:solidFill>
                          <a:schemeClr val="tx1"/>
                        </a:solidFill>
                        <a:latin typeface="Cambria Math" panose="02040503050406030204" pitchFamily="18" charset="0"/>
                        <a:cs typeface="+mn-cs"/>
                      </a:rPr>
                      <m:t>𝐠</m:t>
                    </m:r>
                    <m:r>
                      <a:rPr lang="en-US" altLang="zh-CN" sz="4800" i="1" dirty="0">
                        <a:solidFill>
                          <a:schemeClr val="tx1"/>
                        </a:solidFill>
                        <a:latin typeface="Cambria Math" panose="02040503050406030204" pitchFamily="18" charset="0"/>
                        <a:cs typeface="+mn-cs"/>
                      </a:rPr>
                      <m:t>′(0</m:t>
                    </m:r>
                    <m:r>
                      <a:rPr lang="en-US" altLang="zh-CN" sz="4800" i="1" dirty="0" smtClean="0">
                        <a:solidFill>
                          <a:schemeClr val="tx1"/>
                        </a:solidFill>
                        <a:latin typeface="Cambria Math" panose="02040503050406030204" pitchFamily="18" charset="0"/>
                        <a:cs typeface="+mn-cs"/>
                      </a:rPr>
                      <m:t>)</m:t>
                    </m:r>
                  </m:oMath>
                </a14:m>
                <a:r>
                  <a:rPr lang="zh-CN" altLang="en-US" sz="4800" dirty="0">
                    <a:solidFill>
                      <a:schemeClr val="tx1"/>
                    </a:solidFill>
                  </a:rPr>
                  <a:t> </a:t>
                </a:r>
                <a:r>
                  <a:rPr lang="en-US" altLang="zh-CN" sz="4800" dirty="0">
                    <a:solidFill>
                      <a:schemeClr val="tx1"/>
                    </a:solidFill>
                  </a:rPr>
                  <a:t>and </a:t>
                </a:r>
                <a14:m>
                  <m:oMath xmlns:m="http://schemas.openxmlformats.org/officeDocument/2006/math">
                    <m:r>
                      <a:rPr lang="zh-CN" altLang="en-US" sz="4800" i="1" dirty="0" smtClean="0">
                        <a:solidFill>
                          <a:schemeClr val="tx1"/>
                        </a:solidFill>
                        <a:latin typeface="Cambria Math" panose="02040503050406030204" pitchFamily="18" charset="0"/>
                        <a:cs typeface="+mn-cs"/>
                      </a:rPr>
                      <m:t>𝐠</m:t>
                    </m:r>
                    <m:r>
                      <a:rPr lang="en-US" altLang="zh-CN" sz="4800" i="1" dirty="0">
                        <a:solidFill>
                          <a:schemeClr val="tx1"/>
                        </a:solidFill>
                        <a:latin typeface="Cambria Math" panose="02040503050406030204" pitchFamily="18" charset="0"/>
                        <a:cs typeface="+mn-cs"/>
                      </a:rPr>
                      <m:t>′(1</m:t>
                    </m:r>
                    <m:r>
                      <a:rPr lang="en-US" altLang="zh-CN" sz="4800" i="1" dirty="0" smtClean="0">
                        <a:solidFill>
                          <a:schemeClr val="tx1"/>
                        </a:solidFill>
                        <a:latin typeface="Cambria Math" panose="02040503050406030204" pitchFamily="18" charset="0"/>
                        <a:cs typeface="+mn-cs"/>
                      </a:rPr>
                      <m:t>)</m:t>
                    </m:r>
                  </m:oMath>
                </a14:m>
                <a:r>
                  <a:rPr lang="en-US" altLang="zh-CN" sz="4800" dirty="0">
                    <a:solidFill>
                      <a:schemeClr val="tx1"/>
                    </a:solidFill>
                  </a:rPr>
                  <a:t>, the “turning angle”</a:t>
                </a:r>
              </a:p>
            </p:txBody>
          </p:sp>
        </mc:Choice>
        <mc:Fallback xmlns="">
          <p:sp>
            <p:nvSpPr>
              <p:cNvPr id="7" name="내용 개체 틀 2">
                <a:extLst>
                  <a:ext uri="{FF2B5EF4-FFF2-40B4-BE49-F238E27FC236}">
                    <a16:creationId xmlns:a16="http://schemas.microsoft.com/office/drawing/2014/main" id="{4A0438CA-6D9C-7A35-0F1E-2D92E8833381}"/>
                  </a:ext>
                </a:extLst>
              </p:cNvPr>
              <p:cNvSpPr txBox="1">
                <a:spLocks noRot="1" noChangeAspect="1" noMove="1" noResize="1" noEditPoints="1" noAdjustHandles="1" noChangeArrowheads="1" noChangeShapeType="1" noTextEdit="1"/>
              </p:cNvSpPr>
              <p:nvPr/>
            </p:nvSpPr>
            <p:spPr>
              <a:xfrm>
                <a:off x="1618325" y="2551738"/>
                <a:ext cx="21137766" cy="8612523"/>
              </a:xfrm>
              <a:prstGeom prst="rect">
                <a:avLst/>
              </a:prstGeom>
              <a:blipFill>
                <a:blip r:embed="rId5"/>
                <a:stretch>
                  <a:fillRect l="-1557" t="-283"/>
                </a:stretch>
              </a:blipFill>
            </p:spPr>
            <p:txBody>
              <a:bodyPr/>
              <a:lstStyle/>
              <a:p>
                <a:r>
                  <a:rPr lang="zh-CN" altLang="en-US">
                    <a:noFill/>
                  </a:rPr>
                  <a:t> </a:t>
                </a:r>
              </a:p>
            </p:txBody>
          </p:sp>
        </mc:Fallback>
      </mc:AlternateContent>
      <p:pic>
        <p:nvPicPr>
          <p:cNvPr id="19" name="图形 18">
            <a:extLst>
              <a:ext uri="{FF2B5EF4-FFF2-40B4-BE49-F238E27FC236}">
                <a16:creationId xmlns:a16="http://schemas.microsoft.com/office/drawing/2014/main" id="{A1CC9F42-7E90-D624-F808-5D85C599BAC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69505" y="2757152"/>
            <a:ext cx="9382125" cy="5610225"/>
          </a:xfrm>
          <a:prstGeom prst="rect">
            <a:avLst/>
          </a:prstGeom>
        </p:spPr>
      </p:pic>
      <p:pic>
        <p:nvPicPr>
          <p:cNvPr id="32" name="图形 31">
            <a:extLst>
              <a:ext uri="{FF2B5EF4-FFF2-40B4-BE49-F238E27FC236}">
                <a16:creationId xmlns:a16="http://schemas.microsoft.com/office/drawing/2014/main" id="{C3BD6F54-8836-77D5-5E31-C85FEC02FA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03404" y="8086316"/>
            <a:ext cx="8461939" cy="5878901"/>
          </a:xfrm>
          <a:prstGeom prst="rect">
            <a:avLst/>
          </a:prstGeom>
        </p:spPr>
      </p:pic>
      <p:pic>
        <p:nvPicPr>
          <p:cNvPr id="3" name="图形 2">
            <a:extLst>
              <a:ext uri="{FF2B5EF4-FFF2-40B4-BE49-F238E27FC236}">
                <a16:creationId xmlns:a16="http://schemas.microsoft.com/office/drawing/2014/main" id="{8145AE71-D418-8D7C-4924-702178E0CF8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4698454" y="8981238"/>
            <a:ext cx="8057637" cy="4157254"/>
          </a:xfrm>
          <a:prstGeom prst="rect">
            <a:avLst/>
          </a:prstGeom>
        </p:spPr>
      </p:pic>
      <p:sp>
        <p:nvSpPr>
          <p:cNvPr id="2" name="文本框 7">
            <a:extLst>
              <a:ext uri="{FF2B5EF4-FFF2-40B4-BE49-F238E27FC236}">
                <a16:creationId xmlns:a16="http://schemas.microsoft.com/office/drawing/2014/main" id="{D048834B-128D-6924-C20F-34474C749D06}"/>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Introduction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32919114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510E7-82F9-9BAC-7372-AE449C65EF78}"/>
            </a:ext>
          </a:extLst>
        </p:cNvPr>
        <p:cNvGrpSpPr/>
        <p:nvPr/>
      </p:nvGrpSpPr>
      <p:grpSpPr>
        <a:xfrm>
          <a:off x="0" y="0"/>
          <a:ext cx="0" cy="0"/>
          <a:chOff x="0" y="0"/>
          <a:chExt cx="0" cy="0"/>
        </a:xfrm>
      </p:grpSpPr>
      <p:pic>
        <p:nvPicPr>
          <p:cNvPr id="2" name="图片 1">
            <a:extLst>
              <a:ext uri="{FF2B5EF4-FFF2-40B4-BE49-F238E27FC236}">
                <a16:creationId xmlns:a16="http://schemas.microsoft.com/office/drawing/2014/main" id="{15FAD4DD-5A19-3C20-E7F9-5ED866F10C25}"/>
              </a:ext>
            </a:extLst>
          </p:cNvPr>
          <p:cNvPicPr>
            <a:picLocks noChangeAspect="1"/>
          </p:cNvPicPr>
          <p:nvPr/>
        </p:nvPicPr>
        <p:blipFill>
          <a:blip r:embed="rId3"/>
          <a:stretch>
            <a:fillRect/>
          </a:stretch>
        </p:blipFill>
        <p:spPr>
          <a:xfrm>
            <a:off x="13602139" y="7042303"/>
            <a:ext cx="9011136" cy="2750448"/>
          </a:xfrm>
          <a:prstGeom prst="rect">
            <a:avLst/>
          </a:prstGeom>
        </p:spPr>
      </p:pic>
      <p:sp>
        <p:nvSpPr>
          <p:cNvPr id="198" name="直接连接符 5">
            <a:extLst>
              <a:ext uri="{FF2B5EF4-FFF2-40B4-BE49-F238E27FC236}">
                <a16:creationId xmlns:a16="http://schemas.microsoft.com/office/drawing/2014/main" id="{2886A53C-4084-A9D8-BDF9-C2CEFF369862}"/>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FCA79F8A-4F8D-B170-1138-CC1E4B9EDC7A}"/>
              </a:ext>
            </a:extLst>
          </p:cNvPr>
          <p:cNvPicPr>
            <a:picLocks noChangeAspect="1"/>
          </p:cNvPicPr>
          <p:nvPr/>
        </p:nvPicPr>
        <p:blipFill>
          <a:blip r:embed="rId4"/>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4EA96200-FA65-7CD1-7EB7-789872B8756C}"/>
              </a:ext>
            </a:extLst>
          </p:cNvPr>
          <p:cNvPicPr>
            <a:picLocks noChangeAspect="1"/>
          </p:cNvPicPr>
          <p:nvPr/>
        </p:nvPicPr>
        <p:blipFill>
          <a:blip r:embed="rId5"/>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E57F823F-76AC-7F60-3B5F-33244B0C207E}"/>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41E2BEB3-D073-112D-A114-0C7F3C126473}"/>
                  </a:ext>
                </a:extLst>
              </p:cNvPr>
              <p:cNvSpPr txBox="1">
                <a:spLocks/>
              </p:cNvSpPr>
              <p:nvPr/>
            </p:nvSpPr>
            <p:spPr>
              <a:xfrm>
                <a:off x="1618325" y="2551738"/>
                <a:ext cx="21137766" cy="967547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buClrTx/>
                  <a:buSzPct val="123000"/>
                  <a:buFont typeface="Arial" panose="020B0604020202020204" pitchFamily="34" charset="0"/>
                  <a:buChar char="•"/>
                </a:pPr>
                <a:r>
                  <a:rPr lang="en-US" altLang="zh-CN" sz="4800" dirty="0">
                    <a:solidFill>
                      <a:schemeClr val="tx1"/>
                    </a:solidFill>
                  </a:rPr>
                  <a:t>Dash style is described by arc-length</a:t>
                </a:r>
              </a:p>
              <a:p>
                <a:pPr lvl="1">
                  <a:lnSpc>
                    <a:spcPct val="150000"/>
                  </a:lnSpc>
                  <a:buClrTx/>
                  <a:buSzPct val="123000"/>
                </a:pPr>
                <a:r>
                  <a:rPr lang="en-US" altLang="zh-CN" sz="4400" dirty="0">
                    <a:solidFill>
                      <a:schemeClr val="tx1"/>
                    </a:solidFill>
                  </a:rPr>
                  <a:t>Requires arc-length parametrization</a:t>
                </a:r>
              </a:p>
              <a:p>
                <a:pPr marL="609600" indent="-609600">
                  <a:lnSpc>
                    <a:spcPct val="150000"/>
                  </a:lnSpc>
                  <a:buClrTx/>
                  <a:buSzPct val="123000"/>
                  <a:buFont typeface="Arial" panose="020B0604020202020204" pitchFamily="34" charset="0"/>
                  <a:buChar char="•"/>
                </a:pPr>
                <a:r>
                  <a:rPr lang="en-US" altLang="zh-CN" sz="4800" dirty="0">
                    <a:solidFill>
                      <a:schemeClr val="tx1"/>
                    </a:solidFill>
                  </a:rPr>
                  <a:t>Arc-length function </a:t>
                </a:r>
                <a14:m>
                  <m:oMath xmlns:m="http://schemas.openxmlformats.org/officeDocument/2006/math">
                    <m:r>
                      <a:rPr lang="en-US" altLang="zh-CN" sz="4800" b="0" i="1" smtClean="0">
                        <a:solidFill>
                          <a:schemeClr val="tx1"/>
                        </a:solidFill>
                        <a:latin typeface="Cambria Math" panose="02040503050406030204" pitchFamily="18" charset="0"/>
                      </a:rPr>
                      <m:t>𝑠</m:t>
                    </m:r>
                    <m:d>
                      <m:dPr>
                        <m:ctrlPr>
                          <a:rPr lang="en-US" altLang="zh-CN" sz="4800" b="0" i="1" smtClean="0">
                            <a:solidFill>
                              <a:schemeClr val="tx1"/>
                            </a:solidFill>
                            <a:latin typeface="Cambria Math" panose="02040503050406030204" pitchFamily="18" charset="0"/>
                          </a:rPr>
                        </m:ctrlPr>
                      </m:dPr>
                      <m:e>
                        <m:r>
                          <a:rPr lang="en-US" altLang="zh-CN" sz="4800" b="0" i="1" smtClean="0">
                            <a:solidFill>
                              <a:schemeClr val="tx1"/>
                            </a:solidFill>
                            <a:latin typeface="Cambria Math" panose="02040503050406030204" pitchFamily="18" charset="0"/>
                          </a:rPr>
                          <m:t>𝑡</m:t>
                        </m:r>
                      </m:e>
                    </m:d>
                    <m:r>
                      <a:rPr lang="en-US" altLang="zh-CN" sz="4800" b="0" i="1" smtClean="0">
                        <a:solidFill>
                          <a:schemeClr val="tx1"/>
                        </a:solidFill>
                        <a:latin typeface="Cambria Math" panose="02040503050406030204" pitchFamily="18" charset="0"/>
                      </a:rPr>
                      <m:t>=</m:t>
                    </m:r>
                    <m:nary>
                      <m:naryPr>
                        <m:ctrlPr>
                          <a:rPr lang="en-US" altLang="zh-CN" sz="4800" b="0" i="1" smtClean="0">
                            <a:solidFill>
                              <a:schemeClr val="tx1"/>
                            </a:solidFill>
                            <a:latin typeface="Cambria Math" panose="02040503050406030204" pitchFamily="18" charset="0"/>
                          </a:rPr>
                        </m:ctrlPr>
                      </m:naryPr>
                      <m:sub>
                        <m:r>
                          <m:rPr>
                            <m:brk m:alnAt="23"/>
                          </m:rPr>
                          <a:rPr lang="en-US" altLang="zh-CN" sz="4800" b="0" i="1" smtClean="0">
                            <a:solidFill>
                              <a:schemeClr val="tx1"/>
                            </a:solidFill>
                            <a:latin typeface="Cambria Math" panose="02040503050406030204" pitchFamily="18" charset="0"/>
                          </a:rPr>
                          <m:t>0</m:t>
                        </m:r>
                      </m:sub>
                      <m:sup>
                        <m:r>
                          <a:rPr lang="en-US" altLang="zh-CN" sz="4800" b="0" i="1" smtClean="0">
                            <a:solidFill>
                              <a:schemeClr val="tx1"/>
                            </a:solidFill>
                            <a:latin typeface="Cambria Math" panose="02040503050406030204" pitchFamily="18" charset="0"/>
                          </a:rPr>
                          <m:t>𝑡</m:t>
                        </m:r>
                      </m:sup>
                      <m:e>
                        <m:r>
                          <a:rPr lang="en-US" altLang="zh-CN" sz="4800" b="0" i="1" smtClean="0">
                            <a:solidFill>
                              <a:schemeClr val="tx1"/>
                            </a:solidFill>
                            <a:latin typeface="Cambria Math" panose="02040503050406030204" pitchFamily="18" charset="0"/>
                          </a:rPr>
                          <m:t>|</m:t>
                        </m:r>
                        <m:r>
                          <a:rPr lang="en-US" altLang="zh-CN" sz="4800">
                            <a:solidFill>
                              <a:srgbClr val="000000"/>
                            </a:solidFill>
                            <a:latin typeface="Cambria Math" panose="02040503050406030204" pitchFamily="18" charset="0"/>
                          </a:rPr>
                          <m:t>𝐠</m:t>
                        </m:r>
                        <m:r>
                          <a:rPr lang="en-US" altLang="zh-CN" sz="4800" b="0" i="1" smtClean="0">
                            <a:solidFill>
                              <a:srgbClr val="000000"/>
                            </a:solidFill>
                            <a:latin typeface="Cambria Math" panose="02040503050406030204" pitchFamily="18" charset="0"/>
                          </a:rPr>
                          <m:t>′(</m:t>
                        </m:r>
                        <m:r>
                          <a:rPr lang="en-US" altLang="zh-CN" sz="4800" b="0" i="1" smtClean="0">
                            <a:solidFill>
                              <a:srgbClr val="000000"/>
                            </a:solidFill>
                            <a:latin typeface="Cambria Math" panose="02040503050406030204" pitchFamily="18" charset="0"/>
                          </a:rPr>
                          <m:t>𝜏</m:t>
                        </m:r>
                        <m:r>
                          <a:rPr lang="en-US" altLang="zh-CN" sz="4800" b="0" i="1" smtClean="0">
                            <a:solidFill>
                              <a:srgbClr val="000000"/>
                            </a:solidFill>
                            <a:latin typeface="Cambria Math" panose="02040503050406030204" pitchFamily="18" charset="0"/>
                          </a:rPr>
                          <m:t>)|</m:t>
                        </m:r>
                        <m:r>
                          <a:rPr lang="en-US" altLang="zh-CN" sz="4800" b="0" i="1" smtClean="0">
                            <a:solidFill>
                              <a:schemeClr val="tx1"/>
                            </a:solidFill>
                            <a:latin typeface="Cambria Math" panose="02040503050406030204" pitchFamily="18" charset="0"/>
                          </a:rPr>
                          <m:t>𝑑</m:t>
                        </m:r>
                        <m:r>
                          <a:rPr lang="en-US" altLang="zh-CN" sz="4800" b="0" i="1" smtClean="0">
                            <a:solidFill>
                              <a:schemeClr val="tx1"/>
                            </a:solidFill>
                            <a:latin typeface="Cambria Math" panose="02040503050406030204" pitchFamily="18" charset="0"/>
                          </a:rPr>
                          <m:t>𝜏</m:t>
                        </m:r>
                      </m:e>
                    </m:nary>
                  </m:oMath>
                </a14:m>
                <a:r>
                  <a:rPr lang="en-US" altLang="zh-CN" sz="4800" dirty="0">
                    <a:solidFill>
                      <a:schemeClr val="tx1"/>
                    </a:solidFill>
                  </a:rPr>
                  <a:t>, with inverse</a:t>
                </a:r>
                <a:r>
                  <a:rPr lang="zh-CN" altLang="en-US" sz="4800" dirty="0">
                    <a:solidFill>
                      <a:schemeClr val="tx1"/>
                    </a:solidFill>
                  </a:rPr>
                  <a:t> </a:t>
                </a:r>
                <a14:m>
                  <m:oMath xmlns:m="http://schemas.openxmlformats.org/officeDocument/2006/math">
                    <m:r>
                      <a:rPr lang="en-US" altLang="zh-CN" sz="4800" i="1">
                        <a:solidFill>
                          <a:schemeClr val="tx1"/>
                        </a:solidFill>
                        <a:latin typeface="Cambria Math" panose="02040503050406030204" pitchFamily="18" charset="0"/>
                      </a:rPr>
                      <m:t>𝑡</m:t>
                    </m:r>
                    <m:r>
                      <a:rPr lang="en-US" altLang="zh-CN" sz="4800" i="1">
                        <a:solidFill>
                          <a:schemeClr val="tx1"/>
                        </a:solidFill>
                        <a:latin typeface="Cambria Math" panose="02040503050406030204" pitchFamily="18" charset="0"/>
                      </a:rPr>
                      <m:t>=</m:t>
                    </m:r>
                    <m:r>
                      <a:rPr lang="en-US" altLang="zh-CN" sz="4800" i="1">
                        <a:solidFill>
                          <a:schemeClr val="tx1"/>
                        </a:solidFill>
                        <a:latin typeface="Cambria Math" panose="02040503050406030204" pitchFamily="18" charset="0"/>
                      </a:rPr>
                      <m:t>𝑡</m:t>
                    </m:r>
                    <m:d>
                      <m:dPr>
                        <m:ctrlPr>
                          <a:rPr lang="en-US" altLang="zh-CN" sz="4800" i="1">
                            <a:solidFill>
                              <a:schemeClr val="tx1"/>
                            </a:solidFill>
                            <a:latin typeface="Cambria Math" panose="02040503050406030204" pitchFamily="18" charset="0"/>
                          </a:rPr>
                        </m:ctrlPr>
                      </m:dPr>
                      <m:e>
                        <m:r>
                          <a:rPr lang="en-US" altLang="zh-CN" sz="4800" i="1">
                            <a:solidFill>
                              <a:schemeClr val="tx1"/>
                            </a:solidFill>
                            <a:latin typeface="Cambria Math" panose="02040503050406030204" pitchFamily="18" charset="0"/>
                          </a:rPr>
                          <m:t>𝑠</m:t>
                        </m:r>
                      </m:e>
                    </m:d>
                  </m:oMath>
                </a14:m>
                <a:r>
                  <a:rPr lang="en-US" altLang="zh-CN" sz="4800" dirty="0">
                    <a:solidFill>
                      <a:schemeClr val="tx1"/>
                    </a:solidFill>
                  </a:rPr>
                  <a:t> </a:t>
                </a:r>
              </a:p>
              <a:p>
                <a:pPr marL="609600" indent="-609600">
                  <a:lnSpc>
                    <a:spcPct val="150000"/>
                  </a:lnSpc>
                  <a:buClrTx/>
                  <a:buSzPct val="123000"/>
                  <a:buChar char="•"/>
                </a:pPr>
                <a:endParaRPr lang="en-US" altLang="zh-CN" sz="4800" dirty="0">
                  <a:solidFill>
                    <a:schemeClr val="tx1"/>
                  </a:solidFill>
                </a:endParaRPr>
              </a:p>
              <a:p>
                <a:pPr marL="609600" indent="-609600">
                  <a:lnSpc>
                    <a:spcPct val="150000"/>
                  </a:lnSpc>
                  <a:buClrTx/>
                  <a:buSzPct val="123000"/>
                  <a:buChar char="•"/>
                </a:pPr>
                <a:r>
                  <a:rPr lang="en-US" altLang="zh-CN" sz="4800" dirty="0">
                    <a:solidFill>
                      <a:schemeClr val="tx1"/>
                    </a:solidFill>
                  </a:rPr>
                  <a:t>Key problem: how to solve </a:t>
                </a:r>
                <a14:m>
                  <m:oMath xmlns:m="http://schemas.openxmlformats.org/officeDocument/2006/math">
                    <m:r>
                      <a:rPr lang="en-US" altLang="zh-CN" sz="4800" i="1">
                        <a:solidFill>
                          <a:schemeClr val="tx1"/>
                        </a:solidFill>
                        <a:latin typeface="Cambria Math" panose="02040503050406030204" pitchFamily="18" charset="0"/>
                      </a:rPr>
                      <m:t>𝑡</m:t>
                    </m:r>
                    <m:r>
                      <a:rPr lang="en-US" altLang="zh-CN" sz="4800" i="1">
                        <a:solidFill>
                          <a:schemeClr val="tx1"/>
                        </a:solidFill>
                        <a:latin typeface="Cambria Math" panose="02040503050406030204" pitchFamily="18" charset="0"/>
                      </a:rPr>
                      <m:t>=</m:t>
                    </m:r>
                    <m:r>
                      <a:rPr lang="en-US" altLang="zh-CN" sz="4800" i="1">
                        <a:solidFill>
                          <a:schemeClr val="tx1"/>
                        </a:solidFill>
                        <a:latin typeface="Cambria Math" panose="02040503050406030204" pitchFamily="18" charset="0"/>
                      </a:rPr>
                      <m:t>𝑡</m:t>
                    </m:r>
                    <m:d>
                      <m:dPr>
                        <m:ctrlPr>
                          <a:rPr lang="en-US" altLang="zh-CN" sz="4800" i="1">
                            <a:solidFill>
                              <a:schemeClr val="tx1"/>
                            </a:solidFill>
                            <a:latin typeface="Cambria Math" panose="02040503050406030204" pitchFamily="18" charset="0"/>
                          </a:rPr>
                        </m:ctrlPr>
                      </m:dPr>
                      <m:e>
                        <m:r>
                          <a:rPr lang="en-US" altLang="zh-CN" sz="4800" i="1">
                            <a:solidFill>
                              <a:schemeClr val="tx1"/>
                            </a:solidFill>
                            <a:latin typeface="Cambria Math" panose="02040503050406030204" pitchFamily="18" charset="0"/>
                          </a:rPr>
                          <m:t>𝑠</m:t>
                        </m:r>
                      </m:e>
                    </m:d>
                  </m:oMath>
                </a14:m>
                <a:endParaRPr lang="en-US" altLang="zh-CN" sz="4800" dirty="0">
                  <a:solidFill>
                    <a:schemeClr val="tx1"/>
                  </a:solidFill>
                </a:endParaRPr>
              </a:p>
            </p:txBody>
          </p:sp>
        </mc:Choice>
        <mc:Fallback xmlns="">
          <p:sp>
            <p:nvSpPr>
              <p:cNvPr id="7" name="내용 개체 틀 2">
                <a:extLst>
                  <a:ext uri="{FF2B5EF4-FFF2-40B4-BE49-F238E27FC236}">
                    <a16:creationId xmlns:a16="http://schemas.microsoft.com/office/drawing/2014/main" id="{41E2BEB3-D073-112D-A114-0C7F3C126473}"/>
                  </a:ext>
                </a:extLst>
              </p:cNvPr>
              <p:cNvSpPr txBox="1">
                <a:spLocks noRot="1" noChangeAspect="1" noMove="1" noResize="1" noEditPoints="1" noAdjustHandles="1" noChangeArrowheads="1" noChangeShapeType="1" noTextEdit="1"/>
              </p:cNvSpPr>
              <p:nvPr/>
            </p:nvSpPr>
            <p:spPr>
              <a:xfrm>
                <a:off x="1618325" y="2551738"/>
                <a:ext cx="21137766" cy="9675474"/>
              </a:xfrm>
              <a:prstGeom prst="rect">
                <a:avLst/>
              </a:prstGeom>
              <a:blipFill>
                <a:blip r:embed="rId6"/>
                <a:stretch>
                  <a:fillRect l="-1557" t="-25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68719132-CA34-0FF0-2555-088154E5652A}"/>
                  </a:ext>
                </a:extLst>
              </p:cNvPr>
              <p:cNvSpPr txBox="1"/>
              <p:nvPr/>
            </p:nvSpPr>
            <p:spPr>
              <a:xfrm>
                <a:off x="14691933" y="10058163"/>
                <a:ext cx="7310519" cy="13051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ctr">
                  <a:lnSpc>
                    <a:spcPct val="150000"/>
                  </a:lnSpc>
                  <a:buSzPct val="123000"/>
                </a:pPr>
                <a:r>
                  <a:rPr lang="en-US" altLang="zh-CN" sz="2800" dirty="0">
                    <a:solidFill>
                      <a:srgbClr val="000000"/>
                    </a:solidFill>
                    <a:latin typeface="Arial" panose="020B0604020202020204" pitchFamily="34" charset="0"/>
                    <a:cs typeface="Arial" panose="020B0604020202020204" pitchFamily="34" charset="0"/>
                  </a:rPr>
                  <a:t>Dash pattern </a:t>
                </a:r>
                <a14:m>
                  <m:oMath xmlns:m="http://schemas.openxmlformats.org/officeDocument/2006/math">
                    <m:d>
                      <m:dPr>
                        <m:ctrlPr>
                          <a:rPr lang="en-US" altLang="zh-CN" sz="2800" b="0" i="1" dirty="0" smtClean="0">
                            <a:solidFill>
                              <a:srgbClr val="000000"/>
                            </a:solidFill>
                            <a:latin typeface="Cambria Math" panose="02040503050406030204" pitchFamily="18" charset="0"/>
                            <a:sym typeface="Wingdings" panose="05000000000000000000" pitchFamily="2" charset="2"/>
                          </a:rPr>
                        </m:ctrlPr>
                      </m:dPr>
                      <m:e>
                        <m:sSub>
                          <m:sSubPr>
                            <m:ctrlPr>
                              <a:rPr lang="en-US" altLang="zh-CN" sz="2800" b="0" i="1" dirty="0" smtClean="0">
                                <a:solidFill>
                                  <a:srgbClr val="000000"/>
                                </a:solidFill>
                                <a:latin typeface="Cambria Math" panose="02040503050406030204" pitchFamily="18" charset="0"/>
                                <a:sym typeface="Wingdings" panose="05000000000000000000" pitchFamily="2" charset="2"/>
                              </a:rPr>
                            </m:ctrlPr>
                          </m:sSubPr>
                          <m:e>
                            <m:r>
                              <a:rPr lang="en-US" altLang="zh-CN" sz="2800" b="0" i="1" dirty="0" smtClean="0">
                                <a:solidFill>
                                  <a:srgbClr val="000000"/>
                                </a:solidFill>
                                <a:latin typeface="Cambria Math" panose="02040503050406030204" pitchFamily="18" charset="0"/>
                                <a:sym typeface="Wingdings" panose="05000000000000000000" pitchFamily="2" charset="2"/>
                              </a:rPr>
                              <m:t>𝑙</m:t>
                            </m:r>
                          </m:e>
                          <m:sub>
                            <m:r>
                              <a:rPr lang="en-US" altLang="zh-CN" sz="2800" b="0" i="1" dirty="0" smtClean="0">
                                <a:solidFill>
                                  <a:srgbClr val="000000"/>
                                </a:solidFill>
                                <a:latin typeface="Cambria Math" panose="02040503050406030204" pitchFamily="18" charset="0"/>
                                <a:sym typeface="Wingdings" panose="05000000000000000000" pitchFamily="2" charset="2"/>
                              </a:rPr>
                              <m:t>1</m:t>
                            </m:r>
                          </m:sub>
                        </m:sSub>
                        <m:r>
                          <a:rPr lang="en-US" altLang="zh-CN" sz="2800" b="0" i="1" dirty="0" smtClean="0">
                            <a:solidFill>
                              <a:srgbClr val="000000"/>
                            </a:solidFill>
                            <a:latin typeface="Cambria Math" panose="02040503050406030204" pitchFamily="18" charset="0"/>
                            <a:sym typeface="Wingdings" panose="05000000000000000000" pitchFamily="2" charset="2"/>
                          </a:rPr>
                          <m:t>,</m:t>
                        </m:r>
                        <m:sSub>
                          <m:sSubPr>
                            <m:ctrlPr>
                              <a:rPr lang="en-US" altLang="zh-CN" sz="2800" b="0" i="1" dirty="0" smtClean="0">
                                <a:solidFill>
                                  <a:srgbClr val="000000"/>
                                </a:solidFill>
                                <a:latin typeface="Cambria Math" panose="02040503050406030204" pitchFamily="18" charset="0"/>
                                <a:sym typeface="Wingdings" panose="05000000000000000000" pitchFamily="2" charset="2"/>
                              </a:rPr>
                            </m:ctrlPr>
                          </m:sSubPr>
                          <m:e>
                            <m:r>
                              <a:rPr lang="en-US" altLang="zh-CN" sz="2800" b="0" i="1" dirty="0" smtClean="0">
                                <a:solidFill>
                                  <a:srgbClr val="000000"/>
                                </a:solidFill>
                                <a:latin typeface="Cambria Math" panose="02040503050406030204" pitchFamily="18" charset="0"/>
                                <a:sym typeface="Wingdings" panose="05000000000000000000" pitchFamily="2" charset="2"/>
                              </a:rPr>
                              <m:t>𝑙</m:t>
                            </m:r>
                          </m:e>
                          <m:sub>
                            <m:r>
                              <a:rPr lang="en-US" altLang="zh-CN" sz="2800" b="0" i="1" dirty="0" smtClean="0">
                                <a:solidFill>
                                  <a:srgbClr val="000000"/>
                                </a:solidFill>
                                <a:latin typeface="Cambria Math" panose="02040503050406030204" pitchFamily="18" charset="0"/>
                                <a:sym typeface="Wingdings" panose="05000000000000000000" pitchFamily="2" charset="2"/>
                              </a:rPr>
                              <m:t>2</m:t>
                            </m:r>
                          </m:sub>
                        </m:sSub>
                      </m:e>
                    </m:d>
                    <m:r>
                      <a:rPr lang="en-US" altLang="zh-CN" sz="2800" b="0" i="1" dirty="0" smtClean="0">
                        <a:solidFill>
                          <a:srgbClr val="000000"/>
                        </a:solidFill>
                        <a:latin typeface="Cambria Math" panose="02040503050406030204" pitchFamily="18" charset="0"/>
                        <a:sym typeface="Wingdings" panose="05000000000000000000" pitchFamily="2" charset="2"/>
                      </a:rPr>
                      <m:t>:</m:t>
                    </m:r>
                  </m:oMath>
                </a14:m>
                <a:r>
                  <a:rPr lang="en-US" altLang="zh-CN" sz="2800" dirty="0">
                    <a:solidFill>
                      <a:srgbClr val="000000"/>
                    </a:solidFill>
                    <a:latin typeface="Arial" panose="020B0604020202020204" pitchFamily="34" charset="0"/>
                    <a:cs typeface="Arial" panose="020B0604020202020204" pitchFamily="34" charset="0"/>
                  </a:rPr>
                  <a:t> solid segment </a:t>
                </a:r>
                <a:r>
                  <a:rPr lang="en-US" altLang="zh-CN" sz="2800" dirty="0">
                    <a:latin typeface="Arial" panose="020B0604020202020204" pitchFamily="34" charset="0"/>
                    <a:cs typeface="Arial" panose="020B0604020202020204" pitchFamily="34" charset="0"/>
                  </a:rPr>
                  <a:t>length</a:t>
                </a:r>
                <a14:m>
                  <m:oMath xmlns:m="http://schemas.openxmlformats.org/officeDocument/2006/math">
                    <m:r>
                      <a:rPr lang="en-US" altLang="zh-CN" sz="2800" dirty="0">
                        <a:latin typeface="Cambria Math" panose="02040503050406030204" pitchFamily="18" charset="0"/>
                        <a:sym typeface="Wingdings" panose="05000000000000000000" pitchFamily="2" charset="2"/>
                      </a:rPr>
                      <m:t> </m:t>
                    </m:r>
                    <m:sSub>
                      <m:sSubPr>
                        <m:ctrlPr>
                          <a:rPr lang="en-US" altLang="zh-CN" sz="2800" i="1" dirty="0">
                            <a:latin typeface="Cambria Math" panose="02040503050406030204" pitchFamily="18" charset="0"/>
                            <a:sym typeface="Wingdings" panose="05000000000000000000" pitchFamily="2" charset="2"/>
                          </a:rPr>
                        </m:ctrlPr>
                      </m:sSubPr>
                      <m:e>
                        <m:r>
                          <a:rPr lang="en-US" altLang="zh-CN" sz="2800" i="1" dirty="0">
                            <a:latin typeface="Cambria Math" panose="02040503050406030204" pitchFamily="18" charset="0"/>
                            <a:sym typeface="Wingdings" panose="05000000000000000000" pitchFamily="2" charset="2"/>
                          </a:rPr>
                          <m:t>𝑙</m:t>
                        </m:r>
                      </m:e>
                      <m:sub>
                        <m:r>
                          <a:rPr lang="en-US" altLang="zh-CN" sz="2800" i="1" dirty="0">
                            <a:latin typeface="Cambria Math" panose="02040503050406030204" pitchFamily="18" charset="0"/>
                            <a:sym typeface="Wingdings" panose="05000000000000000000" pitchFamily="2" charset="2"/>
                          </a:rPr>
                          <m:t>1</m:t>
                        </m:r>
                      </m:sub>
                    </m:sSub>
                  </m:oMath>
                </a14:m>
                <a:r>
                  <a:rPr lang="en-US" altLang="zh-CN" sz="2800" dirty="0">
                    <a:latin typeface="Arial" panose="020B0604020202020204" pitchFamily="34" charset="0"/>
                    <a:cs typeface="Arial" panose="020B0604020202020204" pitchFamily="34" charset="0"/>
                  </a:rPr>
                  <a:t>, </a:t>
                </a:r>
                <a:r>
                  <a:rPr lang="en-US" altLang="zh-CN" sz="2800" dirty="0">
                    <a:solidFill>
                      <a:srgbClr val="000000"/>
                    </a:solidFill>
                    <a:latin typeface="Arial" panose="020B0604020202020204" pitchFamily="34" charset="0"/>
                    <a:cs typeface="Arial" panose="020B0604020202020204" pitchFamily="34" charset="0"/>
                  </a:rPr>
                  <a:t>gap length</a:t>
                </a:r>
                <a14:m>
                  <m:oMath xmlns:m="http://schemas.openxmlformats.org/officeDocument/2006/math">
                    <m:r>
                      <a:rPr lang="en-US" altLang="zh-CN" sz="2800" b="0" i="0" dirty="0" smtClean="0">
                        <a:solidFill>
                          <a:srgbClr val="000000"/>
                        </a:solidFill>
                        <a:latin typeface="Cambria Math" panose="02040503050406030204" pitchFamily="18" charset="0"/>
                        <a:sym typeface="Wingdings" panose="05000000000000000000" pitchFamily="2" charset="2"/>
                      </a:rPr>
                      <m:t> </m:t>
                    </m:r>
                    <m:sSub>
                      <m:sSubPr>
                        <m:ctrlPr>
                          <a:rPr lang="en-US" altLang="zh-CN" sz="2800" i="1" dirty="0">
                            <a:solidFill>
                              <a:srgbClr val="000000"/>
                            </a:solidFill>
                            <a:latin typeface="Cambria Math" panose="02040503050406030204" pitchFamily="18" charset="0"/>
                            <a:sym typeface="Wingdings" panose="05000000000000000000" pitchFamily="2" charset="2"/>
                          </a:rPr>
                        </m:ctrlPr>
                      </m:sSubPr>
                      <m:e>
                        <m:r>
                          <a:rPr lang="en-US" altLang="zh-CN" sz="2800" i="1" dirty="0">
                            <a:solidFill>
                              <a:srgbClr val="000000"/>
                            </a:solidFill>
                            <a:latin typeface="Cambria Math" panose="02040503050406030204" pitchFamily="18" charset="0"/>
                            <a:sym typeface="Wingdings" panose="05000000000000000000" pitchFamily="2" charset="2"/>
                          </a:rPr>
                          <m:t>𝑙</m:t>
                        </m:r>
                      </m:e>
                      <m:sub>
                        <m:r>
                          <a:rPr lang="en-US" altLang="zh-CN" sz="2800" i="1" dirty="0">
                            <a:solidFill>
                              <a:srgbClr val="000000"/>
                            </a:solidFill>
                            <a:latin typeface="Cambria Math" panose="02040503050406030204" pitchFamily="18" charset="0"/>
                            <a:sym typeface="Wingdings" panose="05000000000000000000" pitchFamily="2" charset="2"/>
                          </a:rPr>
                          <m:t>2</m:t>
                        </m:r>
                      </m:sub>
                    </m:sSub>
                  </m:oMath>
                </a14:m>
                <a:endParaRPr lang="en-US" altLang="zh-CN" sz="2800" dirty="0">
                  <a:solidFill>
                    <a:srgbClr val="000000"/>
                  </a:solidFill>
                  <a:latin typeface="Arial" panose="020B0604020202020204" pitchFamily="34" charset="0"/>
                  <a:cs typeface="Arial" panose="020B0604020202020204" pitchFamily="34" charset="0"/>
                </a:endParaRPr>
              </a:p>
            </p:txBody>
          </p:sp>
        </mc:Choice>
        <mc:Fallback xmlns="">
          <p:sp>
            <p:nvSpPr>
              <p:cNvPr id="5" name="文本框 4">
                <a:extLst>
                  <a:ext uri="{FF2B5EF4-FFF2-40B4-BE49-F238E27FC236}">
                    <a16:creationId xmlns:a16="http://schemas.microsoft.com/office/drawing/2014/main" id="{68719132-CA34-0FF0-2555-088154E5652A}"/>
                  </a:ext>
                </a:extLst>
              </p:cNvPr>
              <p:cNvSpPr txBox="1">
                <a:spLocks noRot="1" noChangeAspect="1" noMove="1" noResize="1" noEditPoints="1" noAdjustHandles="1" noChangeArrowheads="1" noChangeShapeType="1" noTextEdit="1"/>
              </p:cNvSpPr>
              <p:nvPr/>
            </p:nvSpPr>
            <p:spPr>
              <a:xfrm>
                <a:off x="14691933" y="10058163"/>
                <a:ext cx="7310519" cy="1305165"/>
              </a:xfrm>
              <a:prstGeom prst="rect">
                <a:avLst/>
              </a:prstGeom>
              <a:blipFill>
                <a:blip r:embed="rId7"/>
                <a:stretch>
                  <a:fillRect l="-834" r="-2419" b="-12150"/>
                </a:stretch>
              </a:blipFill>
              <a:ln w="12700" cap="flat">
                <a:noFill/>
                <a:miter lim="400000"/>
              </a:ln>
              <a:effectLst/>
            </p:spPr>
            <p:txBody>
              <a:bodyPr/>
              <a:lstStyle/>
              <a:p>
                <a:r>
                  <a:rPr lang="zh-CN" altLang="en-US">
                    <a:noFill/>
                  </a:rPr>
                  <a:t> </a:t>
                </a:r>
              </a:p>
            </p:txBody>
          </p:sp>
        </mc:Fallback>
      </mc:AlternateContent>
      <p:sp>
        <p:nvSpPr>
          <p:cNvPr id="3" name="文本框 7">
            <a:extLst>
              <a:ext uri="{FF2B5EF4-FFF2-40B4-BE49-F238E27FC236}">
                <a16:creationId xmlns:a16="http://schemas.microsoft.com/office/drawing/2014/main" id="{6A4ECCF4-55A9-BC45-7FCB-301E1486C5B4}"/>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Introduction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132065475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14C90-1092-EB25-38B3-1E97967743B7}"/>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180CCA5D-7761-BEDC-84F1-43AB6DECB7F0}"/>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D7E29673-4EE1-D769-E1B9-2F427990DB3A}"/>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4DCBAE3E-4CD9-B532-CF01-8F7FF1272BF1}"/>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3CAB2326-907A-D539-5434-5DE5C1AD6A8E}"/>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7" name="내용 개체 틀 2">
            <a:extLst>
              <a:ext uri="{FF2B5EF4-FFF2-40B4-BE49-F238E27FC236}">
                <a16:creationId xmlns:a16="http://schemas.microsoft.com/office/drawing/2014/main" id="{347BCB55-7C16-977F-46D5-16065C469B94}"/>
              </a:ext>
            </a:extLst>
          </p:cNvPr>
          <p:cNvSpPr txBox="1">
            <a:spLocks/>
          </p:cNvSpPr>
          <p:nvPr/>
        </p:nvSpPr>
        <p:spPr>
          <a:xfrm>
            <a:off x="1618325" y="2551738"/>
            <a:ext cx="21137766" cy="9850860"/>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We propose a GPU-accelerated rendering method of quadratic strokes</a:t>
            </a:r>
          </a:p>
          <a:p>
            <a:pPr marL="952500" lvl="1" indent="-609600">
              <a:lnSpc>
                <a:spcPct val="150000"/>
              </a:lnSpc>
              <a:buClrTx/>
              <a:buSzPct val="123000"/>
            </a:pPr>
            <a:r>
              <a:rPr lang="en-US" altLang="zh-CN" sz="4400" dirty="0">
                <a:solidFill>
                  <a:srgbClr val="000000"/>
                </a:solidFill>
              </a:rPr>
              <a:t>Efficiency of implicit equation-based rendering</a:t>
            </a:r>
          </a:p>
          <a:p>
            <a:pPr marL="952500" lvl="1" indent="-609600">
              <a:lnSpc>
                <a:spcPct val="150000"/>
              </a:lnSpc>
              <a:buClrTx/>
              <a:buSzPct val="123000"/>
            </a:pPr>
            <a:r>
              <a:rPr lang="en-US" altLang="zh-CN" sz="4400" dirty="0">
                <a:solidFill>
                  <a:srgbClr val="000000"/>
                </a:solidFill>
              </a:rPr>
              <a:t>Accuracy of curvature-guided adaptive subdivision</a:t>
            </a:r>
          </a:p>
          <a:p>
            <a:pPr marL="952500" lvl="1" indent="-609600">
              <a:lnSpc>
                <a:spcPct val="150000"/>
              </a:lnSpc>
              <a:buClrTx/>
              <a:buSzPct val="123000"/>
            </a:pPr>
            <a:endParaRPr lang="en-US" altLang="zh-CN" sz="4800" dirty="0">
              <a:solidFill>
                <a:srgbClr val="000000"/>
              </a:solidFill>
            </a:endParaRPr>
          </a:p>
          <a:p>
            <a:pPr marL="609600" indent="-609600">
              <a:lnSpc>
                <a:spcPct val="150000"/>
              </a:lnSpc>
              <a:buClrTx/>
              <a:buSzPct val="123000"/>
              <a:buChar char="•"/>
            </a:pPr>
            <a:r>
              <a:rPr lang="en-US" altLang="zh-CN" sz="4800" dirty="0">
                <a:solidFill>
                  <a:srgbClr val="000000"/>
                </a:solidFill>
              </a:rPr>
              <a:t>We develop an efficient arc-length parameterization method</a:t>
            </a:r>
          </a:p>
          <a:p>
            <a:pPr marL="952500" lvl="1" indent="-609600">
              <a:lnSpc>
                <a:spcPct val="150000"/>
              </a:lnSpc>
              <a:buClrTx/>
              <a:buSzPct val="123000"/>
            </a:pPr>
            <a:r>
              <a:rPr lang="en-US" altLang="zh-CN" sz="4400" dirty="0">
                <a:solidFill>
                  <a:srgbClr val="000000"/>
                </a:solidFill>
              </a:rPr>
              <a:t>Newton iteration with proved fast convergence</a:t>
            </a:r>
          </a:p>
          <a:p>
            <a:pPr marL="952500" lvl="1" indent="-609600">
              <a:lnSpc>
                <a:spcPct val="150000"/>
              </a:lnSpc>
              <a:buClrTx/>
              <a:buSzPct val="123000"/>
            </a:pPr>
            <a:r>
              <a:rPr lang="en-US" altLang="zh-CN" sz="4400" dirty="0">
                <a:solidFill>
                  <a:srgbClr val="000000"/>
                </a:solidFill>
              </a:rPr>
              <a:t>Applications: dashed stroke rendering and arc-length-guided texture filling</a:t>
            </a:r>
          </a:p>
          <a:p>
            <a:pPr marL="952500" lvl="1" indent="-609600">
              <a:lnSpc>
                <a:spcPct val="150000"/>
              </a:lnSpc>
              <a:buClrTx/>
              <a:buSzPct val="123000"/>
            </a:pPr>
            <a:endParaRPr lang="en-US" altLang="zh-CN" sz="4400" dirty="0">
              <a:solidFill>
                <a:srgbClr val="000000"/>
              </a:solidFill>
            </a:endParaRPr>
          </a:p>
        </p:txBody>
      </p:sp>
      <p:sp>
        <p:nvSpPr>
          <p:cNvPr id="2" name="文本框 7">
            <a:extLst>
              <a:ext uri="{FF2B5EF4-FFF2-40B4-BE49-F238E27FC236}">
                <a16:creationId xmlns:a16="http://schemas.microsoft.com/office/drawing/2014/main" id="{A5CF0C03-DF93-C3A5-CBF3-E12320B95A73}"/>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Introduction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5250582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9D57F-5683-87C0-B0A5-9D8D98F43E64}"/>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EAE51DA1-7C0E-ECBF-0EA2-771C243DB947}"/>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621A2F46-F75F-B9EE-8264-7229B8B6EB3E}"/>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D16CB4D3-AFCC-479C-86BD-9FE6AF191C2F}"/>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45B5C942-6F06-C5EB-BFDD-BC0878F31A07}"/>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7" name="내용 개체 틀 2">
            <a:extLst>
              <a:ext uri="{FF2B5EF4-FFF2-40B4-BE49-F238E27FC236}">
                <a16:creationId xmlns:a16="http://schemas.microsoft.com/office/drawing/2014/main" id="{6D2C5448-8908-F088-B539-6BE062706C52}"/>
              </a:ext>
            </a:extLst>
          </p:cNvPr>
          <p:cNvSpPr txBox="1">
            <a:spLocks/>
          </p:cNvSpPr>
          <p:nvPr/>
        </p:nvSpPr>
        <p:spPr>
          <a:xfrm>
            <a:off x="1618325" y="2551738"/>
            <a:ext cx="21137766" cy="8612523"/>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Focus on stroke regions of quadratic curves</a:t>
            </a:r>
          </a:p>
          <a:p>
            <a:pPr marL="952500" lvl="1" indent="-609600">
              <a:lnSpc>
                <a:spcPct val="150000"/>
              </a:lnSpc>
              <a:buClrTx/>
              <a:buSzPct val="123000"/>
            </a:pPr>
            <a:r>
              <a:rPr lang="en-US" altLang="zh-CN" sz="4400" dirty="0">
                <a:solidFill>
                  <a:srgbClr val="000000"/>
                </a:solidFill>
              </a:rPr>
              <a:t>Applicable for piecewise quadratic curves rendering</a:t>
            </a:r>
            <a:endParaRPr lang="en-US" altLang="zh-CN" sz="4800" dirty="0">
              <a:solidFill>
                <a:srgbClr val="000000"/>
              </a:solidFill>
            </a:endParaRPr>
          </a:p>
          <a:p>
            <a:pPr marL="609600" indent="-609600">
              <a:lnSpc>
                <a:spcPct val="150000"/>
              </a:lnSpc>
              <a:buClrTx/>
              <a:buSzPct val="123000"/>
              <a:buChar char="•"/>
            </a:pPr>
            <a:r>
              <a:rPr lang="en-US" altLang="zh-CN" sz="4800" dirty="0">
                <a:solidFill>
                  <a:srgbClr val="000000"/>
                </a:solidFill>
              </a:rPr>
              <a:t>Fit offset curves by quadratics</a:t>
            </a:r>
          </a:p>
          <a:p>
            <a:pPr marL="952500" lvl="1" indent="-609600">
              <a:lnSpc>
                <a:spcPct val="150000"/>
              </a:lnSpc>
              <a:buClrTx/>
              <a:buSzPct val="123000"/>
            </a:pPr>
            <a:r>
              <a:rPr lang="en-US" altLang="zh-CN" sz="4400" dirty="0">
                <a:solidFill>
                  <a:srgbClr val="000000"/>
                </a:solidFill>
              </a:rPr>
              <a:t>Implicit equation-based rendering</a:t>
            </a:r>
          </a:p>
        </p:txBody>
      </p:sp>
      <p:pic>
        <p:nvPicPr>
          <p:cNvPr id="3" name="图形 2">
            <a:extLst>
              <a:ext uri="{FF2B5EF4-FFF2-40B4-BE49-F238E27FC236}">
                <a16:creationId xmlns:a16="http://schemas.microsoft.com/office/drawing/2014/main" id="{3D129393-BFC4-6D79-71D9-9D16CCD6194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422201" y="2432221"/>
            <a:ext cx="6129429" cy="4846296"/>
          </a:xfrm>
          <a:prstGeom prst="rect">
            <a:avLst/>
          </a:prstGeom>
        </p:spPr>
      </p:pic>
      <p:sp>
        <p:nvSpPr>
          <p:cNvPr id="5" name="文本框 4">
            <a:extLst>
              <a:ext uri="{FF2B5EF4-FFF2-40B4-BE49-F238E27FC236}">
                <a16:creationId xmlns:a16="http://schemas.microsoft.com/office/drawing/2014/main" id="{E1D51541-872F-3C76-CDDD-75A9C0B7983D}"/>
              </a:ext>
            </a:extLst>
          </p:cNvPr>
          <p:cNvSpPr txBox="1"/>
          <p:nvPr/>
        </p:nvSpPr>
        <p:spPr>
          <a:xfrm>
            <a:off x="18094853" y="7442753"/>
            <a:ext cx="5456778"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Approximated stroke region</a:t>
            </a:r>
            <a:endParaRPr lang="zh-CN" altLang="en-US" sz="2800" dirty="0">
              <a:solidFill>
                <a:schemeClr val="tx1"/>
              </a:solidFill>
              <a:latin typeface="Arial" panose="020B0604020202020204" pitchFamily="34" charset="0"/>
              <a:cs typeface="Arial" panose="020B0604020202020204" pitchFamily="34" charset="0"/>
            </a:endParaRPr>
          </a:p>
        </p:txBody>
      </p:sp>
      <p:pic>
        <p:nvPicPr>
          <p:cNvPr id="8" name="图形 7">
            <a:extLst>
              <a:ext uri="{FF2B5EF4-FFF2-40B4-BE49-F238E27FC236}">
                <a16:creationId xmlns:a16="http://schemas.microsoft.com/office/drawing/2014/main" id="{CF3E40FE-0CBF-6CD8-B02A-4727BBA90F6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69361" y="7077142"/>
            <a:ext cx="21062930" cy="5119927"/>
          </a:xfrm>
          <a:prstGeom prst="rect">
            <a:avLst/>
          </a:prstGeom>
        </p:spPr>
      </p:pic>
      <p:sp>
        <p:nvSpPr>
          <p:cNvPr id="9" name="文本框 8">
            <a:extLst>
              <a:ext uri="{FF2B5EF4-FFF2-40B4-BE49-F238E27FC236}">
                <a16:creationId xmlns:a16="http://schemas.microsoft.com/office/drawing/2014/main" id="{B7B2912F-11DD-4BD9-C8D4-E393A212BC3B}"/>
              </a:ext>
            </a:extLst>
          </p:cNvPr>
          <p:cNvSpPr txBox="1"/>
          <p:nvPr/>
        </p:nvSpPr>
        <p:spPr>
          <a:xfrm>
            <a:off x="8372351" y="12155265"/>
            <a:ext cx="7934513"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Implicit equation-based rendering</a:t>
            </a:r>
            <a:endParaRPr lang="zh-CN" altLang="en-US" sz="2800" dirty="0">
              <a:solidFill>
                <a:schemeClr val="tx1"/>
              </a:solidFill>
              <a:latin typeface="Arial" panose="020B0604020202020204" pitchFamily="34" charset="0"/>
              <a:cs typeface="Arial" panose="020B0604020202020204" pitchFamily="34" charset="0"/>
            </a:endParaRPr>
          </a:p>
        </p:txBody>
      </p:sp>
      <p:sp>
        <p:nvSpPr>
          <p:cNvPr id="2" name="文本框 7">
            <a:extLst>
              <a:ext uri="{FF2B5EF4-FFF2-40B4-BE49-F238E27FC236}">
                <a16:creationId xmlns:a16="http://schemas.microsoft.com/office/drawing/2014/main" id="{E498D899-997F-2C38-B747-5CB8D089987A}"/>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Stroke Region Rendering</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199009268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971E-7302-1523-255A-B9623A695AF5}"/>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8847054F-148D-502C-FB53-74183F3D9A04}"/>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FC00747B-1E1E-12CB-992E-84FD492783A0}"/>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D7D45EE6-16FA-1256-237C-0C34F5621AE8}"/>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0D93E5D8-D2B9-A24C-977D-28ED25E9833A}"/>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ECD72367-4F45-0CEB-3E27-0CEDA451D3C3}"/>
                  </a:ext>
                </a:extLst>
              </p:cNvPr>
              <p:cNvSpPr txBox="1">
                <a:spLocks/>
              </p:cNvSpPr>
              <p:nvPr/>
            </p:nvSpPr>
            <p:spPr>
              <a:xfrm>
                <a:off x="1618325" y="2551739"/>
                <a:ext cx="21137766" cy="10145700"/>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Error analysis for offset curve fitting</a:t>
                </a:r>
              </a:p>
              <a:p>
                <a:pPr marL="609600" indent="-609600">
                  <a:lnSpc>
                    <a:spcPct val="150000"/>
                  </a:lnSpc>
                  <a:buClrTx/>
                  <a:buSzPct val="123000"/>
                  <a:buChar char="•"/>
                </a:pPr>
                <a:r>
                  <a:rPr lang="en-US" altLang="zh-CN" sz="4800" dirty="0">
                    <a:solidFill>
                      <a:srgbClr val="000000"/>
                    </a:solidFill>
                  </a:rPr>
                  <a:t>Relative error:</a:t>
                </a:r>
                <a:r>
                  <a:rPr lang="en-US" altLang="zh-CN" sz="4400" dirty="0"/>
                  <a:t> </a:t>
                </a:r>
                <a14:m>
                  <m:oMath xmlns:m="http://schemas.openxmlformats.org/officeDocument/2006/math">
                    <m:r>
                      <a:rPr lang="en-US" altLang="zh-CN" sz="4000" i="1" smtClean="0">
                        <a:solidFill>
                          <a:schemeClr val="tx1"/>
                        </a:solidFill>
                        <a:latin typeface="Cambria Math" panose="02040503050406030204" pitchFamily="18" charset="0"/>
                      </a:rPr>
                      <m:t>𝜂</m:t>
                    </m:r>
                    <m:r>
                      <a:rPr lang="en-US" altLang="zh-CN" sz="4000" i="1" smtClean="0">
                        <a:solidFill>
                          <a:schemeClr val="tx1"/>
                        </a:solidFill>
                        <a:latin typeface="Cambria Math" panose="02040503050406030204" pitchFamily="18" charset="0"/>
                      </a:rPr>
                      <m:t>=</m:t>
                    </m:r>
                    <m:func>
                      <m:funcPr>
                        <m:ctrlPr>
                          <a:rPr lang="en-US" altLang="zh-CN" sz="4000" i="1">
                            <a:solidFill>
                              <a:schemeClr val="tx1"/>
                            </a:solidFill>
                            <a:latin typeface="Cambria Math" panose="02040503050406030204" pitchFamily="18" charset="0"/>
                          </a:rPr>
                        </m:ctrlPr>
                      </m:funcPr>
                      <m:fName>
                        <m:limLow>
                          <m:limLowPr>
                            <m:ctrlPr>
                              <a:rPr lang="en-US" altLang="zh-CN" sz="4000" i="1">
                                <a:solidFill>
                                  <a:schemeClr val="tx1"/>
                                </a:solidFill>
                                <a:latin typeface="Cambria Math" panose="02040503050406030204" pitchFamily="18" charset="0"/>
                              </a:rPr>
                            </m:ctrlPr>
                          </m:limLowPr>
                          <m:e>
                            <m:r>
                              <m:rPr>
                                <m:sty m:val="p"/>
                              </m:rPr>
                              <a:rPr lang="en-US" altLang="zh-CN" sz="4000">
                                <a:solidFill>
                                  <a:schemeClr val="tx1"/>
                                </a:solidFill>
                                <a:latin typeface="Cambria Math" panose="02040503050406030204" pitchFamily="18" charset="0"/>
                              </a:rPr>
                              <m:t>max</m:t>
                            </m:r>
                          </m:e>
                          <m:lim>
                            <m:r>
                              <a:rPr lang="en-US" altLang="zh-CN" sz="4000" i="1">
                                <a:solidFill>
                                  <a:schemeClr val="tx1"/>
                                </a:solidFill>
                                <a:latin typeface="Cambria Math" panose="02040503050406030204" pitchFamily="18" charset="0"/>
                              </a:rPr>
                              <m:t>𝑡</m:t>
                            </m:r>
                            <m:r>
                              <a:rPr lang="en-US" altLang="zh-CN" sz="4000" i="1">
                                <a:solidFill>
                                  <a:schemeClr val="tx1"/>
                                </a:solidFill>
                                <a:latin typeface="Cambria Math" panose="02040503050406030204" pitchFamily="18" charset="0"/>
                              </a:rPr>
                              <m:t>∈[0,1]</m:t>
                            </m:r>
                          </m:lim>
                        </m:limLow>
                      </m:fName>
                      <m:e>
                        <m:f>
                          <m:fPr>
                            <m:ctrlPr>
                              <a:rPr lang="en-US" altLang="zh-CN" sz="4000" i="1">
                                <a:solidFill>
                                  <a:schemeClr val="tx1"/>
                                </a:solidFill>
                                <a:latin typeface="Cambria Math" panose="02040503050406030204" pitchFamily="18" charset="0"/>
                              </a:rPr>
                            </m:ctrlPr>
                          </m:fPr>
                          <m:num>
                            <m:r>
                              <a:rPr lang="en-US" altLang="zh-CN" sz="4000" i="1">
                                <a:solidFill>
                                  <a:schemeClr val="tx1"/>
                                </a:solidFill>
                                <a:latin typeface="Cambria Math" panose="02040503050406030204" pitchFamily="18" charset="0"/>
                              </a:rPr>
                              <m:t>|</m:t>
                            </m:r>
                            <m:acc>
                              <m:accPr>
                                <m:chr m:val="̂"/>
                                <m:ctrlPr>
                                  <a:rPr lang="en-US" altLang="zh-CN" sz="4000" i="1">
                                    <a:solidFill>
                                      <a:schemeClr val="tx1"/>
                                    </a:solidFill>
                                    <a:latin typeface="Cambria Math" panose="02040503050406030204" pitchFamily="18" charset="0"/>
                                  </a:rPr>
                                </m:ctrlPr>
                              </m:accPr>
                              <m:e>
                                <m:r>
                                  <a:rPr lang="en-US" altLang="zh-CN" sz="4000" i="1">
                                    <a:solidFill>
                                      <a:schemeClr val="tx1"/>
                                    </a:solidFill>
                                    <a:latin typeface="Cambria Math" panose="02040503050406030204" pitchFamily="18" charset="0"/>
                                  </a:rPr>
                                  <m:t>𝑑</m:t>
                                </m:r>
                              </m:e>
                            </m:acc>
                            <m:d>
                              <m:dPr>
                                <m:ctrlPr>
                                  <a:rPr lang="en-US" altLang="zh-CN" sz="4000" i="1">
                                    <a:solidFill>
                                      <a:schemeClr val="tx1"/>
                                    </a:solidFill>
                                    <a:latin typeface="Cambria Math" panose="02040503050406030204" pitchFamily="18" charset="0"/>
                                  </a:rPr>
                                </m:ctrlPr>
                              </m:dPr>
                              <m:e>
                                <m:r>
                                  <a:rPr lang="en-US" altLang="zh-CN" sz="4000" i="1">
                                    <a:solidFill>
                                      <a:schemeClr val="tx1"/>
                                    </a:solidFill>
                                    <a:latin typeface="Cambria Math" panose="02040503050406030204" pitchFamily="18" charset="0"/>
                                  </a:rPr>
                                  <m:t>𝑡</m:t>
                                </m:r>
                              </m:e>
                            </m:d>
                            <m:r>
                              <a:rPr lang="en-US" altLang="zh-CN" sz="4000" i="1">
                                <a:solidFill>
                                  <a:schemeClr val="tx1"/>
                                </a:solidFill>
                                <a:latin typeface="Cambria Math" panose="02040503050406030204" pitchFamily="18" charset="0"/>
                              </a:rPr>
                              <m:t>−</m:t>
                            </m:r>
                            <m:r>
                              <a:rPr lang="en-US" altLang="zh-CN" sz="4000" i="1">
                                <a:solidFill>
                                  <a:schemeClr val="tx1"/>
                                </a:solidFill>
                                <a:latin typeface="Cambria Math" panose="02040503050406030204" pitchFamily="18" charset="0"/>
                              </a:rPr>
                              <m:t>𝑑</m:t>
                            </m:r>
                            <m:r>
                              <a:rPr lang="en-US" altLang="zh-CN" sz="4000" i="1">
                                <a:solidFill>
                                  <a:schemeClr val="tx1"/>
                                </a:solidFill>
                                <a:latin typeface="Cambria Math" panose="02040503050406030204" pitchFamily="18" charset="0"/>
                              </a:rPr>
                              <m:t>|</m:t>
                            </m:r>
                          </m:num>
                          <m:den>
                            <m:r>
                              <a:rPr lang="en-US" altLang="zh-CN" sz="4000" i="1">
                                <a:solidFill>
                                  <a:schemeClr val="tx1"/>
                                </a:solidFill>
                                <a:latin typeface="Cambria Math" panose="02040503050406030204" pitchFamily="18" charset="0"/>
                              </a:rPr>
                              <m:t>𝑑</m:t>
                            </m:r>
                          </m:den>
                        </m:f>
                      </m:e>
                    </m:func>
                  </m:oMath>
                </a14:m>
                <a:endParaRPr lang="en-US" altLang="zh-CN" sz="4000" dirty="0">
                  <a:solidFill>
                    <a:srgbClr val="000000"/>
                  </a:solidFill>
                </a:endParaRPr>
              </a:p>
              <a:p>
                <a:pPr marL="609600" indent="-609600">
                  <a:lnSpc>
                    <a:spcPct val="150000"/>
                  </a:lnSpc>
                  <a:buClrTx/>
                  <a:buSzPct val="123000"/>
                  <a:buFont typeface="Arial" panose="020B0604020202020204" pitchFamily="34" charset="0"/>
                  <a:buChar char="•"/>
                </a:pPr>
                <a14:m>
                  <m:oMath xmlns:m="http://schemas.openxmlformats.org/officeDocument/2006/math">
                    <m:r>
                      <a:rPr lang="en-US" altLang="zh-CN" sz="4000">
                        <a:solidFill>
                          <a:schemeClr val="tx1"/>
                        </a:solidFill>
                        <a:latin typeface="Cambria Math" panose="02040503050406030204" pitchFamily="18" charset="0"/>
                        <a:cs typeface="+mn-cs"/>
                      </a:rPr>
                      <m:t>𝜂</m:t>
                    </m:r>
                    <m:r>
                      <a:rPr lang="en-US" altLang="zh-CN" sz="4000">
                        <a:solidFill>
                          <a:schemeClr val="tx1"/>
                        </a:solidFill>
                        <a:latin typeface="Cambria Math" panose="02040503050406030204" pitchFamily="18" charset="0"/>
                        <a:cs typeface="+mn-cs"/>
                      </a:rPr>
                      <m:t>=</m:t>
                    </m:r>
                    <m:f>
                      <m:fPr>
                        <m:ctrlPr>
                          <a:rPr lang="en-US" altLang="zh-CN" sz="4000" i="1">
                            <a:solidFill>
                              <a:schemeClr val="tx1"/>
                            </a:solidFill>
                            <a:latin typeface="Cambria Math" panose="02040503050406030204" pitchFamily="18" charset="0"/>
                            <a:cs typeface="+mn-cs"/>
                          </a:rPr>
                        </m:ctrlPr>
                      </m:fPr>
                      <m:num>
                        <m:r>
                          <a:rPr lang="en-US" altLang="zh-CN" sz="4000">
                            <a:solidFill>
                              <a:schemeClr val="tx1"/>
                            </a:solidFill>
                            <a:latin typeface="Cambria Math" panose="02040503050406030204" pitchFamily="18" charset="0"/>
                            <a:cs typeface="+mn-cs"/>
                          </a:rPr>
                          <m:t>2</m:t>
                        </m:r>
                        <m:func>
                          <m:funcPr>
                            <m:ctrlPr>
                              <a:rPr lang="en-US" altLang="zh-CN" sz="4000" i="1">
                                <a:solidFill>
                                  <a:schemeClr val="tx1"/>
                                </a:solidFill>
                                <a:latin typeface="Cambria Math" panose="02040503050406030204" pitchFamily="18" charset="0"/>
                                <a:cs typeface="+mn-cs"/>
                              </a:rPr>
                            </m:ctrlPr>
                          </m:funcPr>
                          <m:fName>
                            <m:sSup>
                              <m:sSupPr>
                                <m:ctrlPr>
                                  <a:rPr lang="en-US" altLang="zh-CN" sz="4000" i="1">
                                    <a:solidFill>
                                      <a:schemeClr val="tx1"/>
                                    </a:solidFill>
                                    <a:latin typeface="Cambria Math" panose="02040503050406030204" pitchFamily="18" charset="0"/>
                                    <a:cs typeface="+mn-cs"/>
                                  </a:rPr>
                                </m:ctrlPr>
                              </m:sSupPr>
                              <m:e>
                                <m:r>
                                  <m:rPr>
                                    <m:sty m:val="p"/>
                                  </m:rPr>
                                  <a:rPr lang="en-US" altLang="zh-CN" sz="4000">
                                    <a:solidFill>
                                      <a:schemeClr val="tx1"/>
                                    </a:solidFill>
                                    <a:latin typeface="Cambria Math" panose="02040503050406030204" pitchFamily="18" charset="0"/>
                                    <a:cs typeface="+mn-cs"/>
                                  </a:rPr>
                                  <m:t>sin</m:t>
                                </m:r>
                              </m:e>
                              <m:sup>
                                <m:r>
                                  <a:rPr lang="en-US" altLang="zh-CN" sz="4000">
                                    <a:solidFill>
                                      <a:schemeClr val="tx1"/>
                                    </a:solidFill>
                                    <a:latin typeface="Cambria Math" panose="02040503050406030204" pitchFamily="18" charset="0"/>
                                    <a:cs typeface="+mn-cs"/>
                                  </a:rPr>
                                  <m:t>4</m:t>
                                </m:r>
                              </m:sup>
                            </m:sSup>
                          </m:fName>
                          <m:e>
                            <m:r>
                              <a:rPr lang="en-US" altLang="zh-CN" sz="4000">
                                <a:solidFill>
                                  <a:schemeClr val="tx1"/>
                                </a:solidFill>
                                <a:latin typeface="Cambria Math" panose="02040503050406030204" pitchFamily="18" charset="0"/>
                                <a:cs typeface="+mn-cs"/>
                              </a:rPr>
                              <m:t>(</m:t>
                            </m:r>
                            <m:f>
                              <m:fPr>
                                <m:ctrlPr>
                                  <a:rPr lang="en-US" altLang="zh-CN" sz="4000" i="1">
                                    <a:solidFill>
                                      <a:schemeClr val="tx1"/>
                                    </a:solidFill>
                                    <a:latin typeface="Cambria Math" panose="02040503050406030204" pitchFamily="18" charset="0"/>
                                    <a:cs typeface="+mn-cs"/>
                                  </a:rPr>
                                </m:ctrlPr>
                              </m:fPr>
                              <m:num>
                                <m:r>
                                  <a:rPr lang="en-US" altLang="zh-CN" sz="4000">
                                    <a:solidFill>
                                      <a:schemeClr val="tx1"/>
                                    </a:solidFill>
                                    <a:latin typeface="Cambria Math" panose="02040503050406030204" pitchFamily="18" charset="0"/>
                                    <a:cs typeface="+mn-cs"/>
                                  </a:rPr>
                                  <m:t>𝜑</m:t>
                                </m:r>
                              </m:num>
                              <m:den>
                                <m:r>
                                  <a:rPr lang="en-US" altLang="zh-CN" sz="4000">
                                    <a:solidFill>
                                      <a:schemeClr val="tx1"/>
                                    </a:solidFill>
                                    <a:latin typeface="Cambria Math" panose="02040503050406030204" pitchFamily="18" charset="0"/>
                                    <a:cs typeface="+mn-cs"/>
                                  </a:rPr>
                                  <m:t>4</m:t>
                                </m:r>
                              </m:den>
                            </m:f>
                            <m:r>
                              <a:rPr lang="en-US" altLang="zh-CN" sz="4000">
                                <a:solidFill>
                                  <a:schemeClr val="tx1"/>
                                </a:solidFill>
                                <a:latin typeface="Cambria Math" panose="02040503050406030204" pitchFamily="18" charset="0"/>
                                <a:cs typeface="+mn-cs"/>
                              </a:rPr>
                              <m:t>)</m:t>
                            </m:r>
                          </m:e>
                        </m:func>
                      </m:num>
                      <m:den>
                        <m:func>
                          <m:funcPr>
                            <m:ctrlPr>
                              <a:rPr lang="en-US" altLang="zh-CN" sz="4000" i="1">
                                <a:solidFill>
                                  <a:schemeClr val="tx1"/>
                                </a:solidFill>
                                <a:latin typeface="Cambria Math" panose="02040503050406030204" pitchFamily="18" charset="0"/>
                                <a:cs typeface="+mn-cs"/>
                              </a:rPr>
                            </m:ctrlPr>
                          </m:funcPr>
                          <m:fName>
                            <m:r>
                              <m:rPr>
                                <m:sty m:val="p"/>
                              </m:rPr>
                              <a:rPr lang="en-US" altLang="zh-CN" sz="4000">
                                <a:solidFill>
                                  <a:schemeClr val="tx1"/>
                                </a:solidFill>
                                <a:latin typeface="Cambria Math" panose="02040503050406030204" pitchFamily="18" charset="0"/>
                                <a:cs typeface="+mn-cs"/>
                              </a:rPr>
                              <m:t>cos</m:t>
                            </m:r>
                          </m:fName>
                          <m:e>
                            <m:r>
                              <a:rPr lang="en-US" altLang="zh-CN" sz="4000">
                                <a:solidFill>
                                  <a:schemeClr val="tx1"/>
                                </a:solidFill>
                                <a:latin typeface="Cambria Math" panose="02040503050406030204" pitchFamily="18" charset="0"/>
                                <a:cs typeface="+mn-cs"/>
                              </a:rPr>
                              <m:t>(</m:t>
                            </m:r>
                            <m:f>
                              <m:fPr>
                                <m:ctrlPr>
                                  <a:rPr lang="en-US" altLang="zh-CN" sz="4000" i="1">
                                    <a:solidFill>
                                      <a:schemeClr val="tx1"/>
                                    </a:solidFill>
                                    <a:latin typeface="Cambria Math" panose="02040503050406030204" pitchFamily="18" charset="0"/>
                                    <a:cs typeface="+mn-cs"/>
                                  </a:rPr>
                                </m:ctrlPr>
                              </m:fPr>
                              <m:num>
                                <m:r>
                                  <a:rPr lang="en-US" altLang="zh-CN" sz="4000">
                                    <a:solidFill>
                                      <a:schemeClr val="tx1"/>
                                    </a:solidFill>
                                    <a:latin typeface="Cambria Math" panose="02040503050406030204" pitchFamily="18" charset="0"/>
                                    <a:cs typeface="+mn-cs"/>
                                  </a:rPr>
                                  <m:t>𝜑</m:t>
                                </m:r>
                              </m:num>
                              <m:den>
                                <m:r>
                                  <a:rPr lang="en-US" altLang="zh-CN" sz="4000">
                                    <a:solidFill>
                                      <a:schemeClr val="tx1"/>
                                    </a:solidFill>
                                    <a:latin typeface="Cambria Math" panose="02040503050406030204" pitchFamily="18" charset="0"/>
                                    <a:cs typeface="+mn-cs"/>
                                  </a:rPr>
                                  <m:t>2</m:t>
                                </m:r>
                              </m:den>
                            </m:f>
                            <m:r>
                              <a:rPr lang="en-US" altLang="zh-CN" sz="4000">
                                <a:solidFill>
                                  <a:schemeClr val="tx1"/>
                                </a:solidFill>
                                <a:latin typeface="Cambria Math" panose="02040503050406030204" pitchFamily="18" charset="0"/>
                                <a:cs typeface="+mn-cs"/>
                              </a:rPr>
                              <m:t>)</m:t>
                            </m:r>
                          </m:e>
                        </m:func>
                      </m:den>
                    </m:f>
                  </m:oMath>
                </a14:m>
                <a:r>
                  <a:rPr lang="en-US" altLang="zh-CN" sz="4800" dirty="0">
                    <a:solidFill>
                      <a:schemeClr val="tx1"/>
                    </a:solidFill>
                  </a:rPr>
                  <a:t> [Yzerman 2020], </a:t>
                </a:r>
                <a14:m>
                  <m:oMath xmlns:m="http://schemas.openxmlformats.org/officeDocument/2006/math">
                    <m:r>
                      <a:rPr lang="en-US" altLang="zh-CN" sz="4800">
                        <a:solidFill>
                          <a:schemeClr val="tx1"/>
                        </a:solidFill>
                        <a:latin typeface="Cambria Math" panose="02040503050406030204" pitchFamily="18" charset="0"/>
                      </a:rPr>
                      <m:t>𝜑</m:t>
                    </m:r>
                  </m:oMath>
                </a14:m>
                <a:r>
                  <a:rPr lang="zh-CN" altLang="en-US" sz="4800" dirty="0">
                    <a:solidFill>
                      <a:schemeClr val="tx1"/>
                    </a:solidFill>
                  </a:rPr>
                  <a:t> </a:t>
                </a:r>
                <a:r>
                  <a:rPr lang="en-US" altLang="zh-CN" sz="4800" dirty="0">
                    <a:solidFill>
                      <a:schemeClr val="tx1"/>
                    </a:solidFill>
                  </a:rPr>
                  <a:t>is turning angle</a:t>
                </a:r>
              </a:p>
              <a:p>
                <a:pPr marL="609600" indent="-609600">
                  <a:lnSpc>
                    <a:spcPct val="150000"/>
                  </a:lnSpc>
                  <a:buClrTx/>
                  <a:buSzPct val="123000"/>
                  <a:buChar char="•"/>
                </a:pPr>
                <a:r>
                  <a:rPr lang="en-US" altLang="zh-CN" sz="4400" dirty="0">
                    <a:solidFill>
                      <a:srgbClr val="000000"/>
                    </a:solidFill>
                  </a:rPr>
                  <a:t>Subdivision into quadratic </a:t>
                </a:r>
                <a:r>
                  <a:rPr lang="en-US" altLang="zh-CN" sz="4400" dirty="0" err="1">
                    <a:solidFill>
                      <a:srgbClr val="000000"/>
                    </a:solidFill>
                  </a:rPr>
                  <a:t>subcurves</a:t>
                </a:r>
                <a:r>
                  <a:rPr lang="en-US" altLang="zh-CN" sz="4400" dirty="0">
                    <a:solidFill>
                      <a:srgbClr val="000000"/>
                    </a:solidFill>
                  </a:rPr>
                  <a:t> with </a:t>
                </a:r>
                <a14:m>
                  <m:oMath xmlns:m="http://schemas.openxmlformats.org/officeDocument/2006/math">
                    <m:r>
                      <a:rPr lang="en-US" altLang="zh-CN" sz="4400">
                        <a:solidFill>
                          <a:schemeClr val="tx1"/>
                        </a:solidFill>
                        <a:latin typeface="Cambria Math" panose="02040503050406030204" pitchFamily="18" charset="0"/>
                      </a:rPr>
                      <m:t>𝜑</m:t>
                    </m:r>
                    <m:r>
                      <a:rPr lang="en-US" altLang="zh-CN" sz="4400" b="0" i="0" smtClean="0">
                        <a:solidFill>
                          <a:srgbClr val="000000"/>
                        </a:solidFill>
                        <a:latin typeface="Cambria Math" panose="02040503050406030204" pitchFamily="18" charset="0"/>
                      </a:rPr>
                      <m:t>≤</m:t>
                    </m:r>
                    <m:f>
                      <m:fPr>
                        <m:ctrlPr>
                          <a:rPr lang="en-US" altLang="zh-CN" sz="4400" i="1">
                            <a:solidFill>
                              <a:srgbClr val="000000"/>
                            </a:solidFill>
                            <a:latin typeface="Cambria Math" panose="02040503050406030204" pitchFamily="18" charset="0"/>
                          </a:rPr>
                        </m:ctrlPr>
                      </m:fPr>
                      <m:num>
                        <m:r>
                          <a:rPr lang="en-US" altLang="zh-CN" sz="4400">
                            <a:solidFill>
                              <a:srgbClr val="000000"/>
                            </a:solidFill>
                            <a:latin typeface="Cambria Math" panose="02040503050406030204" pitchFamily="18" charset="0"/>
                          </a:rPr>
                          <m:t>𝜋</m:t>
                        </m:r>
                      </m:num>
                      <m:den>
                        <m:r>
                          <a:rPr lang="en-US" altLang="zh-CN" sz="4400" i="1">
                            <a:solidFill>
                              <a:srgbClr val="000000"/>
                            </a:solidFill>
                            <a:latin typeface="Cambria Math" panose="02040503050406030204" pitchFamily="18" charset="0"/>
                          </a:rPr>
                          <m:t>6</m:t>
                        </m:r>
                      </m:den>
                    </m:f>
                  </m:oMath>
                </a14:m>
                <a:endParaRPr lang="en-US" altLang="zh-CN" sz="4400" dirty="0">
                  <a:solidFill>
                    <a:srgbClr val="000000"/>
                  </a:solidFill>
                </a:endParaRPr>
              </a:p>
              <a:p>
                <a:pPr marL="952500" lvl="1" indent="-609600">
                  <a:lnSpc>
                    <a:spcPct val="150000"/>
                  </a:lnSpc>
                  <a:buClrTx/>
                  <a:buSzPct val="123000"/>
                </a:pPr>
                <a:r>
                  <a:rPr lang="en-US" altLang="zh-CN" sz="4000" dirty="0">
                    <a:solidFill>
                      <a:srgbClr val="000000"/>
                    </a:solidFill>
                  </a:rPr>
                  <a:t>Relative error </a:t>
                </a:r>
                <a14:m>
                  <m:oMath xmlns:m="http://schemas.openxmlformats.org/officeDocument/2006/math">
                    <m:r>
                      <a:rPr lang="en-US" altLang="zh-CN" sz="4000">
                        <a:solidFill>
                          <a:srgbClr val="000000"/>
                        </a:solidFill>
                        <a:latin typeface="Cambria Math" panose="02040503050406030204" pitchFamily="18" charset="0"/>
                      </a:rPr>
                      <m:t>≤</m:t>
                    </m:r>
                  </m:oMath>
                </a14:m>
                <a:r>
                  <a:rPr lang="en-US" altLang="zh-CN" sz="4000" dirty="0">
                    <a:solidFill>
                      <a:srgbClr val="000000"/>
                    </a:solidFill>
                  </a:rPr>
                  <a:t> 0.06% </a:t>
                </a:r>
              </a:p>
            </p:txBody>
          </p:sp>
        </mc:Choice>
        <mc:Fallback xmlns="">
          <p:sp>
            <p:nvSpPr>
              <p:cNvPr id="7" name="내용 개체 틀 2">
                <a:extLst>
                  <a:ext uri="{FF2B5EF4-FFF2-40B4-BE49-F238E27FC236}">
                    <a16:creationId xmlns:a16="http://schemas.microsoft.com/office/drawing/2014/main" id="{ECD72367-4F45-0CEB-3E27-0CEDA451D3C3}"/>
                  </a:ext>
                </a:extLst>
              </p:cNvPr>
              <p:cNvSpPr txBox="1">
                <a:spLocks noRot="1" noChangeAspect="1" noMove="1" noResize="1" noEditPoints="1" noAdjustHandles="1" noChangeArrowheads="1" noChangeShapeType="1" noTextEdit="1"/>
              </p:cNvSpPr>
              <p:nvPr/>
            </p:nvSpPr>
            <p:spPr>
              <a:xfrm>
                <a:off x="1618325" y="2551739"/>
                <a:ext cx="21137766" cy="10145700"/>
              </a:xfrm>
              <a:prstGeom prst="rect">
                <a:avLst/>
              </a:prstGeom>
              <a:blipFill>
                <a:blip r:embed="rId5"/>
                <a:stretch>
                  <a:fillRect l="-1557" t="-240"/>
                </a:stretch>
              </a:blipFill>
            </p:spPr>
            <p:txBody>
              <a:bodyPr/>
              <a:lstStyle/>
              <a:p>
                <a:r>
                  <a:rPr lang="zh-CN" altLang="en-US">
                    <a:noFill/>
                  </a:rPr>
                  <a:t> </a:t>
                </a:r>
              </a:p>
            </p:txBody>
          </p:sp>
        </mc:Fallback>
      </mc:AlternateContent>
      <p:sp>
        <p:nvSpPr>
          <p:cNvPr id="5" name="文本框 7">
            <a:extLst>
              <a:ext uri="{FF2B5EF4-FFF2-40B4-BE49-F238E27FC236}">
                <a16:creationId xmlns:a16="http://schemas.microsoft.com/office/drawing/2014/main" id="{ADCF7253-2FB7-A858-A229-073867B7FECA}"/>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Curvature-Guided Subdivision</a:t>
            </a:r>
            <a:endParaRPr lang="zh-CN" altLang="en-US" sz="8800" b="1" i="1" dirty="0">
              <a:latin typeface="Arial Narrow" panose="020B0606020202030204" pitchFamily="34" charset="0"/>
              <a:cs typeface="Arial" panose="020B0604020202020204" pitchFamily="34" charset="0"/>
            </a:endParaRPr>
          </a:p>
        </p:txBody>
      </p:sp>
      <p:pic>
        <p:nvPicPr>
          <p:cNvPr id="6" name="图形 5">
            <a:extLst>
              <a:ext uri="{FF2B5EF4-FFF2-40B4-BE49-F238E27FC236}">
                <a16:creationId xmlns:a16="http://schemas.microsoft.com/office/drawing/2014/main" id="{7E2FF03D-57CD-79E9-2204-87BEE8ABFC0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909042" y="4530416"/>
            <a:ext cx="8057637" cy="4157254"/>
          </a:xfrm>
          <a:prstGeom prst="rect">
            <a:avLst/>
          </a:prstGeom>
        </p:spPr>
      </p:pic>
    </p:spTree>
    <p:extLst>
      <p:ext uri="{BB962C8B-B14F-4D97-AF65-F5344CB8AC3E}">
        <p14:creationId xmlns:p14="http://schemas.microsoft.com/office/powerpoint/2010/main" val="15793096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AEC07AD-9B73-60AC-7CF8-F8E9EB8B4280}"/>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78813ABB-6BDF-2B86-5C63-CB8E8C976A30}"/>
              </a:ext>
            </a:extLst>
          </p:cNvPr>
          <p:cNvPicPr>
            <a:picLocks noChangeAspect="1"/>
          </p:cNvPicPr>
          <p:nvPr/>
        </p:nvPicPr>
        <p:blipFill>
          <a:blip r:embed="rId3"/>
          <a:stretch>
            <a:fillRect/>
          </a:stretch>
        </p:blipFill>
        <p:spPr>
          <a:xfrm>
            <a:off x="15689954" y="7624589"/>
            <a:ext cx="6268500" cy="5354131"/>
          </a:xfrm>
          <a:prstGeom prst="rect">
            <a:avLst/>
          </a:prstGeom>
        </p:spPr>
      </p:pic>
      <p:pic>
        <p:nvPicPr>
          <p:cNvPr id="2" name="图片 1">
            <a:extLst>
              <a:ext uri="{FF2B5EF4-FFF2-40B4-BE49-F238E27FC236}">
                <a16:creationId xmlns:a16="http://schemas.microsoft.com/office/drawing/2014/main" id="{1CA1E6B1-D99B-EFAE-A12D-643E8F72CB19}"/>
              </a:ext>
            </a:extLst>
          </p:cNvPr>
          <p:cNvPicPr>
            <a:picLocks noChangeAspect="1"/>
          </p:cNvPicPr>
          <p:nvPr/>
        </p:nvPicPr>
        <p:blipFill>
          <a:blip r:embed="rId4"/>
          <a:stretch>
            <a:fillRect/>
          </a:stretch>
        </p:blipFill>
        <p:spPr>
          <a:xfrm>
            <a:off x="15317689" y="2051944"/>
            <a:ext cx="6268500" cy="4626534"/>
          </a:xfrm>
          <a:prstGeom prst="rect">
            <a:avLst/>
          </a:prstGeom>
        </p:spPr>
      </p:pic>
      <p:sp>
        <p:nvSpPr>
          <p:cNvPr id="198" name="直接连接符 5">
            <a:extLst>
              <a:ext uri="{FF2B5EF4-FFF2-40B4-BE49-F238E27FC236}">
                <a16:creationId xmlns:a16="http://schemas.microsoft.com/office/drawing/2014/main" id="{E8CAF94D-A566-0A61-1957-A4A109528EAC}"/>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ED5A4855-C387-92AB-BCD5-88D2DC9DB055}"/>
              </a:ext>
            </a:extLst>
          </p:cNvPr>
          <p:cNvPicPr>
            <a:picLocks noChangeAspect="1"/>
          </p:cNvPicPr>
          <p:nvPr/>
        </p:nvPicPr>
        <p:blipFill>
          <a:blip r:embed="rId5"/>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5BF597DC-C556-4027-EA37-645F57C58A58}"/>
              </a:ext>
            </a:extLst>
          </p:cNvPr>
          <p:cNvPicPr>
            <a:picLocks noChangeAspect="1"/>
          </p:cNvPicPr>
          <p:nvPr/>
        </p:nvPicPr>
        <p:blipFill>
          <a:blip r:embed="rId6"/>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4489F74C-1F0A-7B98-DB52-3963F4FED889}"/>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3143C8C0-DEE4-EE30-D3FF-212E7F966D09}"/>
                  </a:ext>
                </a:extLst>
              </p:cNvPr>
              <p:cNvSpPr txBox="1">
                <a:spLocks/>
              </p:cNvSpPr>
              <p:nvPr/>
            </p:nvSpPr>
            <p:spPr>
              <a:xfrm>
                <a:off x="1618325" y="2551739"/>
                <a:ext cx="21137766" cy="10145700"/>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Error analysis for offset curve fitting</a:t>
                </a:r>
              </a:p>
              <a:p>
                <a:pPr marL="609600" indent="-609600">
                  <a:lnSpc>
                    <a:spcPct val="150000"/>
                  </a:lnSpc>
                  <a:buClrTx/>
                  <a:buSzPct val="123000"/>
                  <a:buChar char="•"/>
                </a:pPr>
                <a:r>
                  <a:rPr lang="en-US" altLang="zh-CN" sz="4800" dirty="0">
                    <a:solidFill>
                      <a:srgbClr val="000000"/>
                    </a:solidFill>
                  </a:rPr>
                  <a:t>Relative error:</a:t>
                </a:r>
                <a:r>
                  <a:rPr lang="en-US" altLang="zh-CN" sz="4400" dirty="0"/>
                  <a:t> </a:t>
                </a:r>
                <a14:m>
                  <m:oMath xmlns:m="http://schemas.openxmlformats.org/officeDocument/2006/math">
                    <m:r>
                      <a:rPr lang="en-US" altLang="zh-CN" sz="4000" i="1" smtClean="0">
                        <a:solidFill>
                          <a:schemeClr val="tx1"/>
                        </a:solidFill>
                        <a:latin typeface="Cambria Math" panose="02040503050406030204" pitchFamily="18" charset="0"/>
                      </a:rPr>
                      <m:t>𝜂</m:t>
                    </m:r>
                    <m:r>
                      <a:rPr lang="en-US" altLang="zh-CN" sz="4000" i="1" smtClean="0">
                        <a:solidFill>
                          <a:schemeClr val="tx1"/>
                        </a:solidFill>
                        <a:latin typeface="Cambria Math" panose="02040503050406030204" pitchFamily="18" charset="0"/>
                      </a:rPr>
                      <m:t>=</m:t>
                    </m:r>
                    <m:func>
                      <m:funcPr>
                        <m:ctrlPr>
                          <a:rPr lang="en-US" altLang="zh-CN" sz="4000" i="1">
                            <a:solidFill>
                              <a:schemeClr val="tx1"/>
                            </a:solidFill>
                            <a:latin typeface="Cambria Math" panose="02040503050406030204" pitchFamily="18" charset="0"/>
                          </a:rPr>
                        </m:ctrlPr>
                      </m:funcPr>
                      <m:fName>
                        <m:limLow>
                          <m:limLowPr>
                            <m:ctrlPr>
                              <a:rPr lang="en-US" altLang="zh-CN" sz="4000" i="1">
                                <a:solidFill>
                                  <a:schemeClr val="tx1"/>
                                </a:solidFill>
                                <a:latin typeface="Cambria Math" panose="02040503050406030204" pitchFamily="18" charset="0"/>
                              </a:rPr>
                            </m:ctrlPr>
                          </m:limLowPr>
                          <m:e>
                            <m:r>
                              <m:rPr>
                                <m:sty m:val="p"/>
                              </m:rPr>
                              <a:rPr lang="en-US" altLang="zh-CN" sz="4000">
                                <a:solidFill>
                                  <a:schemeClr val="tx1"/>
                                </a:solidFill>
                                <a:latin typeface="Cambria Math" panose="02040503050406030204" pitchFamily="18" charset="0"/>
                              </a:rPr>
                              <m:t>max</m:t>
                            </m:r>
                          </m:e>
                          <m:lim>
                            <m:r>
                              <a:rPr lang="en-US" altLang="zh-CN" sz="4000" i="1">
                                <a:solidFill>
                                  <a:schemeClr val="tx1"/>
                                </a:solidFill>
                                <a:latin typeface="Cambria Math" panose="02040503050406030204" pitchFamily="18" charset="0"/>
                              </a:rPr>
                              <m:t>𝑡</m:t>
                            </m:r>
                            <m:r>
                              <a:rPr lang="en-US" altLang="zh-CN" sz="4000" i="1">
                                <a:solidFill>
                                  <a:schemeClr val="tx1"/>
                                </a:solidFill>
                                <a:latin typeface="Cambria Math" panose="02040503050406030204" pitchFamily="18" charset="0"/>
                              </a:rPr>
                              <m:t>∈[0,1]</m:t>
                            </m:r>
                          </m:lim>
                        </m:limLow>
                      </m:fName>
                      <m:e>
                        <m:f>
                          <m:fPr>
                            <m:ctrlPr>
                              <a:rPr lang="en-US" altLang="zh-CN" sz="4000" i="1">
                                <a:solidFill>
                                  <a:schemeClr val="tx1"/>
                                </a:solidFill>
                                <a:latin typeface="Cambria Math" panose="02040503050406030204" pitchFamily="18" charset="0"/>
                              </a:rPr>
                            </m:ctrlPr>
                          </m:fPr>
                          <m:num>
                            <m:r>
                              <a:rPr lang="en-US" altLang="zh-CN" sz="4000" i="1">
                                <a:solidFill>
                                  <a:schemeClr val="tx1"/>
                                </a:solidFill>
                                <a:latin typeface="Cambria Math" panose="02040503050406030204" pitchFamily="18" charset="0"/>
                              </a:rPr>
                              <m:t>|</m:t>
                            </m:r>
                            <m:acc>
                              <m:accPr>
                                <m:chr m:val="̂"/>
                                <m:ctrlPr>
                                  <a:rPr lang="en-US" altLang="zh-CN" sz="4000" i="1">
                                    <a:solidFill>
                                      <a:schemeClr val="tx1"/>
                                    </a:solidFill>
                                    <a:latin typeface="Cambria Math" panose="02040503050406030204" pitchFamily="18" charset="0"/>
                                  </a:rPr>
                                </m:ctrlPr>
                              </m:accPr>
                              <m:e>
                                <m:r>
                                  <a:rPr lang="en-US" altLang="zh-CN" sz="4000" i="1">
                                    <a:solidFill>
                                      <a:schemeClr val="tx1"/>
                                    </a:solidFill>
                                    <a:latin typeface="Cambria Math" panose="02040503050406030204" pitchFamily="18" charset="0"/>
                                  </a:rPr>
                                  <m:t>𝑑</m:t>
                                </m:r>
                              </m:e>
                            </m:acc>
                            <m:d>
                              <m:dPr>
                                <m:ctrlPr>
                                  <a:rPr lang="en-US" altLang="zh-CN" sz="4000" i="1">
                                    <a:solidFill>
                                      <a:schemeClr val="tx1"/>
                                    </a:solidFill>
                                    <a:latin typeface="Cambria Math" panose="02040503050406030204" pitchFamily="18" charset="0"/>
                                  </a:rPr>
                                </m:ctrlPr>
                              </m:dPr>
                              <m:e>
                                <m:r>
                                  <a:rPr lang="en-US" altLang="zh-CN" sz="4000" i="1">
                                    <a:solidFill>
                                      <a:schemeClr val="tx1"/>
                                    </a:solidFill>
                                    <a:latin typeface="Cambria Math" panose="02040503050406030204" pitchFamily="18" charset="0"/>
                                  </a:rPr>
                                  <m:t>𝑡</m:t>
                                </m:r>
                              </m:e>
                            </m:d>
                            <m:r>
                              <a:rPr lang="en-US" altLang="zh-CN" sz="4000" i="1">
                                <a:solidFill>
                                  <a:schemeClr val="tx1"/>
                                </a:solidFill>
                                <a:latin typeface="Cambria Math" panose="02040503050406030204" pitchFamily="18" charset="0"/>
                              </a:rPr>
                              <m:t>−</m:t>
                            </m:r>
                            <m:r>
                              <a:rPr lang="en-US" altLang="zh-CN" sz="4000" i="1">
                                <a:solidFill>
                                  <a:schemeClr val="tx1"/>
                                </a:solidFill>
                                <a:latin typeface="Cambria Math" panose="02040503050406030204" pitchFamily="18" charset="0"/>
                              </a:rPr>
                              <m:t>𝑑</m:t>
                            </m:r>
                            <m:r>
                              <a:rPr lang="en-US" altLang="zh-CN" sz="4000" i="1">
                                <a:solidFill>
                                  <a:schemeClr val="tx1"/>
                                </a:solidFill>
                                <a:latin typeface="Cambria Math" panose="02040503050406030204" pitchFamily="18" charset="0"/>
                              </a:rPr>
                              <m:t>|</m:t>
                            </m:r>
                          </m:num>
                          <m:den>
                            <m:r>
                              <a:rPr lang="en-US" altLang="zh-CN" sz="4000" i="1">
                                <a:solidFill>
                                  <a:schemeClr val="tx1"/>
                                </a:solidFill>
                                <a:latin typeface="Cambria Math" panose="02040503050406030204" pitchFamily="18" charset="0"/>
                              </a:rPr>
                              <m:t>𝑑</m:t>
                            </m:r>
                          </m:den>
                        </m:f>
                      </m:e>
                    </m:func>
                  </m:oMath>
                </a14:m>
                <a:endParaRPr lang="en-US" altLang="zh-CN" sz="4000" dirty="0">
                  <a:solidFill>
                    <a:srgbClr val="000000"/>
                  </a:solidFill>
                </a:endParaRPr>
              </a:p>
              <a:p>
                <a:pPr marL="609600" indent="-609600">
                  <a:lnSpc>
                    <a:spcPct val="150000"/>
                  </a:lnSpc>
                  <a:buClrTx/>
                  <a:buSzPct val="123000"/>
                  <a:buFont typeface="Arial" panose="020B0604020202020204" pitchFamily="34" charset="0"/>
                  <a:buChar char="•"/>
                </a:pPr>
                <a14:m>
                  <m:oMath xmlns:m="http://schemas.openxmlformats.org/officeDocument/2006/math">
                    <m:r>
                      <a:rPr lang="en-US" altLang="zh-CN" sz="4000">
                        <a:solidFill>
                          <a:schemeClr val="tx1"/>
                        </a:solidFill>
                        <a:latin typeface="Cambria Math" panose="02040503050406030204" pitchFamily="18" charset="0"/>
                        <a:cs typeface="+mn-cs"/>
                      </a:rPr>
                      <m:t>𝜂</m:t>
                    </m:r>
                    <m:r>
                      <a:rPr lang="en-US" altLang="zh-CN" sz="4000">
                        <a:solidFill>
                          <a:schemeClr val="tx1"/>
                        </a:solidFill>
                        <a:latin typeface="Cambria Math" panose="02040503050406030204" pitchFamily="18" charset="0"/>
                        <a:cs typeface="+mn-cs"/>
                      </a:rPr>
                      <m:t>=</m:t>
                    </m:r>
                    <m:f>
                      <m:fPr>
                        <m:ctrlPr>
                          <a:rPr lang="en-US" altLang="zh-CN" sz="4000" i="1">
                            <a:solidFill>
                              <a:schemeClr val="tx1"/>
                            </a:solidFill>
                            <a:latin typeface="Cambria Math" panose="02040503050406030204" pitchFamily="18" charset="0"/>
                            <a:cs typeface="+mn-cs"/>
                          </a:rPr>
                        </m:ctrlPr>
                      </m:fPr>
                      <m:num>
                        <m:r>
                          <a:rPr lang="en-US" altLang="zh-CN" sz="4000">
                            <a:solidFill>
                              <a:schemeClr val="tx1"/>
                            </a:solidFill>
                            <a:latin typeface="Cambria Math" panose="02040503050406030204" pitchFamily="18" charset="0"/>
                            <a:cs typeface="+mn-cs"/>
                          </a:rPr>
                          <m:t>2</m:t>
                        </m:r>
                        <m:func>
                          <m:funcPr>
                            <m:ctrlPr>
                              <a:rPr lang="en-US" altLang="zh-CN" sz="4000" i="1">
                                <a:solidFill>
                                  <a:schemeClr val="tx1"/>
                                </a:solidFill>
                                <a:latin typeface="Cambria Math" panose="02040503050406030204" pitchFamily="18" charset="0"/>
                                <a:cs typeface="+mn-cs"/>
                              </a:rPr>
                            </m:ctrlPr>
                          </m:funcPr>
                          <m:fName>
                            <m:sSup>
                              <m:sSupPr>
                                <m:ctrlPr>
                                  <a:rPr lang="en-US" altLang="zh-CN" sz="4000" i="1">
                                    <a:solidFill>
                                      <a:schemeClr val="tx1"/>
                                    </a:solidFill>
                                    <a:latin typeface="Cambria Math" panose="02040503050406030204" pitchFamily="18" charset="0"/>
                                    <a:cs typeface="+mn-cs"/>
                                  </a:rPr>
                                </m:ctrlPr>
                              </m:sSupPr>
                              <m:e>
                                <m:r>
                                  <m:rPr>
                                    <m:sty m:val="p"/>
                                  </m:rPr>
                                  <a:rPr lang="en-US" altLang="zh-CN" sz="4000">
                                    <a:solidFill>
                                      <a:schemeClr val="tx1"/>
                                    </a:solidFill>
                                    <a:latin typeface="Cambria Math" panose="02040503050406030204" pitchFamily="18" charset="0"/>
                                    <a:cs typeface="+mn-cs"/>
                                  </a:rPr>
                                  <m:t>sin</m:t>
                                </m:r>
                              </m:e>
                              <m:sup>
                                <m:r>
                                  <a:rPr lang="en-US" altLang="zh-CN" sz="4000">
                                    <a:solidFill>
                                      <a:schemeClr val="tx1"/>
                                    </a:solidFill>
                                    <a:latin typeface="Cambria Math" panose="02040503050406030204" pitchFamily="18" charset="0"/>
                                    <a:cs typeface="+mn-cs"/>
                                  </a:rPr>
                                  <m:t>4</m:t>
                                </m:r>
                              </m:sup>
                            </m:sSup>
                          </m:fName>
                          <m:e>
                            <m:r>
                              <a:rPr lang="en-US" altLang="zh-CN" sz="4000">
                                <a:solidFill>
                                  <a:schemeClr val="tx1"/>
                                </a:solidFill>
                                <a:latin typeface="Cambria Math" panose="02040503050406030204" pitchFamily="18" charset="0"/>
                                <a:cs typeface="+mn-cs"/>
                              </a:rPr>
                              <m:t>(</m:t>
                            </m:r>
                            <m:f>
                              <m:fPr>
                                <m:ctrlPr>
                                  <a:rPr lang="en-US" altLang="zh-CN" sz="4000" i="1">
                                    <a:solidFill>
                                      <a:schemeClr val="tx1"/>
                                    </a:solidFill>
                                    <a:latin typeface="Cambria Math" panose="02040503050406030204" pitchFamily="18" charset="0"/>
                                    <a:cs typeface="+mn-cs"/>
                                  </a:rPr>
                                </m:ctrlPr>
                              </m:fPr>
                              <m:num>
                                <m:r>
                                  <a:rPr lang="en-US" altLang="zh-CN" sz="4000">
                                    <a:solidFill>
                                      <a:schemeClr val="tx1"/>
                                    </a:solidFill>
                                    <a:latin typeface="Cambria Math" panose="02040503050406030204" pitchFamily="18" charset="0"/>
                                    <a:cs typeface="+mn-cs"/>
                                  </a:rPr>
                                  <m:t>𝜑</m:t>
                                </m:r>
                              </m:num>
                              <m:den>
                                <m:r>
                                  <a:rPr lang="en-US" altLang="zh-CN" sz="4000">
                                    <a:solidFill>
                                      <a:schemeClr val="tx1"/>
                                    </a:solidFill>
                                    <a:latin typeface="Cambria Math" panose="02040503050406030204" pitchFamily="18" charset="0"/>
                                    <a:cs typeface="+mn-cs"/>
                                  </a:rPr>
                                  <m:t>4</m:t>
                                </m:r>
                              </m:den>
                            </m:f>
                            <m:r>
                              <a:rPr lang="en-US" altLang="zh-CN" sz="4000">
                                <a:solidFill>
                                  <a:schemeClr val="tx1"/>
                                </a:solidFill>
                                <a:latin typeface="Cambria Math" panose="02040503050406030204" pitchFamily="18" charset="0"/>
                                <a:cs typeface="+mn-cs"/>
                              </a:rPr>
                              <m:t>)</m:t>
                            </m:r>
                          </m:e>
                        </m:func>
                      </m:num>
                      <m:den>
                        <m:func>
                          <m:funcPr>
                            <m:ctrlPr>
                              <a:rPr lang="en-US" altLang="zh-CN" sz="4000" i="1">
                                <a:solidFill>
                                  <a:schemeClr val="tx1"/>
                                </a:solidFill>
                                <a:latin typeface="Cambria Math" panose="02040503050406030204" pitchFamily="18" charset="0"/>
                                <a:cs typeface="+mn-cs"/>
                              </a:rPr>
                            </m:ctrlPr>
                          </m:funcPr>
                          <m:fName>
                            <m:r>
                              <m:rPr>
                                <m:sty m:val="p"/>
                              </m:rPr>
                              <a:rPr lang="en-US" altLang="zh-CN" sz="4000">
                                <a:solidFill>
                                  <a:schemeClr val="tx1"/>
                                </a:solidFill>
                                <a:latin typeface="Cambria Math" panose="02040503050406030204" pitchFamily="18" charset="0"/>
                                <a:cs typeface="+mn-cs"/>
                              </a:rPr>
                              <m:t>cos</m:t>
                            </m:r>
                          </m:fName>
                          <m:e>
                            <m:r>
                              <a:rPr lang="en-US" altLang="zh-CN" sz="4000">
                                <a:solidFill>
                                  <a:schemeClr val="tx1"/>
                                </a:solidFill>
                                <a:latin typeface="Cambria Math" panose="02040503050406030204" pitchFamily="18" charset="0"/>
                                <a:cs typeface="+mn-cs"/>
                              </a:rPr>
                              <m:t>(</m:t>
                            </m:r>
                            <m:f>
                              <m:fPr>
                                <m:ctrlPr>
                                  <a:rPr lang="en-US" altLang="zh-CN" sz="4000" i="1">
                                    <a:solidFill>
                                      <a:schemeClr val="tx1"/>
                                    </a:solidFill>
                                    <a:latin typeface="Cambria Math" panose="02040503050406030204" pitchFamily="18" charset="0"/>
                                    <a:cs typeface="+mn-cs"/>
                                  </a:rPr>
                                </m:ctrlPr>
                              </m:fPr>
                              <m:num>
                                <m:r>
                                  <a:rPr lang="en-US" altLang="zh-CN" sz="4000">
                                    <a:solidFill>
                                      <a:schemeClr val="tx1"/>
                                    </a:solidFill>
                                    <a:latin typeface="Cambria Math" panose="02040503050406030204" pitchFamily="18" charset="0"/>
                                    <a:cs typeface="+mn-cs"/>
                                  </a:rPr>
                                  <m:t>𝜑</m:t>
                                </m:r>
                              </m:num>
                              <m:den>
                                <m:r>
                                  <a:rPr lang="en-US" altLang="zh-CN" sz="4000">
                                    <a:solidFill>
                                      <a:schemeClr val="tx1"/>
                                    </a:solidFill>
                                    <a:latin typeface="Cambria Math" panose="02040503050406030204" pitchFamily="18" charset="0"/>
                                    <a:cs typeface="+mn-cs"/>
                                  </a:rPr>
                                  <m:t>2</m:t>
                                </m:r>
                              </m:den>
                            </m:f>
                            <m:r>
                              <a:rPr lang="en-US" altLang="zh-CN" sz="4000">
                                <a:solidFill>
                                  <a:schemeClr val="tx1"/>
                                </a:solidFill>
                                <a:latin typeface="Cambria Math" panose="02040503050406030204" pitchFamily="18" charset="0"/>
                                <a:cs typeface="+mn-cs"/>
                              </a:rPr>
                              <m:t>)</m:t>
                            </m:r>
                          </m:e>
                        </m:func>
                      </m:den>
                    </m:f>
                  </m:oMath>
                </a14:m>
                <a:r>
                  <a:rPr lang="en-US" altLang="zh-CN" sz="4800" dirty="0">
                    <a:solidFill>
                      <a:schemeClr val="tx1"/>
                    </a:solidFill>
                  </a:rPr>
                  <a:t> [Yzerman 2020], </a:t>
                </a:r>
                <a14:m>
                  <m:oMath xmlns:m="http://schemas.openxmlformats.org/officeDocument/2006/math">
                    <m:r>
                      <a:rPr lang="en-US" altLang="zh-CN" sz="4800">
                        <a:solidFill>
                          <a:schemeClr val="tx1"/>
                        </a:solidFill>
                        <a:latin typeface="Cambria Math" panose="02040503050406030204" pitchFamily="18" charset="0"/>
                      </a:rPr>
                      <m:t>𝜑</m:t>
                    </m:r>
                  </m:oMath>
                </a14:m>
                <a:r>
                  <a:rPr lang="zh-CN" altLang="en-US" sz="4800" dirty="0">
                    <a:solidFill>
                      <a:schemeClr val="tx1"/>
                    </a:solidFill>
                  </a:rPr>
                  <a:t> </a:t>
                </a:r>
                <a:r>
                  <a:rPr lang="en-US" altLang="zh-CN" sz="4800" dirty="0">
                    <a:solidFill>
                      <a:schemeClr val="tx1"/>
                    </a:solidFill>
                  </a:rPr>
                  <a:t>is turning angle</a:t>
                </a:r>
              </a:p>
              <a:p>
                <a:pPr marL="609600" indent="-609600">
                  <a:lnSpc>
                    <a:spcPct val="150000"/>
                  </a:lnSpc>
                  <a:buClrTx/>
                  <a:buSzPct val="123000"/>
                  <a:buFont typeface="Arial" panose="020B0604020202020204" pitchFamily="34" charset="0"/>
                  <a:buChar char="•"/>
                </a:pPr>
                <a:r>
                  <a:rPr lang="en-US" altLang="zh-CN" sz="4800" dirty="0">
                    <a:solidFill>
                      <a:schemeClr val="tx1"/>
                    </a:solidFill>
                  </a:rPr>
                  <a:t>Example: </a:t>
                </a:r>
                <a14:m>
                  <m:oMath xmlns:m="http://schemas.openxmlformats.org/officeDocument/2006/math">
                    <m:r>
                      <a:rPr lang="en-US" altLang="zh-CN" sz="4800" i="1" dirty="0" smtClean="0">
                        <a:solidFill>
                          <a:schemeClr val="tx1"/>
                        </a:solidFill>
                        <a:latin typeface="Cambria Math" panose="02040503050406030204" pitchFamily="18" charset="0"/>
                        <a:cs typeface="+mn-cs"/>
                      </a:rPr>
                      <m:t>𝑑</m:t>
                    </m:r>
                    <m:r>
                      <a:rPr lang="en-US" altLang="zh-CN" sz="4800" i="1" dirty="0" smtClean="0">
                        <a:solidFill>
                          <a:schemeClr val="tx1"/>
                        </a:solidFill>
                        <a:latin typeface="Cambria Math" panose="02040503050406030204" pitchFamily="18" charset="0"/>
                        <a:cs typeface="+mn-cs"/>
                      </a:rPr>
                      <m:t>=50 </m:t>
                    </m:r>
                  </m:oMath>
                </a14:m>
                <a:r>
                  <a:rPr lang="en-US" altLang="zh-CN" sz="4800" dirty="0">
                    <a:solidFill>
                      <a:schemeClr val="tx1"/>
                    </a:solidFill>
                  </a:rPr>
                  <a:t>pixels</a:t>
                </a:r>
              </a:p>
              <a:p>
                <a:pPr marL="952500" lvl="1" indent="-609600">
                  <a:lnSpc>
                    <a:spcPct val="150000"/>
                  </a:lnSpc>
                  <a:buClrTx/>
                  <a:buSzPct val="123000"/>
                </a:pPr>
                <a14:m>
                  <m:oMath xmlns:m="http://schemas.openxmlformats.org/officeDocument/2006/math">
                    <m:r>
                      <a:rPr lang="en-US" altLang="zh-CN" sz="4400" i="1" smtClean="0">
                        <a:solidFill>
                          <a:schemeClr val="tx1"/>
                        </a:solidFill>
                        <a:latin typeface="Cambria Math" panose="02040503050406030204" pitchFamily="18" charset="0"/>
                      </a:rPr>
                      <m:t>𝜑</m:t>
                    </m:r>
                    <m:r>
                      <a:rPr lang="en-US" altLang="zh-CN" sz="4400" i="1" smtClean="0">
                        <a:solidFill>
                          <a:schemeClr val="tx1"/>
                        </a:solidFill>
                        <a:latin typeface="Cambria Math" panose="02040503050406030204" pitchFamily="18" charset="0"/>
                      </a:rPr>
                      <m:t>=</m:t>
                    </m:r>
                    <m:f>
                      <m:fPr>
                        <m:ctrlPr>
                          <a:rPr lang="en-US" altLang="zh-CN" sz="4400" i="1">
                            <a:solidFill>
                              <a:schemeClr val="tx1"/>
                            </a:solidFill>
                            <a:latin typeface="Cambria Math" panose="02040503050406030204" pitchFamily="18" charset="0"/>
                          </a:rPr>
                        </m:ctrlPr>
                      </m:fPr>
                      <m:num>
                        <m:r>
                          <a:rPr lang="en-US" altLang="zh-CN" sz="4400" i="1">
                            <a:solidFill>
                              <a:schemeClr val="tx1"/>
                            </a:solidFill>
                            <a:latin typeface="Cambria Math" panose="02040503050406030204" pitchFamily="18" charset="0"/>
                          </a:rPr>
                          <m:t>𝜋</m:t>
                        </m:r>
                      </m:num>
                      <m:den>
                        <m:r>
                          <a:rPr lang="en-US" altLang="zh-CN" sz="4400" i="1">
                            <a:solidFill>
                              <a:schemeClr val="tx1"/>
                            </a:solidFill>
                            <a:latin typeface="Cambria Math" panose="02040503050406030204" pitchFamily="18" charset="0"/>
                          </a:rPr>
                          <m:t>2</m:t>
                        </m:r>
                      </m:den>
                    </m:f>
                    <m:r>
                      <a:rPr lang="en-US" altLang="zh-CN" sz="4400" i="1">
                        <a:solidFill>
                          <a:schemeClr val="tx1"/>
                        </a:solidFill>
                        <a:latin typeface="Cambria Math" panose="02040503050406030204" pitchFamily="18" charset="0"/>
                      </a:rPr>
                      <m:t>, </m:t>
                    </m:r>
                    <m:r>
                      <a:rPr lang="en-US" altLang="zh-CN" sz="4400" i="1">
                        <a:solidFill>
                          <a:schemeClr val="tx1"/>
                        </a:solidFill>
                        <a:latin typeface="Cambria Math" panose="02040503050406030204" pitchFamily="18" charset="0"/>
                      </a:rPr>
                      <m:t>𝜂</m:t>
                    </m:r>
                    <m:r>
                      <a:rPr lang="en-US" altLang="zh-CN" sz="4400" i="1">
                        <a:solidFill>
                          <a:schemeClr val="tx1"/>
                        </a:solidFill>
                        <a:latin typeface="Cambria Math" panose="02040503050406030204" pitchFamily="18" charset="0"/>
                      </a:rPr>
                      <m:t>≈6%,</m:t>
                    </m:r>
                  </m:oMath>
                </a14:m>
                <a:r>
                  <a:rPr lang="en-US" altLang="zh-CN" sz="4400" dirty="0">
                    <a:solidFill>
                      <a:schemeClr val="tx1"/>
                    </a:solidFill>
                  </a:rPr>
                  <a:t> absolute error </a:t>
                </a:r>
                <a14:m>
                  <m:oMath xmlns:m="http://schemas.openxmlformats.org/officeDocument/2006/math">
                    <m:r>
                      <a:rPr lang="en-US" altLang="zh-CN" sz="4400" b="0" i="1" dirty="0" smtClean="0">
                        <a:solidFill>
                          <a:schemeClr val="tx1"/>
                        </a:solidFill>
                        <a:latin typeface="Cambria Math" panose="02040503050406030204" pitchFamily="18" charset="0"/>
                      </a:rPr>
                      <m:t>≈</m:t>
                    </m:r>
                  </m:oMath>
                </a14:m>
                <a:r>
                  <a:rPr lang="en-US" altLang="zh-CN" sz="4400" dirty="0">
                    <a:solidFill>
                      <a:schemeClr val="tx1"/>
                    </a:solidFill>
                  </a:rPr>
                  <a:t> 3 pixels</a:t>
                </a:r>
              </a:p>
              <a:p>
                <a:pPr marL="952500" lvl="1" indent="-609600">
                  <a:lnSpc>
                    <a:spcPct val="150000"/>
                  </a:lnSpc>
                  <a:buClrTx/>
                  <a:buSzPct val="123000"/>
                </a:pPr>
                <a14:m>
                  <m:oMath xmlns:m="http://schemas.openxmlformats.org/officeDocument/2006/math">
                    <m:r>
                      <a:rPr lang="en-US" altLang="zh-CN" sz="4400" i="1">
                        <a:solidFill>
                          <a:schemeClr val="tx1"/>
                        </a:solidFill>
                        <a:latin typeface="Cambria Math" panose="02040503050406030204" pitchFamily="18" charset="0"/>
                      </a:rPr>
                      <m:t>𝜑</m:t>
                    </m:r>
                    <m:r>
                      <a:rPr lang="en-US" altLang="zh-CN" sz="4400" i="1">
                        <a:solidFill>
                          <a:schemeClr val="tx1"/>
                        </a:solidFill>
                        <a:latin typeface="Cambria Math" panose="02040503050406030204" pitchFamily="18" charset="0"/>
                      </a:rPr>
                      <m:t>=</m:t>
                    </m:r>
                    <m:f>
                      <m:fPr>
                        <m:ctrlPr>
                          <a:rPr lang="en-US" altLang="zh-CN" sz="4400" i="1">
                            <a:solidFill>
                              <a:schemeClr val="tx1"/>
                            </a:solidFill>
                            <a:latin typeface="Cambria Math" panose="02040503050406030204" pitchFamily="18" charset="0"/>
                          </a:rPr>
                        </m:ctrlPr>
                      </m:fPr>
                      <m:num>
                        <m:r>
                          <a:rPr lang="en-US" altLang="zh-CN" sz="4400" i="1">
                            <a:solidFill>
                              <a:schemeClr val="tx1"/>
                            </a:solidFill>
                            <a:latin typeface="Cambria Math" panose="02040503050406030204" pitchFamily="18" charset="0"/>
                          </a:rPr>
                          <m:t>𝜋</m:t>
                        </m:r>
                      </m:num>
                      <m:den>
                        <m:r>
                          <a:rPr lang="en-US" altLang="zh-CN" sz="4400" b="0" i="1" smtClean="0">
                            <a:solidFill>
                              <a:schemeClr val="tx1"/>
                            </a:solidFill>
                            <a:latin typeface="Cambria Math" panose="02040503050406030204" pitchFamily="18" charset="0"/>
                          </a:rPr>
                          <m:t>6</m:t>
                        </m:r>
                      </m:den>
                    </m:f>
                    <m:r>
                      <a:rPr lang="en-US" altLang="zh-CN" sz="4400" i="1">
                        <a:solidFill>
                          <a:schemeClr val="tx1"/>
                        </a:solidFill>
                        <a:latin typeface="Cambria Math" panose="02040503050406030204" pitchFamily="18" charset="0"/>
                      </a:rPr>
                      <m:t>, </m:t>
                    </m:r>
                    <m:r>
                      <a:rPr lang="en-US" altLang="zh-CN" sz="4400" i="1">
                        <a:solidFill>
                          <a:schemeClr val="tx1"/>
                        </a:solidFill>
                        <a:latin typeface="Cambria Math" panose="02040503050406030204" pitchFamily="18" charset="0"/>
                      </a:rPr>
                      <m:t>𝜂</m:t>
                    </m:r>
                    <m:r>
                      <a:rPr lang="en-US" altLang="zh-CN" sz="4400" i="1">
                        <a:solidFill>
                          <a:schemeClr val="tx1"/>
                        </a:solidFill>
                        <a:latin typeface="Cambria Math" panose="02040503050406030204" pitchFamily="18" charset="0"/>
                      </a:rPr>
                      <m:t>≈0.06%,</m:t>
                    </m:r>
                  </m:oMath>
                </a14:m>
                <a:r>
                  <a:rPr lang="en-US" altLang="zh-CN" sz="4400" dirty="0">
                    <a:solidFill>
                      <a:schemeClr val="tx1"/>
                    </a:solidFill>
                  </a:rPr>
                  <a:t> absolute error </a:t>
                </a:r>
                <a14:m>
                  <m:oMath xmlns:m="http://schemas.openxmlformats.org/officeDocument/2006/math">
                    <m:r>
                      <a:rPr lang="en-US" altLang="zh-CN" sz="4400" b="0" i="1" dirty="0" smtClean="0">
                        <a:solidFill>
                          <a:schemeClr val="tx1"/>
                        </a:solidFill>
                        <a:latin typeface="Cambria Math" panose="02040503050406030204" pitchFamily="18" charset="0"/>
                      </a:rPr>
                      <m:t>≈</m:t>
                    </m:r>
                  </m:oMath>
                </a14:m>
                <a:r>
                  <a:rPr lang="en-US" altLang="zh-CN" sz="4400" dirty="0">
                    <a:solidFill>
                      <a:schemeClr val="tx1"/>
                    </a:solidFill>
                  </a:rPr>
                  <a:t> 0.03 pixels</a:t>
                </a:r>
              </a:p>
              <a:p>
                <a:pPr marL="952500" lvl="1" indent="-609600">
                  <a:lnSpc>
                    <a:spcPct val="150000"/>
                  </a:lnSpc>
                  <a:buClrTx/>
                  <a:buSzPct val="123000"/>
                </a:pPr>
                <a:endParaRPr lang="en-US" altLang="zh-CN" sz="4400" dirty="0">
                  <a:solidFill>
                    <a:schemeClr val="tx1"/>
                  </a:solidFill>
                </a:endParaRPr>
              </a:p>
            </p:txBody>
          </p:sp>
        </mc:Choice>
        <mc:Fallback xmlns="">
          <p:sp>
            <p:nvSpPr>
              <p:cNvPr id="7" name="내용 개체 틀 2">
                <a:extLst>
                  <a:ext uri="{FF2B5EF4-FFF2-40B4-BE49-F238E27FC236}">
                    <a16:creationId xmlns:a16="http://schemas.microsoft.com/office/drawing/2014/main" id="{3143C8C0-DEE4-EE30-D3FF-212E7F966D09}"/>
                  </a:ext>
                </a:extLst>
              </p:cNvPr>
              <p:cNvSpPr txBox="1">
                <a:spLocks noRot="1" noChangeAspect="1" noMove="1" noResize="1" noEditPoints="1" noAdjustHandles="1" noChangeArrowheads="1" noChangeShapeType="1" noTextEdit="1"/>
              </p:cNvSpPr>
              <p:nvPr/>
            </p:nvSpPr>
            <p:spPr>
              <a:xfrm>
                <a:off x="1618325" y="2551739"/>
                <a:ext cx="21137766" cy="10145700"/>
              </a:xfrm>
              <a:prstGeom prst="rect">
                <a:avLst/>
              </a:prstGeom>
              <a:blipFill>
                <a:blip r:embed="rId7"/>
                <a:stretch>
                  <a:fillRect l="-1557" t="-240"/>
                </a:stretch>
              </a:blipFill>
            </p:spPr>
            <p:txBody>
              <a:bodyPr/>
              <a:lstStyle/>
              <a:p>
                <a:r>
                  <a:rPr lang="zh-CN" altLang="en-US">
                    <a:noFill/>
                  </a:rPr>
                  <a:t> </a:t>
                </a:r>
              </a:p>
            </p:txBody>
          </p:sp>
        </mc:Fallback>
      </mc:AlternateContent>
      <p:sp>
        <p:nvSpPr>
          <p:cNvPr id="5" name="文本框 7">
            <a:extLst>
              <a:ext uri="{FF2B5EF4-FFF2-40B4-BE49-F238E27FC236}">
                <a16:creationId xmlns:a16="http://schemas.microsoft.com/office/drawing/2014/main" id="{427E4786-FF97-4351-7A9C-F761D0A9E58F}"/>
              </a:ext>
            </a:extLst>
          </p:cNvPr>
          <p:cNvSpPr txBox="1"/>
          <p:nvPr/>
        </p:nvSpPr>
        <p:spPr>
          <a:xfrm>
            <a:off x="723900" y="247650"/>
            <a:ext cx="18561627" cy="153888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Curvature-Guided Subdivision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358706883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A81E9-C4BE-044A-668B-9CEC5CF568FE}"/>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E681A4A8-5827-5FE0-D1AA-14FD172EA505}"/>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29F7D086-9F56-E7AE-7066-206D43D3E8F4}"/>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3BA89109-BFD9-1204-2E13-BB040C6B9041}"/>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8A7CB22A-47EE-510F-EF63-39A60C5A73C7}"/>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2DEE8094-728B-531D-8FF1-7A0916D2F430}"/>
                  </a:ext>
                </a:extLst>
              </p:cNvPr>
              <p:cNvSpPr txBox="1">
                <a:spLocks/>
              </p:cNvSpPr>
              <p:nvPr/>
            </p:nvSpPr>
            <p:spPr>
              <a:xfrm>
                <a:off x="1618325" y="2313202"/>
                <a:ext cx="21137766" cy="10802289"/>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Subdivide into </a:t>
                </a:r>
                <a14:m>
                  <m:oMath xmlns:m="http://schemas.openxmlformats.org/officeDocument/2006/math">
                    <m:r>
                      <a:rPr lang="en-US" altLang="zh-CN" sz="4800" i="1" dirty="0" smtClean="0">
                        <a:solidFill>
                          <a:srgbClr val="000000"/>
                        </a:solidFill>
                        <a:latin typeface="Cambria Math" panose="02040503050406030204" pitchFamily="18" charset="0"/>
                        <a:cs typeface="+mn-cs"/>
                      </a:rPr>
                      <m:t>𝐾</m:t>
                    </m:r>
                    <m:r>
                      <a:rPr lang="en-US" altLang="zh-CN" sz="4800" i="1" dirty="0" smtClean="0">
                        <a:solidFill>
                          <a:srgbClr val="000000"/>
                        </a:solidFill>
                        <a:latin typeface="Cambria Math" panose="02040503050406030204" pitchFamily="18" charset="0"/>
                        <a:cs typeface="+mn-cs"/>
                      </a:rPr>
                      <m:t>=</m:t>
                    </m:r>
                    <m:d>
                      <m:dPr>
                        <m:begChr m:val="⌈"/>
                        <m:endChr m:val="⌉"/>
                        <m:ctrlPr>
                          <a:rPr lang="en-US" altLang="zh-CN" sz="4000" i="1" dirty="0" smtClean="0">
                            <a:solidFill>
                              <a:srgbClr val="000000"/>
                            </a:solidFill>
                            <a:latin typeface="Cambria Math" panose="02040503050406030204" pitchFamily="18" charset="0"/>
                            <a:cs typeface="+mn-cs"/>
                          </a:rPr>
                        </m:ctrlPr>
                      </m:dPr>
                      <m:e>
                        <m:f>
                          <m:fPr>
                            <m:ctrlPr>
                              <a:rPr lang="en-US" altLang="zh-CN" sz="4000" i="1" dirty="0">
                                <a:solidFill>
                                  <a:srgbClr val="000000"/>
                                </a:solidFill>
                                <a:latin typeface="Cambria Math" panose="02040503050406030204" pitchFamily="18" charset="0"/>
                                <a:cs typeface="+mn-cs"/>
                              </a:rPr>
                            </m:ctrlPr>
                          </m:fPr>
                          <m:num>
                            <m:r>
                              <a:rPr lang="en-US" altLang="zh-CN" sz="4000" i="1" dirty="0">
                                <a:solidFill>
                                  <a:srgbClr val="000000"/>
                                </a:solidFill>
                                <a:latin typeface="Cambria Math" panose="02040503050406030204" pitchFamily="18" charset="0"/>
                                <a:cs typeface="+mn-cs"/>
                              </a:rPr>
                              <m:t>𝜑</m:t>
                            </m:r>
                          </m:num>
                          <m:den>
                            <m:sSub>
                              <m:sSubPr>
                                <m:ctrlPr>
                                  <a:rPr lang="en-US" altLang="zh-CN" sz="4000" i="1" dirty="0">
                                    <a:solidFill>
                                      <a:srgbClr val="000000"/>
                                    </a:solidFill>
                                    <a:latin typeface="Cambria Math" panose="02040503050406030204" pitchFamily="18" charset="0"/>
                                    <a:cs typeface="+mn-cs"/>
                                  </a:rPr>
                                </m:ctrlPr>
                              </m:sSubPr>
                              <m:e>
                                <m:r>
                                  <a:rPr lang="en-US" altLang="zh-CN" sz="4000" i="1" dirty="0">
                                    <a:solidFill>
                                      <a:srgbClr val="000000"/>
                                    </a:solidFill>
                                    <a:latin typeface="Cambria Math" panose="02040503050406030204" pitchFamily="18" charset="0"/>
                                    <a:cs typeface="+mn-cs"/>
                                  </a:rPr>
                                  <m:t>𝜑</m:t>
                                </m:r>
                              </m:e>
                              <m:sub>
                                <m:r>
                                  <a:rPr lang="en-US" altLang="zh-CN" sz="4000" i="0" dirty="0">
                                    <a:solidFill>
                                      <a:srgbClr val="000000"/>
                                    </a:solidFill>
                                    <a:latin typeface="Cambria Math" panose="02040503050406030204" pitchFamily="18" charset="0"/>
                                    <a:cs typeface="+mn-cs"/>
                                  </a:rPr>
                                  <m:t>0</m:t>
                                </m:r>
                              </m:sub>
                            </m:sSub>
                          </m:den>
                        </m:f>
                      </m:e>
                    </m:d>
                  </m:oMath>
                </a14:m>
                <a:r>
                  <a:rPr lang="en-US" altLang="zh-CN" sz="4000" dirty="0">
                    <a:solidFill>
                      <a:srgbClr val="000000"/>
                    </a:solidFill>
                  </a:rPr>
                  <a:t> subcurves</a:t>
                </a:r>
              </a:p>
              <a:p>
                <a:pPr marL="609600" indent="-609600">
                  <a:lnSpc>
                    <a:spcPct val="150000"/>
                  </a:lnSpc>
                  <a:buClrTx/>
                  <a:buSzPct val="123000"/>
                  <a:buChar char="•"/>
                </a:pPr>
                <a14:m>
                  <m:oMath xmlns:m="http://schemas.openxmlformats.org/officeDocument/2006/math">
                    <m:sSub>
                      <m:sSubPr>
                        <m:ctrlPr>
                          <a:rPr lang="en-US" altLang="zh-CN" sz="4800" b="1" i="1">
                            <a:solidFill>
                              <a:srgbClr val="7030A0"/>
                            </a:solidFill>
                            <a:latin typeface="Cambria Math" panose="02040503050406030204" pitchFamily="18" charset="0"/>
                          </a:rPr>
                        </m:ctrlPr>
                      </m:sSubPr>
                      <m:e>
                        <m:r>
                          <a:rPr lang="en-US" altLang="zh-CN" sz="4800" b="1">
                            <a:solidFill>
                              <a:srgbClr val="7030A0"/>
                            </a:solidFill>
                            <a:latin typeface="Cambria Math" panose="02040503050406030204" pitchFamily="18" charset="0"/>
                          </a:rPr>
                          <m:t>𝐐</m:t>
                        </m:r>
                      </m:e>
                      <m:sub>
                        <m:r>
                          <a:rPr lang="en-US" altLang="zh-CN" sz="4800" i="1">
                            <a:solidFill>
                              <a:srgbClr val="7030A0"/>
                            </a:solidFill>
                            <a:latin typeface="Cambria Math" panose="02040503050406030204" pitchFamily="18" charset="0"/>
                          </a:rPr>
                          <m:t>𝑖</m:t>
                        </m:r>
                        <m:r>
                          <a:rPr lang="en-US" altLang="zh-CN" sz="4800" i="1">
                            <a:solidFill>
                              <a:srgbClr val="7030A0"/>
                            </a:solidFill>
                            <a:latin typeface="Cambria Math" panose="02040503050406030204" pitchFamily="18" charset="0"/>
                          </a:rPr>
                          <m:t>,0</m:t>
                        </m:r>
                      </m:sub>
                    </m:sSub>
                    <m:r>
                      <a:rPr lang="en-US" altLang="zh-CN" sz="4800" b="1" i="1" smtClean="0">
                        <a:solidFill>
                          <a:srgbClr val="7030A0"/>
                        </a:solidFill>
                        <a:latin typeface="Cambria Math" panose="02040503050406030204" pitchFamily="18" charset="0"/>
                      </a:rPr>
                      <m:t>,</m:t>
                    </m:r>
                    <m:sSub>
                      <m:sSubPr>
                        <m:ctrlPr>
                          <a:rPr lang="en-US" altLang="zh-CN" sz="4800" b="1" i="1">
                            <a:solidFill>
                              <a:srgbClr val="7030A0"/>
                            </a:solidFill>
                            <a:latin typeface="Cambria Math" panose="02040503050406030204" pitchFamily="18" charset="0"/>
                          </a:rPr>
                        </m:ctrlPr>
                      </m:sSubPr>
                      <m:e>
                        <m:r>
                          <a:rPr lang="en-US" altLang="zh-CN" sz="4800" b="1">
                            <a:solidFill>
                              <a:srgbClr val="7030A0"/>
                            </a:solidFill>
                            <a:latin typeface="Cambria Math" panose="02040503050406030204" pitchFamily="18" charset="0"/>
                          </a:rPr>
                          <m:t>𝐐</m:t>
                        </m:r>
                      </m:e>
                      <m:sub>
                        <m:r>
                          <a:rPr lang="en-US" altLang="zh-CN" sz="4800" i="1">
                            <a:solidFill>
                              <a:srgbClr val="7030A0"/>
                            </a:solidFill>
                            <a:latin typeface="Cambria Math" panose="02040503050406030204" pitchFamily="18" charset="0"/>
                          </a:rPr>
                          <m:t>𝑖</m:t>
                        </m:r>
                        <m:r>
                          <a:rPr lang="en-US" altLang="zh-CN" sz="4800" i="1">
                            <a:solidFill>
                              <a:srgbClr val="7030A0"/>
                            </a:solidFill>
                            <a:latin typeface="Cambria Math" panose="02040503050406030204" pitchFamily="18" charset="0"/>
                          </a:rPr>
                          <m:t>,1</m:t>
                        </m:r>
                      </m:sub>
                    </m:sSub>
                    <m:r>
                      <a:rPr lang="en-US" altLang="zh-CN" sz="4800" b="1" i="1" smtClean="0">
                        <a:solidFill>
                          <a:srgbClr val="7030A0"/>
                        </a:solidFill>
                        <a:latin typeface="Cambria Math" panose="02040503050406030204" pitchFamily="18" charset="0"/>
                      </a:rPr>
                      <m:t>,</m:t>
                    </m:r>
                    <m:sSub>
                      <m:sSubPr>
                        <m:ctrlPr>
                          <a:rPr lang="en-US" altLang="zh-CN" sz="4800" b="1" i="1">
                            <a:solidFill>
                              <a:srgbClr val="7030A0"/>
                            </a:solidFill>
                            <a:latin typeface="Cambria Math" panose="02040503050406030204" pitchFamily="18" charset="0"/>
                          </a:rPr>
                        </m:ctrlPr>
                      </m:sSubPr>
                      <m:e>
                        <m:r>
                          <a:rPr lang="en-US" altLang="zh-CN" sz="4800" b="1">
                            <a:solidFill>
                              <a:srgbClr val="7030A0"/>
                            </a:solidFill>
                            <a:latin typeface="Cambria Math" panose="02040503050406030204" pitchFamily="18" charset="0"/>
                          </a:rPr>
                          <m:t>𝐐</m:t>
                        </m:r>
                      </m:e>
                      <m:sub>
                        <m:r>
                          <a:rPr lang="en-US" altLang="zh-CN" sz="4800" i="1">
                            <a:solidFill>
                              <a:srgbClr val="7030A0"/>
                            </a:solidFill>
                            <a:latin typeface="Cambria Math" panose="02040503050406030204" pitchFamily="18" charset="0"/>
                          </a:rPr>
                          <m:t>𝑖</m:t>
                        </m:r>
                        <m:r>
                          <a:rPr lang="en-US" altLang="zh-CN" sz="4800" i="1">
                            <a:solidFill>
                              <a:srgbClr val="7030A0"/>
                            </a:solidFill>
                            <a:latin typeface="Cambria Math" panose="02040503050406030204" pitchFamily="18" charset="0"/>
                          </a:rPr>
                          <m:t>,2</m:t>
                        </m:r>
                      </m:sub>
                    </m:sSub>
                    <m:r>
                      <a:rPr lang="en-US" altLang="zh-CN" sz="4800" b="1" i="1" smtClean="0">
                        <a:solidFill>
                          <a:srgbClr val="7030A0"/>
                        </a:solidFill>
                        <a:latin typeface="Cambria Math" panose="02040503050406030204" pitchFamily="18" charset="0"/>
                      </a:rPr>
                      <m:t>:</m:t>
                    </m:r>
                  </m:oMath>
                </a14:m>
                <a:r>
                  <a:rPr lang="en-US" altLang="zh-CN" sz="4800" dirty="0">
                    <a:solidFill>
                      <a:srgbClr val="000000"/>
                    </a:solidFill>
                  </a:rPr>
                  <a:t> control points of</a:t>
                </a:r>
                <a:r>
                  <a:rPr lang="zh-CN" altLang="en-US" sz="4800" dirty="0">
                    <a:solidFill>
                      <a:srgbClr val="000000"/>
                    </a:solidFill>
                  </a:rPr>
                  <a:t> </a:t>
                </a:r>
                <a14:m>
                  <m:oMath xmlns:m="http://schemas.openxmlformats.org/officeDocument/2006/math">
                    <m:r>
                      <a:rPr lang="en-US" altLang="zh-CN" sz="4800" i="1" dirty="0" smtClean="0">
                        <a:solidFill>
                          <a:srgbClr val="7030A0"/>
                        </a:solidFill>
                        <a:latin typeface="Cambria Math" panose="02040503050406030204" pitchFamily="18" charset="0"/>
                        <a:cs typeface="+mn-cs"/>
                      </a:rPr>
                      <m:t>𝑖</m:t>
                    </m:r>
                  </m:oMath>
                </a14:m>
                <a:r>
                  <a:rPr lang="en-US" altLang="zh-CN" sz="4800" dirty="0">
                    <a:solidFill>
                      <a:srgbClr val="000000"/>
                    </a:solidFill>
                  </a:rPr>
                  <a:t>-</a:t>
                </a:r>
                <a:r>
                  <a:rPr lang="en-US" altLang="zh-CN" sz="4800" dirty="0" err="1">
                    <a:solidFill>
                      <a:srgbClr val="000000"/>
                    </a:solidFill>
                  </a:rPr>
                  <a:t>th</a:t>
                </a:r>
                <a:r>
                  <a:rPr lang="en-US" altLang="zh-CN" sz="4800" dirty="0">
                    <a:solidFill>
                      <a:srgbClr val="000000"/>
                    </a:solidFill>
                  </a:rPr>
                  <a:t> </a:t>
                </a:r>
                <a:r>
                  <a:rPr lang="en-US" altLang="zh-CN" sz="4800" dirty="0" err="1">
                    <a:solidFill>
                      <a:srgbClr val="000000"/>
                    </a:solidFill>
                  </a:rPr>
                  <a:t>subcurve</a:t>
                </a:r>
                <a:endParaRPr lang="en-US" altLang="zh-CN" sz="4800" dirty="0">
                  <a:solidFill>
                    <a:srgbClr val="000000"/>
                  </a:solidFill>
                </a:endParaRPr>
              </a:p>
              <a:p>
                <a:pPr marL="609600" indent="-609600">
                  <a:lnSpc>
                    <a:spcPct val="150000"/>
                  </a:lnSpc>
                  <a:buClrTx/>
                  <a:buSzPct val="123000"/>
                  <a:buChar char="•"/>
                </a:pPr>
                <a:r>
                  <a:rPr lang="en-US" altLang="zh-CN" sz="4800" dirty="0">
                    <a:solidFill>
                      <a:schemeClr val="tx1"/>
                    </a:solidFill>
                  </a:rPr>
                  <a:t>Assume </a:t>
                </a:r>
                <a14:m>
                  <m:oMath xmlns:m="http://schemas.openxmlformats.org/officeDocument/2006/math">
                    <m:sSub>
                      <m:sSubPr>
                        <m:ctrlPr>
                          <a:rPr lang="en-US" altLang="zh-CN" sz="4800" b="1" i="1">
                            <a:solidFill>
                              <a:srgbClr val="7030A0"/>
                            </a:solidFill>
                            <a:latin typeface="Cambria Math" panose="02040503050406030204" pitchFamily="18" charset="0"/>
                          </a:rPr>
                        </m:ctrlPr>
                      </m:sSubPr>
                      <m:e>
                        <m:r>
                          <a:rPr lang="en-US" altLang="zh-CN" sz="4800" b="1">
                            <a:solidFill>
                              <a:srgbClr val="7030A0"/>
                            </a:solidFill>
                            <a:latin typeface="Cambria Math" panose="02040503050406030204" pitchFamily="18" charset="0"/>
                          </a:rPr>
                          <m:t>𝐐</m:t>
                        </m:r>
                      </m:e>
                      <m:sub>
                        <m:r>
                          <a:rPr lang="en-US" altLang="zh-CN" sz="4800" i="1">
                            <a:solidFill>
                              <a:srgbClr val="7030A0"/>
                            </a:solidFill>
                            <a:latin typeface="Cambria Math" panose="02040503050406030204" pitchFamily="18" charset="0"/>
                          </a:rPr>
                          <m:t>𝑖</m:t>
                        </m:r>
                        <m:r>
                          <a:rPr lang="en-US" altLang="zh-CN" sz="4800" i="1">
                            <a:solidFill>
                              <a:srgbClr val="7030A0"/>
                            </a:solidFill>
                            <a:latin typeface="Cambria Math" panose="02040503050406030204" pitchFamily="18" charset="0"/>
                          </a:rPr>
                          <m:t>,0</m:t>
                        </m:r>
                      </m:sub>
                    </m:sSub>
                    <m:r>
                      <a:rPr lang="en-US" altLang="zh-CN" sz="4800" b="1" i="1" smtClean="0">
                        <a:solidFill>
                          <a:srgbClr val="7030A0"/>
                        </a:solidFill>
                        <a:latin typeface="Cambria Math" panose="02040503050406030204" pitchFamily="18" charset="0"/>
                      </a:rPr>
                      <m:t>=</m:t>
                    </m:r>
                    <m:r>
                      <a:rPr lang="en-US" altLang="zh-CN" sz="4800" b="1" i="0">
                        <a:solidFill>
                          <a:srgbClr val="7030A0"/>
                        </a:solidFill>
                        <a:latin typeface="Cambria Math" panose="02040503050406030204" pitchFamily="18" charset="0"/>
                      </a:rPr>
                      <m:t>𝐁</m:t>
                    </m:r>
                    <m:d>
                      <m:dPr>
                        <m:ctrlPr>
                          <a:rPr lang="en-US" altLang="zh-CN" sz="4800" b="1" i="1" smtClean="0">
                            <a:solidFill>
                              <a:srgbClr val="7030A0"/>
                            </a:solidFill>
                            <a:latin typeface="Cambria Math" panose="02040503050406030204" pitchFamily="18" charset="0"/>
                          </a:rPr>
                        </m:ctrlPr>
                      </m:dPr>
                      <m:e>
                        <m:sSub>
                          <m:sSubPr>
                            <m:ctrlPr>
                              <a:rPr lang="en-US" altLang="zh-CN" sz="4800" b="1" i="1" smtClean="0">
                                <a:solidFill>
                                  <a:srgbClr val="7030A0"/>
                                </a:solidFill>
                                <a:latin typeface="Cambria Math" panose="02040503050406030204" pitchFamily="18" charset="0"/>
                              </a:rPr>
                            </m:ctrlPr>
                          </m:sSubPr>
                          <m:e>
                            <m:r>
                              <a:rPr lang="en-US" altLang="zh-CN" sz="4800" b="0" i="1" smtClean="0">
                                <a:solidFill>
                                  <a:srgbClr val="7030A0"/>
                                </a:solidFill>
                                <a:latin typeface="Cambria Math" panose="02040503050406030204" pitchFamily="18" charset="0"/>
                              </a:rPr>
                              <m:t>𝑡</m:t>
                            </m:r>
                          </m:e>
                          <m:sub>
                            <m:r>
                              <m:rPr>
                                <m:sty m:val="p"/>
                              </m:rPr>
                              <a:rPr lang="en-US" altLang="zh-CN" sz="4800" b="0" i="0" smtClean="0">
                                <a:solidFill>
                                  <a:srgbClr val="7030A0"/>
                                </a:solidFill>
                                <a:latin typeface="Cambria Math" panose="02040503050406030204" pitchFamily="18" charset="0"/>
                              </a:rPr>
                              <m:t>i</m:t>
                            </m:r>
                          </m:sub>
                        </m:sSub>
                      </m:e>
                    </m:d>
                    <m:r>
                      <a:rPr lang="en-US" altLang="zh-CN" sz="4800" b="0" i="0" smtClean="0">
                        <a:solidFill>
                          <a:srgbClr val="7030A0"/>
                        </a:solidFill>
                        <a:latin typeface="Cambria Math" panose="02040503050406030204" pitchFamily="18" charset="0"/>
                      </a:rPr>
                      <m:t>,</m:t>
                    </m:r>
                  </m:oMath>
                </a14:m>
                <a:r>
                  <a:rPr lang="en-US" altLang="zh-CN" sz="4800" dirty="0">
                    <a:solidFill>
                      <a:srgbClr val="000000"/>
                    </a:solidFill>
                  </a:rPr>
                  <a:t> Solve </a:t>
                </a:r>
                <a14:m>
                  <m:oMath xmlns:m="http://schemas.openxmlformats.org/officeDocument/2006/math">
                    <m:sSub>
                      <m:sSubPr>
                        <m:ctrlPr>
                          <a:rPr lang="en-US" altLang="zh-CN" sz="4800" b="1" i="1">
                            <a:solidFill>
                              <a:srgbClr val="7030A0"/>
                            </a:solidFill>
                            <a:latin typeface="Cambria Math" panose="02040503050406030204" pitchFamily="18" charset="0"/>
                          </a:rPr>
                        </m:ctrlPr>
                      </m:sSubPr>
                      <m:e>
                        <m:r>
                          <a:rPr lang="en-US" altLang="zh-CN" sz="4800" i="1">
                            <a:solidFill>
                              <a:srgbClr val="7030A0"/>
                            </a:solidFill>
                            <a:latin typeface="Cambria Math" panose="02040503050406030204" pitchFamily="18" charset="0"/>
                          </a:rPr>
                          <m:t>𝑡</m:t>
                        </m:r>
                      </m:e>
                      <m:sub>
                        <m:r>
                          <m:rPr>
                            <m:sty m:val="p"/>
                          </m:rPr>
                          <a:rPr lang="en-US" altLang="zh-CN" sz="4800">
                            <a:solidFill>
                              <a:srgbClr val="7030A0"/>
                            </a:solidFill>
                            <a:latin typeface="Cambria Math" panose="02040503050406030204" pitchFamily="18" charset="0"/>
                          </a:rPr>
                          <m:t>i</m:t>
                        </m:r>
                      </m:sub>
                    </m:sSub>
                  </m:oMath>
                </a14:m>
                <a:endParaRPr lang="en-US" altLang="zh-CN" sz="4800" dirty="0">
                  <a:solidFill>
                    <a:srgbClr val="000000"/>
                  </a:solidFill>
                </a:endParaRPr>
              </a:p>
              <a:p>
                <a:pPr marL="952500" lvl="1" indent="-609600">
                  <a:lnSpc>
                    <a:spcPct val="150000"/>
                  </a:lnSpc>
                  <a:buClrTx/>
                  <a:buSzPct val="123000"/>
                </a:pPr>
                <a14:m>
                  <m:oMath xmlns:m="http://schemas.openxmlformats.org/officeDocument/2006/math">
                    <m:sSup>
                      <m:sSupPr>
                        <m:ctrlPr>
                          <a:rPr lang="en-US" altLang="zh-CN" sz="4400" b="0" i="1" dirty="0" smtClean="0">
                            <a:solidFill>
                              <a:srgbClr val="000000"/>
                            </a:solidFill>
                            <a:latin typeface="Cambria Math" panose="02040503050406030204" pitchFamily="18" charset="0"/>
                            <a:cs typeface="+mn-cs"/>
                          </a:rPr>
                        </m:ctrlPr>
                      </m:sSupPr>
                      <m:e>
                        <m:r>
                          <a:rPr lang="en-US" altLang="zh-CN" sz="4400" i="1" dirty="0" smtClean="0">
                            <a:solidFill>
                              <a:srgbClr val="000000"/>
                            </a:solidFill>
                            <a:latin typeface="Cambria Math" panose="02040503050406030204" pitchFamily="18" charset="0"/>
                            <a:cs typeface="+mn-cs"/>
                          </a:rPr>
                          <m:t>𝐺</m:t>
                        </m:r>
                      </m:e>
                      <m:sup>
                        <m:r>
                          <a:rPr lang="en-US" altLang="zh-CN" sz="4400" b="0" i="1" dirty="0" smtClean="0">
                            <a:solidFill>
                              <a:srgbClr val="000000"/>
                            </a:solidFill>
                            <a:latin typeface="Cambria Math" panose="02040503050406030204" pitchFamily="18" charset="0"/>
                            <a:cs typeface="+mn-cs"/>
                          </a:rPr>
                          <m:t>1</m:t>
                        </m:r>
                      </m:sup>
                    </m:sSup>
                  </m:oMath>
                </a14:m>
                <a:r>
                  <a:rPr lang="en-US" altLang="zh-CN" sz="4400" dirty="0">
                    <a:solidFill>
                      <a:srgbClr val="000000"/>
                    </a:solidFill>
                  </a:rPr>
                  <a:t>-continuity at joints between two </a:t>
                </a:r>
                <a:r>
                  <a:rPr lang="en-US" altLang="zh-CN" sz="4400" dirty="0" err="1">
                    <a:solidFill>
                      <a:srgbClr val="000000"/>
                    </a:solidFill>
                  </a:rPr>
                  <a:t>subcurves</a:t>
                </a:r>
                <a:endParaRPr lang="en-US" altLang="zh-CN" sz="4400" dirty="0">
                  <a:solidFill>
                    <a:srgbClr val="000000"/>
                  </a:solidFill>
                </a:endParaRPr>
              </a:p>
              <a:p>
                <a:pPr marL="1409700" lvl="2" indent="-609600">
                  <a:lnSpc>
                    <a:spcPct val="150000"/>
                  </a:lnSpc>
                  <a:buClrTx/>
                  <a:buSzPct val="123000"/>
                </a:pPr>
                <a14:m>
                  <m:oMath xmlns:m="http://schemas.openxmlformats.org/officeDocument/2006/math">
                    <m:sSub>
                      <m:sSubPr>
                        <m:ctrlPr>
                          <a:rPr lang="en-US" altLang="zh-CN" sz="4400" b="1" i="1">
                            <a:solidFill>
                              <a:srgbClr val="0070C0"/>
                            </a:solidFill>
                            <a:latin typeface="Cambria Math" panose="02040503050406030204" pitchFamily="18" charset="0"/>
                          </a:rPr>
                        </m:ctrlPr>
                      </m:sSubPr>
                      <m:e>
                        <m:r>
                          <a:rPr lang="en-US" altLang="zh-CN" sz="4400" b="1">
                            <a:solidFill>
                              <a:srgbClr val="0070C0"/>
                            </a:solidFill>
                            <a:latin typeface="Cambria Math" panose="02040503050406030204" pitchFamily="18" charset="0"/>
                          </a:rPr>
                          <m:t>𝐐</m:t>
                        </m:r>
                      </m:e>
                      <m:sub>
                        <m:r>
                          <a:rPr lang="en-US" altLang="zh-CN" sz="4400" i="1">
                            <a:solidFill>
                              <a:srgbClr val="0070C0"/>
                            </a:solidFill>
                            <a:latin typeface="Cambria Math" panose="02040503050406030204" pitchFamily="18" charset="0"/>
                          </a:rPr>
                          <m:t>𝑖</m:t>
                        </m:r>
                        <m:r>
                          <a:rPr lang="en-US" altLang="zh-CN" sz="4400" i="1">
                            <a:solidFill>
                              <a:srgbClr val="0070C0"/>
                            </a:solidFill>
                            <a:latin typeface="Cambria Math" panose="02040503050406030204" pitchFamily="18" charset="0"/>
                          </a:rPr>
                          <m:t>+1,0</m:t>
                        </m:r>
                      </m:sub>
                    </m:sSub>
                    <m:r>
                      <a:rPr lang="en-US" altLang="zh-CN" sz="4400" b="1" i="1" smtClean="0">
                        <a:solidFill>
                          <a:srgbClr val="0070C0"/>
                        </a:solidFill>
                        <a:latin typeface="Cambria Math" panose="02040503050406030204" pitchFamily="18" charset="0"/>
                      </a:rPr>
                      <m:t>=</m:t>
                    </m:r>
                    <m:sSub>
                      <m:sSubPr>
                        <m:ctrlPr>
                          <a:rPr lang="en-US" altLang="zh-CN" sz="4400" b="1" i="1">
                            <a:solidFill>
                              <a:srgbClr val="7030A0"/>
                            </a:solidFill>
                            <a:latin typeface="Cambria Math" panose="02040503050406030204" pitchFamily="18" charset="0"/>
                          </a:rPr>
                        </m:ctrlPr>
                      </m:sSubPr>
                      <m:e>
                        <m:r>
                          <a:rPr lang="en-US" altLang="zh-CN" sz="4400" b="1">
                            <a:solidFill>
                              <a:srgbClr val="7030A0"/>
                            </a:solidFill>
                            <a:latin typeface="Cambria Math" panose="02040503050406030204" pitchFamily="18" charset="0"/>
                          </a:rPr>
                          <m:t>𝐐</m:t>
                        </m:r>
                      </m:e>
                      <m:sub>
                        <m:r>
                          <a:rPr lang="en-US" altLang="zh-CN" sz="4400" i="1">
                            <a:solidFill>
                              <a:srgbClr val="7030A0"/>
                            </a:solidFill>
                            <a:latin typeface="Cambria Math" panose="02040503050406030204" pitchFamily="18" charset="0"/>
                          </a:rPr>
                          <m:t>𝑖</m:t>
                        </m:r>
                        <m:r>
                          <a:rPr lang="en-US" altLang="zh-CN" sz="4400" i="1">
                            <a:solidFill>
                              <a:srgbClr val="7030A0"/>
                            </a:solidFill>
                            <a:latin typeface="Cambria Math" panose="02040503050406030204" pitchFamily="18" charset="0"/>
                          </a:rPr>
                          <m:t>,2</m:t>
                        </m:r>
                      </m:sub>
                    </m:sSub>
                    <m:r>
                      <a:rPr lang="en-US" altLang="zh-CN" sz="4400" b="1" i="1" smtClean="0">
                        <a:solidFill>
                          <a:srgbClr val="7030A0"/>
                        </a:solidFill>
                        <a:latin typeface="Cambria Math" panose="02040503050406030204" pitchFamily="18" charset="0"/>
                      </a:rPr>
                      <m:t>,        </m:t>
                    </m:r>
                    <m:sSub>
                      <m:sSubPr>
                        <m:ctrlPr>
                          <a:rPr lang="en-US" altLang="zh-CN" sz="4400" b="1" i="1">
                            <a:solidFill>
                              <a:srgbClr val="7030A0"/>
                            </a:solidFill>
                            <a:latin typeface="Cambria Math" panose="02040503050406030204" pitchFamily="18" charset="0"/>
                          </a:rPr>
                        </m:ctrlPr>
                      </m:sSubPr>
                      <m:e>
                        <m:r>
                          <a:rPr lang="en-US" altLang="zh-CN" sz="4400" b="1">
                            <a:solidFill>
                              <a:srgbClr val="7030A0"/>
                            </a:solidFill>
                            <a:latin typeface="Cambria Math" panose="02040503050406030204" pitchFamily="18" charset="0"/>
                          </a:rPr>
                          <m:t>𝐐</m:t>
                        </m:r>
                      </m:e>
                      <m:sub>
                        <m:r>
                          <a:rPr lang="en-US" altLang="zh-CN" sz="4400" i="1">
                            <a:solidFill>
                              <a:srgbClr val="7030A0"/>
                            </a:solidFill>
                            <a:latin typeface="Cambria Math" panose="02040503050406030204" pitchFamily="18" charset="0"/>
                          </a:rPr>
                          <m:t>𝑖</m:t>
                        </m:r>
                        <m:r>
                          <a:rPr lang="en-US" altLang="zh-CN" sz="4400" i="1">
                            <a:solidFill>
                              <a:srgbClr val="7030A0"/>
                            </a:solidFill>
                            <a:latin typeface="Cambria Math" panose="02040503050406030204" pitchFamily="18" charset="0"/>
                          </a:rPr>
                          <m:t>,1</m:t>
                        </m:r>
                      </m:sub>
                    </m:sSub>
                    <m:sSub>
                      <m:sSubPr>
                        <m:ctrlPr>
                          <a:rPr lang="en-US" altLang="zh-CN" sz="4400" b="1" i="1">
                            <a:solidFill>
                              <a:srgbClr val="7030A0"/>
                            </a:solidFill>
                            <a:latin typeface="Cambria Math" panose="02040503050406030204" pitchFamily="18" charset="0"/>
                          </a:rPr>
                        </m:ctrlPr>
                      </m:sSubPr>
                      <m:e>
                        <m:r>
                          <a:rPr lang="en-US" altLang="zh-CN" sz="4400" b="1">
                            <a:solidFill>
                              <a:srgbClr val="7030A0"/>
                            </a:solidFill>
                            <a:latin typeface="Cambria Math" panose="02040503050406030204" pitchFamily="18" charset="0"/>
                          </a:rPr>
                          <m:t>𝐐</m:t>
                        </m:r>
                      </m:e>
                      <m:sub>
                        <m:r>
                          <a:rPr lang="en-US" altLang="zh-CN" sz="4400" i="1">
                            <a:solidFill>
                              <a:srgbClr val="7030A0"/>
                            </a:solidFill>
                            <a:latin typeface="Cambria Math" panose="02040503050406030204" pitchFamily="18" charset="0"/>
                          </a:rPr>
                          <m:t>𝑖</m:t>
                        </m:r>
                        <m:r>
                          <a:rPr lang="en-US" altLang="zh-CN" sz="4400" i="1">
                            <a:solidFill>
                              <a:srgbClr val="7030A0"/>
                            </a:solidFill>
                            <a:latin typeface="Cambria Math" panose="02040503050406030204" pitchFamily="18" charset="0"/>
                          </a:rPr>
                          <m:t>,2</m:t>
                        </m:r>
                      </m:sub>
                    </m:sSub>
                    <m:r>
                      <a:rPr lang="en-US" altLang="zh-CN" sz="4400" b="1" i="1" smtClean="0">
                        <a:solidFill>
                          <a:srgbClr val="7030A0"/>
                        </a:solidFill>
                        <a:latin typeface="Cambria Math" panose="02040503050406030204" pitchFamily="18" charset="0"/>
                      </a:rPr>
                      <m:t>||</m:t>
                    </m:r>
                    <m:sSub>
                      <m:sSubPr>
                        <m:ctrlPr>
                          <a:rPr lang="en-US" altLang="zh-CN" sz="4400" b="1" i="1">
                            <a:solidFill>
                              <a:srgbClr val="0070C0"/>
                            </a:solidFill>
                            <a:latin typeface="Cambria Math" panose="02040503050406030204" pitchFamily="18" charset="0"/>
                          </a:rPr>
                        </m:ctrlPr>
                      </m:sSubPr>
                      <m:e>
                        <m:r>
                          <a:rPr lang="en-US" altLang="zh-CN" sz="4400" b="1">
                            <a:solidFill>
                              <a:srgbClr val="0070C0"/>
                            </a:solidFill>
                            <a:latin typeface="Cambria Math" panose="02040503050406030204" pitchFamily="18" charset="0"/>
                          </a:rPr>
                          <m:t>𝐐</m:t>
                        </m:r>
                      </m:e>
                      <m:sub>
                        <m:r>
                          <a:rPr lang="en-US" altLang="zh-CN" sz="4400" i="1">
                            <a:solidFill>
                              <a:srgbClr val="0070C0"/>
                            </a:solidFill>
                            <a:latin typeface="Cambria Math" panose="02040503050406030204" pitchFamily="18" charset="0"/>
                          </a:rPr>
                          <m:t>𝑖</m:t>
                        </m:r>
                        <m:r>
                          <a:rPr lang="en-US" altLang="zh-CN" sz="4400" i="1">
                            <a:solidFill>
                              <a:srgbClr val="0070C0"/>
                            </a:solidFill>
                            <a:latin typeface="Cambria Math" panose="02040503050406030204" pitchFamily="18" charset="0"/>
                          </a:rPr>
                          <m:t>+1,0</m:t>
                        </m:r>
                      </m:sub>
                    </m:sSub>
                    <m:sSub>
                      <m:sSubPr>
                        <m:ctrlPr>
                          <a:rPr lang="en-US" altLang="zh-CN" sz="4400" b="1" i="1">
                            <a:solidFill>
                              <a:srgbClr val="0070C0"/>
                            </a:solidFill>
                            <a:latin typeface="Cambria Math" panose="02040503050406030204" pitchFamily="18" charset="0"/>
                          </a:rPr>
                        </m:ctrlPr>
                      </m:sSubPr>
                      <m:e>
                        <m:r>
                          <a:rPr lang="en-US" altLang="zh-CN" sz="4400" b="1">
                            <a:solidFill>
                              <a:srgbClr val="0070C0"/>
                            </a:solidFill>
                            <a:latin typeface="Cambria Math" panose="02040503050406030204" pitchFamily="18" charset="0"/>
                          </a:rPr>
                          <m:t>𝐐</m:t>
                        </m:r>
                      </m:e>
                      <m:sub>
                        <m:r>
                          <a:rPr lang="en-US" altLang="zh-CN" sz="4400" i="1">
                            <a:solidFill>
                              <a:srgbClr val="0070C0"/>
                            </a:solidFill>
                            <a:latin typeface="Cambria Math" panose="02040503050406030204" pitchFamily="18" charset="0"/>
                          </a:rPr>
                          <m:t>𝑖</m:t>
                        </m:r>
                        <m:r>
                          <a:rPr lang="en-US" altLang="zh-CN" sz="4400" i="1">
                            <a:solidFill>
                              <a:srgbClr val="0070C0"/>
                            </a:solidFill>
                            <a:latin typeface="Cambria Math" panose="02040503050406030204" pitchFamily="18" charset="0"/>
                          </a:rPr>
                          <m:t>+1,1</m:t>
                        </m:r>
                      </m:sub>
                    </m:sSub>
                  </m:oMath>
                </a14:m>
                <a:endParaRPr lang="en-US" altLang="zh-CN" sz="4400" dirty="0">
                  <a:solidFill>
                    <a:srgbClr val="000000"/>
                  </a:solidFill>
                </a:endParaRPr>
              </a:p>
              <a:p>
                <a:pPr marL="952500" lvl="1" indent="-609600">
                  <a:lnSpc>
                    <a:spcPct val="150000"/>
                  </a:lnSpc>
                  <a:buClrTx/>
                  <a:buSzPct val="123000"/>
                </a:pPr>
                <a:r>
                  <a:rPr lang="en-US" altLang="zh-CN" sz="4400" dirty="0">
                    <a:solidFill>
                      <a:srgbClr val="000000"/>
                    </a:solidFill>
                  </a:rPr>
                  <a:t>Turning angle of </a:t>
                </a:r>
                <a:r>
                  <a:rPr lang="en-US" altLang="zh-CN" sz="4400" dirty="0" err="1">
                    <a:solidFill>
                      <a:srgbClr val="000000"/>
                    </a:solidFill>
                  </a:rPr>
                  <a:t>subcurve</a:t>
                </a:r>
                <a:r>
                  <a:rPr lang="en-US" altLang="zh-CN" sz="4400" dirty="0">
                    <a:solidFill>
                      <a:srgbClr val="000000"/>
                    </a:solidFill>
                  </a:rPr>
                  <a:t> is </a:t>
                </a:r>
                <a14:m>
                  <m:oMath xmlns:m="http://schemas.openxmlformats.org/officeDocument/2006/math">
                    <m:sSub>
                      <m:sSubPr>
                        <m:ctrlPr>
                          <a:rPr lang="en-US" altLang="zh-CN" sz="4400" b="0" i="1" smtClean="0">
                            <a:solidFill>
                              <a:srgbClr val="000000"/>
                            </a:solidFill>
                            <a:latin typeface="Cambria Math" panose="02040503050406030204" pitchFamily="18" charset="0"/>
                            <a:cs typeface="+mn-cs"/>
                          </a:rPr>
                        </m:ctrlPr>
                      </m:sSubPr>
                      <m:e>
                        <m:r>
                          <a:rPr lang="en-US" altLang="zh-CN" sz="4400" b="0" i="1" smtClean="0">
                            <a:solidFill>
                              <a:srgbClr val="000000"/>
                            </a:solidFill>
                            <a:latin typeface="Cambria Math" panose="02040503050406030204" pitchFamily="18" charset="0"/>
                            <a:cs typeface="+mn-cs"/>
                          </a:rPr>
                          <m:t>𝜑</m:t>
                        </m:r>
                      </m:e>
                      <m:sub>
                        <m:r>
                          <a:rPr lang="en-US" altLang="zh-CN" sz="4400" b="0" i="1" smtClean="0">
                            <a:solidFill>
                              <a:srgbClr val="000000"/>
                            </a:solidFill>
                            <a:latin typeface="Cambria Math" panose="02040503050406030204" pitchFamily="18" charset="0"/>
                            <a:cs typeface="+mn-cs"/>
                          </a:rPr>
                          <m:t>0</m:t>
                        </m:r>
                      </m:sub>
                    </m:sSub>
                  </m:oMath>
                </a14:m>
                <a:endParaRPr lang="en-US" altLang="zh-CN" sz="4400" b="0" i="1" dirty="0">
                  <a:solidFill>
                    <a:srgbClr val="000000"/>
                  </a:solidFill>
                  <a:latin typeface="Cambria Math" panose="02040503050406030204" pitchFamily="18" charset="0"/>
                </a:endParaRPr>
              </a:p>
              <a:p>
                <a:pPr marL="1409700" lvl="2" indent="-609600">
                  <a:lnSpc>
                    <a:spcPct val="150000"/>
                  </a:lnSpc>
                  <a:buClrTx/>
                  <a:buSzPct val="123000"/>
                </a:pPr>
                <a14:m>
                  <m:oMath xmlns:m="http://schemas.openxmlformats.org/officeDocument/2006/math">
                    <m:sSub>
                      <m:sSubPr>
                        <m:ctrlPr>
                          <a:rPr lang="en-US" altLang="zh-CN" sz="4400" b="1" i="1">
                            <a:solidFill>
                              <a:srgbClr val="7030A0"/>
                            </a:solidFill>
                            <a:latin typeface="Cambria Math" panose="02040503050406030204" pitchFamily="18" charset="0"/>
                          </a:rPr>
                        </m:ctrlPr>
                      </m:sSubPr>
                      <m:e>
                        <m:r>
                          <a:rPr lang="en-US" altLang="zh-CN" sz="4400" b="1" i="1" smtClean="0">
                            <a:solidFill>
                              <a:srgbClr val="7030A0"/>
                            </a:solidFill>
                            <a:latin typeface="Cambria Math" panose="02040503050406030204" pitchFamily="18" charset="0"/>
                          </a:rPr>
                          <m:t>∠</m:t>
                        </m:r>
                        <m:r>
                          <a:rPr lang="en-US" altLang="zh-CN" sz="4400" b="1" i="0" smtClean="0">
                            <a:solidFill>
                              <a:srgbClr val="7030A0"/>
                            </a:solidFill>
                            <a:latin typeface="Cambria Math" panose="02040503050406030204" pitchFamily="18" charset="0"/>
                          </a:rPr>
                          <m:t>(</m:t>
                        </m:r>
                        <m:r>
                          <a:rPr lang="en-US" altLang="zh-CN" sz="4400" b="1">
                            <a:solidFill>
                              <a:srgbClr val="7030A0"/>
                            </a:solidFill>
                            <a:latin typeface="Cambria Math" panose="02040503050406030204" pitchFamily="18" charset="0"/>
                          </a:rPr>
                          <m:t>𝐐</m:t>
                        </m:r>
                      </m:e>
                      <m:sub>
                        <m:r>
                          <a:rPr lang="en-US" altLang="zh-CN" sz="4400" i="1">
                            <a:solidFill>
                              <a:srgbClr val="7030A0"/>
                            </a:solidFill>
                            <a:latin typeface="Cambria Math" panose="02040503050406030204" pitchFamily="18" charset="0"/>
                          </a:rPr>
                          <m:t>𝑖</m:t>
                        </m:r>
                        <m:r>
                          <a:rPr lang="en-US" altLang="zh-CN" sz="4400" i="1">
                            <a:solidFill>
                              <a:srgbClr val="7030A0"/>
                            </a:solidFill>
                            <a:latin typeface="Cambria Math" panose="02040503050406030204" pitchFamily="18" charset="0"/>
                          </a:rPr>
                          <m:t>,0</m:t>
                        </m:r>
                      </m:sub>
                    </m:sSub>
                    <m:sSub>
                      <m:sSubPr>
                        <m:ctrlPr>
                          <a:rPr lang="en-US" altLang="zh-CN" sz="4400" b="1" i="1">
                            <a:solidFill>
                              <a:srgbClr val="7030A0"/>
                            </a:solidFill>
                            <a:latin typeface="Cambria Math" panose="02040503050406030204" pitchFamily="18" charset="0"/>
                          </a:rPr>
                        </m:ctrlPr>
                      </m:sSubPr>
                      <m:e>
                        <m:r>
                          <a:rPr lang="en-US" altLang="zh-CN" sz="4400" b="1">
                            <a:solidFill>
                              <a:srgbClr val="7030A0"/>
                            </a:solidFill>
                            <a:latin typeface="Cambria Math" panose="02040503050406030204" pitchFamily="18" charset="0"/>
                          </a:rPr>
                          <m:t>𝐐</m:t>
                        </m:r>
                      </m:e>
                      <m:sub>
                        <m:r>
                          <a:rPr lang="en-US" altLang="zh-CN" sz="4400" i="1">
                            <a:solidFill>
                              <a:srgbClr val="7030A0"/>
                            </a:solidFill>
                            <a:latin typeface="Cambria Math" panose="02040503050406030204" pitchFamily="18" charset="0"/>
                          </a:rPr>
                          <m:t>𝑖</m:t>
                        </m:r>
                        <m:r>
                          <a:rPr lang="en-US" altLang="zh-CN" sz="4400" i="1">
                            <a:solidFill>
                              <a:srgbClr val="7030A0"/>
                            </a:solidFill>
                            <a:latin typeface="Cambria Math" panose="02040503050406030204" pitchFamily="18" charset="0"/>
                          </a:rPr>
                          <m:t>,1</m:t>
                        </m:r>
                      </m:sub>
                    </m:sSub>
                    <m:r>
                      <a:rPr lang="en-US" altLang="zh-CN" sz="4400" b="1" i="1" smtClean="0">
                        <a:solidFill>
                          <a:srgbClr val="7030A0"/>
                        </a:solidFill>
                        <a:latin typeface="Cambria Math" panose="02040503050406030204" pitchFamily="18" charset="0"/>
                      </a:rPr>
                      <m:t>,</m:t>
                    </m:r>
                    <m:sSub>
                      <m:sSubPr>
                        <m:ctrlPr>
                          <a:rPr lang="en-US" altLang="zh-CN" sz="4400" b="1" i="1">
                            <a:solidFill>
                              <a:schemeClr val="tx1"/>
                            </a:solidFill>
                            <a:latin typeface="Cambria Math" panose="02040503050406030204" pitchFamily="18" charset="0"/>
                          </a:rPr>
                        </m:ctrlPr>
                      </m:sSubPr>
                      <m:e>
                        <m:r>
                          <a:rPr lang="en-US" altLang="zh-CN" sz="4400" b="1">
                            <a:solidFill>
                              <a:schemeClr val="tx1"/>
                            </a:solidFill>
                            <a:latin typeface="Cambria Math" panose="02040503050406030204" pitchFamily="18" charset="0"/>
                          </a:rPr>
                          <m:t>𝐏</m:t>
                        </m:r>
                      </m:e>
                      <m:sub>
                        <m:r>
                          <a:rPr lang="en-US" altLang="zh-CN" sz="4400" i="1">
                            <a:solidFill>
                              <a:schemeClr val="tx1"/>
                            </a:solidFill>
                            <a:latin typeface="Cambria Math" panose="02040503050406030204" pitchFamily="18" charset="0"/>
                          </a:rPr>
                          <m:t>0</m:t>
                        </m:r>
                      </m:sub>
                    </m:sSub>
                    <m:sSub>
                      <m:sSubPr>
                        <m:ctrlPr>
                          <a:rPr lang="en-US" altLang="zh-CN" sz="4400" b="1" i="1">
                            <a:solidFill>
                              <a:schemeClr val="tx1"/>
                            </a:solidFill>
                            <a:latin typeface="Cambria Math" panose="02040503050406030204" pitchFamily="18" charset="0"/>
                          </a:rPr>
                        </m:ctrlPr>
                      </m:sSubPr>
                      <m:e>
                        <m:r>
                          <a:rPr lang="en-US" altLang="zh-CN" sz="4400" b="1">
                            <a:solidFill>
                              <a:schemeClr val="tx1"/>
                            </a:solidFill>
                            <a:latin typeface="Cambria Math" panose="02040503050406030204" pitchFamily="18" charset="0"/>
                          </a:rPr>
                          <m:t>𝐏</m:t>
                        </m:r>
                      </m:e>
                      <m:sub>
                        <m:r>
                          <a:rPr lang="en-US" altLang="zh-CN" sz="4400" i="1">
                            <a:solidFill>
                              <a:schemeClr val="tx1"/>
                            </a:solidFill>
                            <a:latin typeface="Cambria Math" panose="02040503050406030204" pitchFamily="18" charset="0"/>
                          </a:rPr>
                          <m:t>1</m:t>
                        </m:r>
                      </m:sub>
                    </m:sSub>
                    <m:r>
                      <a:rPr lang="en-US" altLang="zh-CN" sz="4400" b="1" i="1" smtClean="0">
                        <a:solidFill>
                          <a:srgbClr val="7030A0"/>
                        </a:solidFill>
                        <a:latin typeface="Cambria Math" panose="02040503050406030204" pitchFamily="18" charset="0"/>
                      </a:rPr>
                      <m:t>)=</m:t>
                    </m:r>
                  </m:oMath>
                </a14:m>
                <a:r>
                  <a:rPr lang="zh-CN" altLang="en-US" sz="4400" dirty="0">
                    <a:solidFill>
                      <a:srgbClr val="000000"/>
                    </a:solidFill>
                  </a:rPr>
                  <a:t> </a:t>
                </a:r>
                <a14:m>
                  <m:oMath xmlns:m="http://schemas.openxmlformats.org/officeDocument/2006/math">
                    <m:sSub>
                      <m:sSubPr>
                        <m:ctrlPr>
                          <a:rPr lang="en-US" altLang="zh-CN" sz="4400" i="1">
                            <a:solidFill>
                              <a:srgbClr val="000000"/>
                            </a:solidFill>
                            <a:latin typeface="Cambria Math" panose="02040503050406030204" pitchFamily="18" charset="0"/>
                          </a:rPr>
                        </m:ctrlPr>
                      </m:sSubPr>
                      <m:e>
                        <m:r>
                          <a:rPr lang="en-US" altLang="zh-CN" sz="4400" b="0" i="1" smtClean="0">
                            <a:solidFill>
                              <a:srgbClr val="000000"/>
                            </a:solidFill>
                            <a:latin typeface="Cambria Math" panose="02040503050406030204" pitchFamily="18" charset="0"/>
                          </a:rPr>
                          <m:t>𝑖</m:t>
                        </m:r>
                        <m:r>
                          <a:rPr lang="en-US" altLang="zh-CN" sz="4400" i="1">
                            <a:solidFill>
                              <a:srgbClr val="000000"/>
                            </a:solidFill>
                            <a:latin typeface="Cambria Math" panose="02040503050406030204" pitchFamily="18" charset="0"/>
                          </a:rPr>
                          <m:t>𝜑</m:t>
                        </m:r>
                      </m:e>
                      <m:sub>
                        <m:r>
                          <a:rPr lang="en-US" altLang="zh-CN" sz="4400" i="1">
                            <a:solidFill>
                              <a:srgbClr val="000000"/>
                            </a:solidFill>
                            <a:latin typeface="Cambria Math" panose="02040503050406030204" pitchFamily="18" charset="0"/>
                          </a:rPr>
                          <m:t>0</m:t>
                        </m:r>
                      </m:sub>
                    </m:sSub>
                  </m:oMath>
                </a14:m>
                <a:r>
                  <a:rPr lang="en-US" altLang="zh-CN" sz="4400" dirty="0">
                    <a:solidFill>
                      <a:srgbClr val="000000"/>
                    </a:solidFill>
                  </a:rPr>
                  <a:t>, </a:t>
                </a:r>
                <a14:m>
                  <m:oMath xmlns:m="http://schemas.openxmlformats.org/officeDocument/2006/math">
                    <m:sSub>
                      <m:sSubPr>
                        <m:ctrlPr>
                          <a:rPr lang="en-US" altLang="zh-CN" sz="4400" b="1" i="1">
                            <a:solidFill>
                              <a:srgbClr val="7030A0"/>
                            </a:solidFill>
                            <a:latin typeface="Cambria Math" panose="02040503050406030204" pitchFamily="18" charset="0"/>
                          </a:rPr>
                        </m:ctrlPr>
                      </m:sSubPr>
                      <m:e>
                        <m:r>
                          <a:rPr lang="en-US" altLang="zh-CN" sz="4400" b="1" i="1">
                            <a:solidFill>
                              <a:srgbClr val="7030A0"/>
                            </a:solidFill>
                            <a:latin typeface="Cambria Math" panose="02040503050406030204" pitchFamily="18" charset="0"/>
                          </a:rPr>
                          <m:t>∠</m:t>
                        </m:r>
                        <m:r>
                          <a:rPr lang="en-US" altLang="zh-CN" sz="4400" b="1">
                            <a:solidFill>
                              <a:srgbClr val="7030A0"/>
                            </a:solidFill>
                            <a:latin typeface="Cambria Math" panose="02040503050406030204" pitchFamily="18" charset="0"/>
                          </a:rPr>
                          <m:t>(</m:t>
                        </m:r>
                        <m:r>
                          <a:rPr lang="en-US" altLang="zh-CN" sz="4400" b="1">
                            <a:solidFill>
                              <a:srgbClr val="7030A0"/>
                            </a:solidFill>
                            <a:latin typeface="Cambria Math" panose="02040503050406030204" pitchFamily="18" charset="0"/>
                          </a:rPr>
                          <m:t>𝐐</m:t>
                        </m:r>
                      </m:e>
                      <m:sub>
                        <m:r>
                          <a:rPr lang="en-US" altLang="zh-CN" sz="4400" i="1">
                            <a:solidFill>
                              <a:srgbClr val="7030A0"/>
                            </a:solidFill>
                            <a:latin typeface="Cambria Math" panose="02040503050406030204" pitchFamily="18" charset="0"/>
                          </a:rPr>
                          <m:t>𝑖</m:t>
                        </m:r>
                        <m:r>
                          <a:rPr lang="en-US" altLang="zh-CN" sz="4400" i="1">
                            <a:solidFill>
                              <a:srgbClr val="7030A0"/>
                            </a:solidFill>
                            <a:latin typeface="Cambria Math" panose="02040503050406030204" pitchFamily="18" charset="0"/>
                          </a:rPr>
                          <m:t>,0</m:t>
                        </m:r>
                      </m:sub>
                    </m:sSub>
                    <m:sSub>
                      <m:sSubPr>
                        <m:ctrlPr>
                          <a:rPr lang="en-US" altLang="zh-CN" sz="4400" b="1" i="1">
                            <a:solidFill>
                              <a:srgbClr val="7030A0"/>
                            </a:solidFill>
                            <a:latin typeface="Cambria Math" panose="02040503050406030204" pitchFamily="18" charset="0"/>
                          </a:rPr>
                        </m:ctrlPr>
                      </m:sSubPr>
                      <m:e>
                        <m:r>
                          <a:rPr lang="en-US" altLang="zh-CN" sz="4400" b="1">
                            <a:solidFill>
                              <a:srgbClr val="7030A0"/>
                            </a:solidFill>
                            <a:latin typeface="Cambria Math" panose="02040503050406030204" pitchFamily="18" charset="0"/>
                          </a:rPr>
                          <m:t>𝐐</m:t>
                        </m:r>
                      </m:e>
                      <m:sub>
                        <m:r>
                          <a:rPr lang="en-US" altLang="zh-CN" sz="4400" i="1">
                            <a:solidFill>
                              <a:srgbClr val="7030A0"/>
                            </a:solidFill>
                            <a:latin typeface="Cambria Math" panose="02040503050406030204" pitchFamily="18" charset="0"/>
                          </a:rPr>
                          <m:t>𝑖</m:t>
                        </m:r>
                        <m:r>
                          <a:rPr lang="en-US" altLang="zh-CN" sz="4400" i="1">
                            <a:solidFill>
                              <a:srgbClr val="7030A0"/>
                            </a:solidFill>
                            <a:latin typeface="Cambria Math" panose="02040503050406030204" pitchFamily="18" charset="0"/>
                          </a:rPr>
                          <m:t>,1</m:t>
                        </m:r>
                      </m:sub>
                    </m:sSub>
                    <m:r>
                      <a:rPr lang="en-US" altLang="zh-CN" sz="4400" b="1" i="1">
                        <a:solidFill>
                          <a:srgbClr val="7030A0"/>
                        </a:solidFill>
                        <a:latin typeface="Cambria Math" panose="02040503050406030204" pitchFamily="18" charset="0"/>
                      </a:rPr>
                      <m:t>,</m:t>
                    </m:r>
                    <m:sSub>
                      <m:sSubPr>
                        <m:ctrlPr>
                          <a:rPr lang="en-US" altLang="zh-CN" sz="4400" b="1" i="1">
                            <a:solidFill>
                              <a:schemeClr val="tx1"/>
                            </a:solidFill>
                            <a:latin typeface="Cambria Math" panose="02040503050406030204" pitchFamily="18" charset="0"/>
                          </a:rPr>
                        </m:ctrlPr>
                      </m:sSubPr>
                      <m:e>
                        <m:r>
                          <a:rPr lang="en-US" altLang="zh-CN" sz="4400" b="1">
                            <a:solidFill>
                              <a:schemeClr val="tx1"/>
                            </a:solidFill>
                            <a:latin typeface="Cambria Math" panose="02040503050406030204" pitchFamily="18" charset="0"/>
                          </a:rPr>
                          <m:t>𝐏</m:t>
                        </m:r>
                      </m:e>
                      <m:sub>
                        <m:r>
                          <a:rPr lang="en-US" altLang="zh-CN" sz="4400" i="1">
                            <a:solidFill>
                              <a:schemeClr val="tx1"/>
                            </a:solidFill>
                            <a:latin typeface="Cambria Math" panose="02040503050406030204" pitchFamily="18" charset="0"/>
                          </a:rPr>
                          <m:t>1</m:t>
                        </m:r>
                      </m:sub>
                    </m:sSub>
                    <m:sSub>
                      <m:sSubPr>
                        <m:ctrlPr>
                          <a:rPr lang="en-US" altLang="zh-CN" sz="4400" b="1" i="1">
                            <a:solidFill>
                              <a:schemeClr val="tx1"/>
                            </a:solidFill>
                            <a:latin typeface="Cambria Math" panose="02040503050406030204" pitchFamily="18" charset="0"/>
                          </a:rPr>
                        </m:ctrlPr>
                      </m:sSubPr>
                      <m:e>
                        <m:r>
                          <a:rPr lang="en-US" altLang="zh-CN" sz="4400" b="1">
                            <a:solidFill>
                              <a:schemeClr val="tx1"/>
                            </a:solidFill>
                            <a:latin typeface="Cambria Math" panose="02040503050406030204" pitchFamily="18" charset="0"/>
                          </a:rPr>
                          <m:t>𝐏</m:t>
                        </m:r>
                      </m:e>
                      <m:sub>
                        <m:r>
                          <a:rPr lang="en-US" altLang="zh-CN" sz="4400" b="1" i="1">
                            <a:solidFill>
                              <a:schemeClr val="tx1"/>
                            </a:solidFill>
                            <a:latin typeface="Cambria Math" panose="02040503050406030204" pitchFamily="18" charset="0"/>
                          </a:rPr>
                          <m:t>𝟐</m:t>
                        </m:r>
                      </m:sub>
                    </m:sSub>
                    <m:r>
                      <a:rPr lang="en-US" altLang="zh-CN" sz="4400" b="1" i="1">
                        <a:solidFill>
                          <a:srgbClr val="7030A0"/>
                        </a:solidFill>
                        <a:latin typeface="Cambria Math" panose="02040503050406030204" pitchFamily="18" charset="0"/>
                      </a:rPr>
                      <m:t>)=</m:t>
                    </m:r>
                  </m:oMath>
                </a14:m>
                <a:r>
                  <a:rPr lang="zh-CN" altLang="en-US" sz="4400" dirty="0">
                    <a:solidFill>
                      <a:srgbClr val="000000"/>
                    </a:solidFill>
                  </a:rPr>
                  <a:t> </a:t>
                </a:r>
                <a14:m>
                  <m:oMath xmlns:m="http://schemas.openxmlformats.org/officeDocument/2006/math">
                    <m:sSub>
                      <m:sSubPr>
                        <m:ctrlPr>
                          <a:rPr lang="en-US" altLang="zh-CN" sz="4400" i="1">
                            <a:solidFill>
                              <a:srgbClr val="000000"/>
                            </a:solidFill>
                            <a:latin typeface="Cambria Math" panose="02040503050406030204" pitchFamily="18" charset="0"/>
                          </a:rPr>
                        </m:ctrlPr>
                      </m:sSubPr>
                      <m:e>
                        <m:r>
                          <a:rPr lang="en-US" altLang="zh-CN" sz="4400" i="1">
                            <a:solidFill>
                              <a:srgbClr val="000000"/>
                            </a:solidFill>
                            <a:latin typeface="Cambria Math" panose="02040503050406030204" pitchFamily="18" charset="0"/>
                          </a:rPr>
                          <m:t>𝜑</m:t>
                        </m:r>
                        <m:r>
                          <a:rPr lang="en-US" altLang="zh-CN" sz="4400" b="0" i="1" smtClean="0">
                            <a:solidFill>
                              <a:srgbClr val="000000"/>
                            </a:solidFill>
                            <a:latin typeface="Cambria Math" panose="02040503050406030204" pitchFamily="18" charset="0"/>
                          </a:rPr>
                          <m:t>−</m:t>
                        </m:r>
                        <m:r>
                          <a:rPr lang="en-US" altLang="zh-CN" sz="4400" i="1">
                            <a:solidFill>
                              <a:srgbClr val="000000"/>
                            </a:solidFill>
                            <a:latin typeface="Cambria Math" panose="02040503050406030204" pitchFamily="18" charset="0"/>
                          </a:rPr>
                          <m:t>𝑖</m:t>
                        </m:r>
                        <m:r>
                          <a:rPr lang="en-US" altLang="zh-CN" sz="4400" i="1">
                            <a:solidFill>
                              <a:srgbClr val="000000"/>
                            </a:solidFill>
                            <a:latin typeface="Cambria Math" panose="02040503050406030204" pitchFamily="18" charset="0"/>
                          </a:rPr>
                          <m:t>𝜑</m:t>
                        </m:r>
                      </m:e>
                      <m:sub>
                        <m:r>
                          <a:rPr lang="en-US" altLang="zh-CN" sz="4400" i="1">
                            <a:solidFill>
                              <a:srgbClr val="000000"/>
                            </a:solidFill>
                            <a:latin typeface="Cambria Math" panose="02040503050406030204" pitchFamily="18" charset="0"/>
                          </a:rPr>
                          <m:t>0</m:t>
                        </m:r>
                      </m:sub>
                    </m:sSub>
                  </m:oMath>
                </a14:m>
                <a:endParaRPr lang="en-US" altLang="zh-CN" sz="4400" dirty="0">
                  <a:solidFill>
                    <a:srgbClr val="000000"/>
                  </a:solidFill>
                </a:endParaRPr>
              </a:p>
              <a:p>
                <a:pPr marL="1409700" lvl="2" indent="-609600">
                  <a:lnSpc>
                    <a:spcPct val="150000"/>
                  </a:lnSpc>
                  <a:buClrTx/>
                  <a:buSzPct val="123000"/>
                </a:pPr>
                <a:r>
                  <a:rPr lang="en-US" altLang="zh-CN" sz="4400" dirty="0">
                    <a:solidFill>
                      <a:srgbClr val="000000"/>
                    </a:solidFill>
                  </a:rPr>
                  <a:t>Equation depends only on </a:t>
                </a:r>
                <a14:m>
                  <m:oMath xmlns:m="http://schemas.openxmlformats.org/officeDocument/2006/math">
                    <m:r>
                      <a:rPr lang="en-US" altLang="zh-CN" sz="4400" dirty="0">
                        <a:solidFill>
                          <a:srgbClr val="000000"/>
                        </a:solidFill>
                        <a:latin typeface="Cambria Math" panose="02040503050406030204" pitchFamily="18" charset="0"/>
                        <a:cs typeface="+mn-cs"/>
                      </a:rPr>
                      <m:t>𝑖</m:t>
                    </m:r>
                  </m:oMath>
                </a14:m>
                <a:r>
                  <a:rPr lang="en-US" altLang="zh-CN" sz="4400" dirty="0">
                    <a:solidFill>
                      <a:srgbClr val="000000"/>
                    </a:solidFill>
                  </a:rPr>
                  <a:t>, can be calculated in parallel</a:t>
                </a:r>
              </a:p>
              <a:p>
                <a:pPr marL="952500" lvl="1" indent="-609600">
                  <a:lnSpc>
                    <a:spcPct val="150000"/>
                  </a:lnSpc>
                  <a:buClrTx/>
                  <a:buSzPct val="123000"/>
                </a:pPr>
                <a:endParaRPr lang="en-US" altLang="zh-CN" sz="4400" dirty="0">
                  <a:solidFill>
                    <a:srgbClr val="000000"/>
                  </a:solidFill>
                </a:endParaRPr>
              </a:p>
              <a:p>
                <a:pPr marL="800100" lvl="2" indent="0">
                  <a:lnSpc>
                    <a:spcPct val="150000"/>
                  </a:lnSpc>
                  <a:buClrTx/>
                  <a:buSzPct val="123000"/>
                  <a:buNone/>
                </a:pPr>
                <a:endParaRPr lang="en-US" altLang="zh-CN" sz="4400" dirty="0">
                  <a:solidFill>
                    <a:srgbClr val="000000"/>
                  </a:solidFill>
                </a:endParaRPr>
              </a:p>
            </p:txBody>
          </p:sp>
        </mc:Choice>
        <mc:Fallback xmlns="">
          <p:sp>
            <p:nvSpPr>
              <p:cNvPr id="7" name="내용 개체 틀 2">
                <a:extLst>
                  <a:ext uri="{FF2B5EF4-FFF2-40B4-BE49-F238E27FC236}">
                    <a16:creationId xmlns:a16="http://schemas.microsoft.com/office/drawing/2014/main" id="{2DEE8094-728B-531D-8FF1-7A0916D2F430}"/>
                  </a:ext>
                </a:extLst>
              </p:cNvPr>
              <p:cNvSpPr txBox="1">
                <a:spLocks noRot="1" noChangeAspect="1" noMove="1" noResize="1" noEditPoints="1" noAdjustHandles="1" noChangeArrowheads="1" noChangeShapeType="1" noTextEdit="1"/>
              </p:cNvSpPr>
              <p:nvPr/>
            </p:nvSpPr>
            <p:spPr>
              <a:xfrm>
                <a:off x="1618325" y="2313202"/>
                <a:ext cx="21137766" cy="10802289"/>
              </a:xfrm>
              <a:prstGeom prst="rect">
                <a:avLst/>
              </a:prstGeom>
              <a:blipFill>
                <a:blip r:embed="rId5"/>
                <a:stretch>
                  <a:fillRect l="-1557"/>
                </a:stretch>
              </a:blipFill>
            </p:spPr>
            <p:txBody>
              <a:bodyPr/>
              <a:lstStyle/>
              <a:p>
                <a:r>
                  <a:rPr lang="zh-CN" altLang="en-US">
                    <a:noFill/>
                  </a:rPr>
                  <a:t> </a:t>
                </a:r>
              </a:p>
            </p:txBody>
          </p:sp>
        </mc:Fallback>
      </mc:AlternateContent>
      <p:sp>
        <p:nvSpPr>
          <p:cNvPr id="12" name="椭圆 11">
            <a:extLst>
              <a:ext uri="{FF2B5EF4-FFF2-40B4-BE49-F238E27FC236}">
                <a16:creationId xmlns:a16="http://schemas.microsoft.com/office/drawing/2014/main" id="{9128A9D4-C6F9-7758-6BA2-9212EB712DB6}"/>
              </a:ext>
            </a:extLst>
          </p:cNvPr>
          <p:cNvSpPr/>
          <p:nvPr/>
        </p:nvSpPr>
        <p:spPr>
          <a:xfrm>
            <a:off x="16928122" y="2110940"/>
            <a:ext cx="331304" cy="331304"/>
          </a:xfrm>
          <a:prstGeom prst="ellipse">
            <a:avLst/>
          </a:prstGeom>
          <a:solidFill>
            <a:schemeClr val="bg1"/>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cxnSp>
        <p:nvCxnSpPr>
          <p:cNvPr id="14" name="直接连接符 13">
            <a:extLst>
              <a:ext uri="{FF2B5EF4-FFF2-40B4-BE49-F238E27FC236}">
                <a16:creationId xmlns:a16="http://schemas.microsoft.com/office/drawing/2014/main" id="{3657DCF4-888B-028D-33DB-00D0BA66015D}"/>
              </a:ext>
            </a:extLst>
          </p:cNvPr>
          <p:cNvCxnSpPr>
            <a:cxnSpLocks/>
            <a:stCxn id="10" idx="4"/>
            <a:endCxn id="12" idx="3"/>
          </p:cNvCxnSpPr>
          <p:nvPr/>
        </p:nvCxnSpPr>
        <p:spPr>
          <a:xfrm flipV="1">
            <a:off x="14623109" y="2393726"/>
            <a:ext cx="2353531" cy="6905350"/>
          </a:xfrm>
          <a:prstGeom prst="line">
            <a:avLst/>
          </a:prstGeom>
          <a:ln>
            <a:solidFill>
              <a:schemeClr val="tx1"/>
            </a:solidFill>
          </a:ln>
        </p:spPr>
        <p:style>
          <a:lnRef idx="1">
            <a:schemeClr val="accent5"/>
          </a:lnRef>
          <a:fillRef idx="0">
            <a:schemeClr val="accent5"/>
          </a:fillRef>
          <a:effectRef idx="0">
            <a:schemeClr val="accent5"/>
          </a:effectRef>
          <a:fontRef idx="minor">
            <a:schemeClr val="tx1"/>
          </a:fontRef>
        </p:style>
      </p:cxnSp>
      <p:cxnSp>
        <p:nvCxnSpPr>
          <p:cNvPr id="15" name="直接连接符 14">
            <a:extLst>
              <a:ext uri="{FF2B5EF4-FFF2-40B4-BE49-F238E27FC236}">
                <a16:creationId xmlns:a16="http://schemas.microsoft.com/office/drawing/2014/main" id="{069FE4D1-135F-95D7-AEDF-8EDB1A748E3D}"/>
              </a:ext>
            </a:extLst>
          </p:cNvPr>
          <p:cNvCxnSpPr>
            <a:cxnSpLocks/>
            <a:stCxn id="11" idx="1"/>
            <a:endCxn id="12" idx="5"/>
          </p:cNvCxnSpPr>
          <p:nvPr/>
        </p:nvCxnSpPr>
        <p:spPr>
          <a:xfrm flipH="1" flipV="1">
            <a:off x="17210907" y="2393726"/>
            <a:ext cx="4968742" cy="9424861"/>
          </a:xfrm>
          <a:prstGeom prst="line">
            <a:avLst/>
          </a:prstGeom>
          <a:ln>
            <a:solidFill>
              <a:schemeClr val="tx1"/>
            </a:solidFill>
          </a:ln>
        </p:spPr>
        <p:style>
          <a:lnRef idx="1">
            <a:schemeClr val="accent5"/>
          </a:lnRef>
          <a:fillRef idx="0">
            <a:schemeClr val="accent5"/>
          </a:fillRef>
          <a:effectRef idx="0">
            <a:schemeClr val="accent5"/>
          </a:effectRef>
          <a:fontRef idx="minor">
            <a:schemeClr val="tx1"/>
          </a:fontRef>
        </p:style>
      </p:cxnSp>
      <p:cxnSp>
        <p:nvCxnSpPr>
          <p:cNvPr id="26" name="直接连接符 25">
            <a:extLst>
              <a:ext uri="{FF2B5EF4-FFF2-40B4-BE49-F238E27FC236}">
                <a16:creationId xmlns:a16="http://schemas.microsoft.com/office/drawing/2014/main" id="{A1B5922A-A283-9526-7CB0-364F81B169AC}"/>
              </a:ext>
            </a:extLst>
          </p:cNvPr>
          <p:cNvCxnSpPr>
            <a:cxnSpLocks/>
          </p:cNvCxnSpPr>
          <p:nvPr/>
        </p:nvCxnSpPr>
        <p:spPr>
          <a:xfrm flipV="1">
            <a:off x="15956772" y="5740818"/>
            <a:ext cx="400308" cy="776788"/>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27" name="直接连接符 26">
            <a:extLst>
              <a:ext uri="{FF2B5EF4-FFF2-40B4-BE49-F238E27FC236}">
                <a16:creationId xmlns:a16="http://schemas.microsoft.com/office/drawing/2014/main" id="{9D2DFDB6-9985-683A-AA34-1F4BB3AD8A60}"/>
              </a:ext>
            </a:extLst>
          </p:cNvPr>
          <p:cNvCxnSpPr>
            <a:cxnSpLocks/>
          </p:cNvCxnSpPr>
          <p:nvPr/>
        </p:nvCxnSpPr>
        <p:spPr>
          <a:xfrm flipV="1">
            <a:off x="16340525" y="4856403"/>
            <a:ext cx="1413523" cy="885176"/>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35" name="直接连接符 34">
            <a:extLst>
              <a:ext uri="{FF2B5EF4-FFF2-40B4-BE49-F238E27FC236}">
                <a16:creationId xmlns:a16="http://schemas.microsoft.com/office/drawing/2014/main" id="{3EFCC05D-88EC-A2DA-571D-2DE41F477AAA}"/>
              </a:ext>
            </a:extLst>
          </p:cNvPr>
          <p:cNvCxnSpPr>
            <a:cxnSpLocks/>
          </p:cNvCxnSpPr>
          <p:nvPr/>
        </p:nvCxnSpPr>
        <p:spPr>
          <a:xfrm flipH="1" flipV="1">
            <a:off x="17745602" y="4842238"/>
            <a:ext cx="905122" cy="1067662"/>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49" name="椭圆 48">
            <a:extLst>
              <a:ext uri="{FF2B5EF4-FFF2-40B4-BE49-F238E27FC236}">
                <a16:creationId xmlns:a16="http://schemas.microsoft.com/office/drawing/2014/main" id="{9BDD46C3-F75B-2630-D775-F2A3C04CA9BC}"/>
              </a:ext>
            </a:extLst>
          </p:cNvPr>
          <p:cNvSpPr/>
          <p:nvPr/>
        </p:nvSpPr>
        <p:spPr>
          <a:xfrm>
            <a:off x="16095204" y="5586292"/>
            <a:ext cx="331304" cy="331304"/>
          </a:xfrm>
          <a:prstGeom prst="ellipse">
            <a:avLst/>
          </a:prstGeom>
          <a:solidFill>
            <a:schemeClr val="bg1"/>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51" name="椭圆 50">
            <a:extLst>
              <a:ext uri="{FF2B5EF4-FFF2-40B4-BE49-F238E27FC236}">
                <a16:creationId xmlns:a16="http://schemas.microsoft.com/office/drawing/2014/main" id="{6E30F7F6-9E66-D0A8-F032-B429CB0E7FBD}"/>
              </a:ext>
            </a:extLst>
          </p:cNvPr>
          <p:cNvSpPr/>
          <p:nvPr/>
        </p:nvSpPr>
        <p:spPr>
          <a:xfrm>
            <a:off x="17593202" y="4664650"/>
            <a:ext cx="331304" cy="331304"/>
          </a:xfrm>
          <a:prstGeom prst="ellipse">
            <a:avLst/>
          </a:prstGeom>
          <a:solidFill>
            <a:schemeClr val="bg1"/>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mc:AlternateContent xmlns:mc="http://schemas.openxmlformats.org/markup-compatibility/2006" xmlns:a14="http://schemas.microsoft.com/office/drawing/2010/main">
        <mc:Choice Requires="a14">
          <p:sp>
            <p:nvSpPr>
              <p:cNvPr id="55" name="文本框 54">
                <a:extLst>
                  <a:ext uri="{FF2B5EF4-FFF2-40B4-BE49-F238E27FC236}">
                    <a16:creationId xmlns:a16="http://schemas.microsoft.com/office/drawing/2014/main" id="{993B4A4B-6D7F-32CC-4627-68B8A0089EA4}"/>
                  </a:ext>
                </a:extLst>
              </p:cNvPr>
              <p:cNvSpPr txBox="1"/>
              <p:nvPr/>
            </p:nvSpPr>
            <p:spPr>
              <a:xfrm>
                <a:off x="15625915" y="6702555"/>
                <a:ext cx="1043990" cy="4971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1" i="1" smtClean="0">
                              <a:solidFill>
                                <a:srgbClr val="7030A0"/>
                              </a:solidFill>
                              <a:latin typeface="Cambria Math" panose="02040503050406030204" pitchFamily="18" charset="0"/>
                            </a:rPr>
                          </m:ctrlPr>
                        </m:sSubPr>
                        <m:e>
                          <m:r>
                            <a:rPr lang="en-US" altLang="zh-CN" sz="2800" b="1" i="0" smtClean="0">
                              <a:solidFill>
                                <a:srgbClr val="7030A0"/>
                              </a:solidFill>
                              <a:latin typeface="Cambria Math" panose="02040503050406030204" pitchFamily="18" charset="0"/>
                            </a:rPr>
                            <m:t>𝐐</m:t>
                          </m:r>
                        </m:e>
                        <m:sub>
                          <m:r>
                            <a:rPr lang="en-US" altLang="zh-CN" sz="2800" b="0" i="1" smtClean="0">
                              <a:solidFill>
                                <a:srgbClr val="7030A0"/>
                              </a:solidFill>
                              <a:latin typeface="Cambria Math" panose="02040503050406030204" pitchFamily="18" charset="0"/>
                            </a:rPr>
                            <m:t>𝑖</m:t>
                          </m:r>
                          <m:r>
                            <a:rPr lang="en-US" altLang="zh-CN" sz="2800" b="0" i="1" smtClean="0">
                              <a:solidFill>
                                <a:srgbClr val="7030A0"/>
                              </a:solidFill>
                              <a:latin typeface="Cambria Math" panose="02040503050406030204" pitchFamily="18" charset="0"/>
                            </a:rPr>
                            <m:t>,0</m:t>
                          </m:r>
                        </m:sub>
                      </m:sSub>
                    </m:oMath>
                  </m:oMathPara>
                </a14:m>
                <a:endParaRPr lang="zh-CN" altLang="en-US" sz="2800" b="1" dirty="0">
                  <a:latin typeface="Arial" panose="020B0604020202020204" pitchFamily="34" charset="0"/>
                  <a:cs typeface="Arial" panose="020B0604020202020204" pitchFamily="34" charset="0"/>
                </a:endParaRPr>
              </a:p>
            </p:txBody>
          </p:sp>
        </mc:Choice>
        <mc:Fallback xmlns="">
          <p:sp>
            <p:nvSpPr>
              <p:cNvPr id="55" name="文本框 54">
                <a:extLst>
                  <a:ext uri="{FF2B5EF4-FFF2-40B4-BE49-F238E27FC236}">
                    <a16:creationId xmlns:a16="http://schemas.microsoft.com/office/drawing/2014/main" id="{993B4A4B-6D7F-32CC-4627-68B8A0089EA4}"/>
                  </a:ext>
                </a:extLst>
              </p:cNvPr>
              <p:cNvSpPr txBox="1">
                <a:spLocks noRot="1" noChangeAspect="1" noMove="1" noResize="1" noEditPoints="1" noAdjustHandles="1" noChangeArrowheads="1" noChangeShapeType="1" noTextEdit="1"/>
              </p:cNvSpPr>
              <p:nvPr/>
            </p:nvSpPr>
            <p:spPr>
              <a:xfrm>
                <a:off x="15625915" y="6702555"/>
                <a:ext cx="1043990" cy="497187"/>
              </a:xfrm>
              <a:prstGeom prst="rect">
                <a:avLst/>
              </a:prstGeom>
              <a:blipFill>
                <a:blip r:embed="rId6"/>
                <a:stretch>
                  <a:fillRect b="-13580"/>
                </a:stretch>
              </a:blipFill>
              <a:ln w="12700" cap="flat">
                <a:noFill/>
                <a:miter lim="400000"/>
              </a:ln>
              <a:effec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6" name="文本框 55">
                <a:extLst>
                  <a:ext uri="{FF2B5EF4-FFF2-40B4-BE49-F238E27FC236}">
                    <a16:creationId xmlns:a16="http://schemas.microsoft.com/office/drawing/2014/main" id="{32FC3B19-CC7F-E220-3063-77ACA7A164EA}"/>
                  </a:ext>
                </a:extLst>
              </p:cNvPr>
              <p:cNvSpPr txBox="1"/>
              <p:nvPr/>
            </p:nvSpPr>
            <p:spPr>
              <a:xfrm>
                <a:off x="16373550" y="5583767"/>
                <a:ext cx="2214799" cy="4971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1" i="1" smtClean="0">
                              <a:solidFill>
                                <a:srgbClr val="7030A0"/>
                              </a:solidFill>
                              <a:latin typeface="Cambria Math" panose="02040503050406030204" pitchFamily="18" charset="0"/>
                            </a:rPr>
                          </m:ctrlPr>
                        </m:sSubPr>
                        <m:e>
                          <m:r>
                            <a:rPr lang="en-US" altLang="zh-CN" sz="2800" b="1" i="0" smtClean="0">
                              <a:solidFill>
                                <a:srgbClr val="7030A0"/>
                              </a:solidFill>
                              <a:latin typeface="Cambria Math" panose="02040503050406030204" pitchFamily="18" charset="0"/>
                            </a:rPr>
                            <m:t>𝐐</m:t>
                          </m:r>
                        </m:e>
                        <m:sub>
                          <m:r>
                            <a:rPr lang="en-US" altLang="zh-CN" sz="2800" b="0" i="1" smtClean="0">
                              <a:solidFill>
                                <a:srgbClr val="7030A0"/>
                              </a:solidFill>
                              <a:latin typeface="Cambria Math" panose="02040503050406030204" pitchFamily="18" charset="0"/>
                            </a:rPr>
                            <m:t>𝑖</m:t>
                          </m:r>
                          <m:r>
                            <a:rPr lang="en-US" altLang="zh-CN" sz="2800" b="0" i="1" smtClean="0">
                              <a:solidFill>
                                <a:srgbClr val="7030A0"/>
                              </a:solidFill>
                              <a:latin typeface="Cambria Math" panose="02040503050406030204" pitchFamily="18" charset="0"/>
                            </a:rPr>
                            <m:t>,2</m:t>
                          </m:r>
                        </m:sub>
                      </m:sSub>
                      <m:r>
                        <a:rPr lang="en-US" altLang="zh-CN" sz="2800" b="1" i="1" smtClean="0">
                          <a:latin typeface="Cambria Math" panose="02040503050406030204" pitchFamily="18" charset="0"/>
                        </a:rPr>
                        <m:t>(</m:t>
                      </m:r>
                      <m:sSub>
                        <m:sSubPr>
                          <m:ctrlPr>
                            <a:rPr lang="en-US" altLang="zh-CN" sz="2800" b="1" i="1" smtClean="0">
                              <a:solidFill>
                                <a:srgbClr val="0070C0"/>
                              </a:solidFill>
                              <a:latin typeface="Cambria Math" panose="02040503050406030204" pitchFamily="18" charset="0"/>
                            </a:rPr>
                          </m:ctrlPr>
                        </m:sSubPr>
                        <m:e>
                          <m:r>
                            <a:rPr lang="en-US" altLang="zh-CN" sz="2800" b="1">
                              <a:solidFill>
                                <a:srgbClr val="0070C0"/>
                              </a:solidFill>
                              <a:latin typeface="Cambria Math" panose="02040503050406030204" pitchFamily="18" charset="0"/>
                            </a:rPr>
                            <m:t>𝐐</m:t>
                          </m:r>
                        </m:e>
                        <m:sub>
                          <m:r>
                            <a:rPr lang="en-US" altLang="zh-CN" sz="2800" i="1">
                              <a:solidFill>
                                <a:srgbClr val="0070C0"/>
                              </a:solidFill>
                              <a:latin typeface="Cambria Math" panose="02040503050406030204" pitchFamily="18" charset="0"/>
                            </a:rPr>
                            <m:t>𝑖</m:t>
                          </m:r>
                          <m:r>
                            <a:rPr lang="en-US" altLang="zh-CN" sz="2800" b="0" i="1" smtClean="0">
                              <a:solidFill>
                                <a:srgbClr val="0070C0"/>
                              </a:solidFill>
                              <a:latin typeface="Cambria Math" panose="02040503050406030204" pitchFamily="18" charset="0"/>
                            </a:rPr>
                            <m:t>+</m:t>
                          </m:r>
                          <m:r>
                            <a:rPr lang="en-US" altLang="zh-CN" sz="2800" i="1" smtClean="0">
                              <a:solidFill>
                                <a:srgbClr val="0070C0"/>
                              </a:solidFill>
                              <a:latin typeface="Cambria Math" panose="02040503050406030204" pitchFamily="18" charset="0"/>
                            </a:rPr>
                            <m:t>1</m:t>
                          </m:r>
                          <m:r>
                            <a:rPr lang="en-US" altLang="zh-CN" sz="2800" i="1">
                              <a:solidFill>
                                <a:srgbClr val="0070C0"/>
                              </a:solidFill>
                              <a:latin typeface="Cambria Math" panose="02040503050406030204" pitchFamily="18" charset="0"/>
                            </a:rPr>
                            <m:t>,</m:t>
                          </m:r>
                          <m:r>
                            <a:rPr lang="en-US" altLang="zh-CN" sz="2800" i="1" smtClean="0">
                              <a:solidFill>
                                <a:srgbClr val="0070C0"/>
                              </a:solidFill>
                              <a:latin typeface="Cambria Math" panose="02040503050406030204" pitchFamily="18" charset="0"/>
                            </a:rPr>
                            <m:t>0</m:t>
                          </m:r>
                        </m:sub>
                      </m:sSub>
                      <m:r>
                        <a:rPr lang="en-US" altLang="zh-CN" sz="2800" b="1" i="1" smtClean="0">
                          <a:latin typeface="Cambria Math" panose="02040503050406030204" pitchFamily="18" charset="0"/>
                        </a:rPr>
                        <m:t>)</m:t>
                      </m:r>
                    </m:oMath>
                  </m:oMathPara>
                </a14:m>
                <a:endParaRPr lang="zh-CN" altLang="en-US" sz="2800" b="1" dirty="0">
                  <a:latin typeface="Arial" panose="020B0604020202020204" pitchFamily="34" charset="0"/>
                  <a:cs typeface="Arial" panose="020B0604020202020204" pitchFamily="34" charset="0"/>
                </a:endParaRPr>
              </a:p>
            </p:txBody>
          </p:sp>
        </mc:Choice>
        <mc:Fallback xmlns="">
          <p:sp>
            <p:nvSpPr>
              <p:cNvPr id="56" name="文本框 55">
                <a:extLst>
                  <a:ext uri="{FF2B5EF4-FFF2-40B4-BE49-F238E27FC236}">
                    <a16:creationId xmlns:a16="http://schemas.microsoft.com/office/drawing/2014/main" id="{32FC3B19-CC7F-E220-3063-77ACA7A164EA}"/>
                  </a:ext>
                </a:extLst>
              </p:cNvPr>
              <p:cNvSpPr txBox="1">
                <a:spLocks noRot="1" noChangeAspect="1" noMove="1" noResize="1" noEditPoints="1" noAdjustHandles="1" noChangeArrowheads="1" noChangeShapeType="1" noTextEdit="1"/>
              </p:cNvSpPr>
              <p:nvPr/>
            </p:nvSpPr>
            <p:spPr>
              <a:xfrm>
                <a:off x="16373550" y="5583767"/>
                <a:ext cx="2214799" cy="497187"/>
              </a:xfrm>
              <a:prstGeom prst="rect">
                <a:avLst/>
              </a:prstGeom>
              <a:blipFill>
                <a:blip r:embed="rId7"/>
                <a:stretch>
                  <a:fillRect b="-18293"/>
                </a:stretch>
              </a:blipFill>
              <a:ln w="12700" cap="flat">
                <a:noFill/>
                <a:miter lim="400000"/>
              </a:ln>
              <a:effec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9" name="文本框 58">
                <a:extLst>
                  <a:ext uri="{FF2B5EF4-FFF2-40B4-BE49-F238E27FC236}">
                    <a16:creationId xmlns:a16="http://schemas.microsoft.com/office/drawing/2014/main" id="{A9503F82-CD83-A5D7-CF72-26877273DD4E}"/>
                  </a:ext>
                </a:extLst>
              </p:cNvPr>
              <p:cNvSpPr txBox="1"/>
              <p:nvPr/>
            </p:nvSpPr>
            <p:spPr>
              <a:xfrm>
                <a:off x="17543324" y="6174371"/>
                <a:ext cx="2214799" cy="4971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1" i="1" smtClean="0">
                              <a:solidFill>
                                <a:srgbClr val="0070C0"/>
                              </a:solidFill>
                              <a:latin typeface="Cambria Math" panose="02040503050406030204" pitchFamily="18" charset="0"/>
                            </a:rPr>
                          </m:ctrlPr>
                        </m:sSubPr>
                        <m:e>
                          <m:r>
                            <a:rPr lang="en-US" altLang="zh-CN" sz="2800" b="1" i="0" smtClean="0">
                              <a:solidFill>
                                <a:srgbClr val="0070C0"/>
                              </a:solidFill>
                              <a:latin typeface="Cambria Math" panose="02040503050406030204" pitchFamily="18" charset="0"/>
                            </a:rPr>
                            <m:t>𝐐</m:t>
                          </m:r>
                        </m:e>
                        <m:sub>
                          <m:r>
                            <a:rPr lang="en-US" altLang="zh-CN" sz="2800" b="0" i="1" smtClean="0">
                              <a:solidFill>
                                <a:srgbClr val="0070C0"/>
                              </a:solidFill>
                              <a:latin typeface="Cambria Math" panose="02040503050406030204" pitchFamily="18" charset="0"/>
                            </a:rPr>
                            <m:t>𝑖</m:t>
                          </m:r>
                          <m:r>
                            <a:rPr lang="en-US" altLang="zh-CN" sz="2800" b="0" i="1" smtClean="0">
                              <a:solidFill>
                                <a:srgbClr val="0070C0"/>
                              </a:solidFill>
                              <a:latin typeface="Cambria Math" panose="02040503050406030204" pitchFamily="18" charset="0"/>
                            </a:rPr>
                            <m:t>+1,2</m:t>
                          </m:r>
                        </m:sub>
                      </m:sSub>
                    </m:oMath>
                  </m:oMathPara>
                </a14:m>
                <a:endParaRPr lang="zh-CN" altLang="en-US" sz="2800" b="1" dirty="0">
                  <a:latin typeface="Arial" panose="020B0604020202020204" pitchFamily="34" charset="0"/>
                  <a:cs typeface="Arial" panose="020B0604020202020204" pitchFamily="34" charset="0"/>
                </a:endParaRPr>
              </a:p>
            </p:txBody>
          </p:sp>
        </mc:Choice>
        <mc:Fallback xmlns="">
          <p:sp>
            <p:nvSpPr>
              <p:cNvPr id="59" name="文本框 58">
                <a:extLst>
                  <a:ext uri="{FF2B5EF4-FFF2-40B4-BE49-F238E27FC236}">
                    <a16:creationId xmlns:a16="http://schemas.microsoft.com/office/drawing/2014/main" id="{A9503F82-CD83-A5D7-CF72-26877273DD4E}"/>
                  </a:ext>
                </a:extLst>
              </p:cNvPr>
              <p:cNvSpPr txBox="1">
                <a:spLocks noRot="1" noChangeAspect="1" noMove="1" noResize="1" noEditPoints="1" noAdjustHandles="1" noChangeArrowheads="1" noChangeShapeType="1" noTextEdit="1"/>
              </p:cNvSpPr>
              <p:nvPr/>
            </p:nvSpPr>
            <p:spPr>
              <a:xfrm>
                <a:off x="17543324" y="6174371"/>
                <a:ext cx="2214799" cy="497187"/>
              </a:xfrm>
              <a:prstGeom prst="rect">
                <a:avLst/>
              </a:prstGeom>
              <a:blipFill>
                <a:blip r:embed="rId8"/>
                <a:stretch>
                  <a:fillRect b="-14815"/>
                </a:stretch>
              </a:blipFill>
              <a:ln w="12700" cap="flat">
                <a:noFill/>
                <a:miter lim="400000"/>
              </a:ln>
              <a:effectLst/>
            </p:spPr>
            <p:txBody>
              <a:bodyPr/>
              <a:lstStyle/>
              <a:p>
                <a:r>
                  <a:rPr lang="zh-CN" altLang="en-US">
                    <a:noFill/>
                  </a:rPr>
                  <a:t> </a:t>
                </a:r>
              </a:p>
            </p:txBody>
          </p:sp>
        </mc:Fallback>
      </mc:AlternateContent>
      <p:sp>
        <p:nvSpPr>
          <p:cNvPr id="218" name="任意多边形: 形状 217">
            <a:extLst>
              <a:ext uri="{FF2B5EF4-FFF2-40B4-BE49-F238E27FC236}">
                <a16:creationId xmlns:a16="http://schemas.microsoft.com/office/drawing/2014/main" id="{A0C1E299-9290-EE38-544D-8068E4A81EF2}"/>
              </a:ext>
            </a:extLst>
          </p:cNvPr>
          <p:cNvSpPr/>
          <p:nvPr/>
        </p:nvSpPr>
        <p:spPr>
          <a:xfrm>
            <a:off x="16021050" y="5575166"/>
            <a:ext cx="827876" cy="883002"/>
          </a:xfrm>
          <a:custGeom>
            <a:avLst/>
            <a:gdLst>
              <a:gd name="connsiteX0" fmla="*/ 0 w 762000"/>
              <a:gd name="connsiteY0" fmla="*/ 819205 h 819205"/>
              <a:gd name="connsiteX1" fmla="*/ 342900 w 762000"/>
              <a:gd name="connsiteY1" fmla="*/ 266755 h 819205"/>
              <a:gd name="connsiteX2" fmla="*/ 762000 w 762000"/>
              <a:gd name="connsiteY2" fmla="*/ 55 h 819205"/>
            </a:gdLst>
            <a:ahLst/>
            <a:cxnLst>
              <a:cxn ang="0">
                <a:pos x="connsiteX0" y="connsiteY0"/>
              </a:cxn>
              <a:cxn ang="0">
                <a:pos x="connsiteX1" y="connsiteY1"/>
              </a:cxn>
              <a:cxn ang="0">
                <a:pos x="connsiteX2" y="connsiteY2"/>
              </a:cxn>
            </a:cxnLst>
            <a:rect l="l" t="t" r="r" b="b"/>
            <a:pathLst>
              <a:path w="762000" h="819205">
                <a:moveTo>
                  <a:pt x="0" y="819205"/>
                </a:moveTo>
                <a:cubicBezTo>
                  <a:pt x="107950" y="611242"/>
                  <a:pt x="215900" y="403280"/>
                  <a:pt x="342900" y="266755"/>
                </a:cubicBezTo>
                <a:cubicBezTo>
                  <a:pt x="469900" y="130230"/>
                  <a:pt x="593725" y="-3120"/>
                  <a:pt x="762000" y="55"/>
                </a:cubicBezTo>
              </a:path>
            </a:pathLst>
          </a:custGeom>
          <a:noFill/>
          <a:ln w="38100" cap="flat">
            <a:solidFill>
              <a:srgbClr val="7030A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zh-CN" altLang="en-US" sz="18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endParaRPr>
          </a:p>
        </p:txBody>
      </p:sp>
      <p:sp>
        <p:nvSpPr>
          <p:cNvPr id="219" name="任意多边形: 形状 218">
            <a:extLst>
              <a:ext uri="{FF2B5EF4-FFF2-40B4-BE49-F238E27FC236}">
                <a16:creationId xmlns:a16="http://schemas.microsoft.com/office/drawing/2014/main" id="{88E106CD-3F61-36AC-640A-7883B378D7BA}"/>
              </a:ext>
            </a:extLst>
          </p:cNvPr>
          <p:cNvSpPr/>
          <p:nvPr/>
        </p:nvSpPr>
        <p:spPr>
          <a:xfrm>
            <a:off x="16898577" y="5291822"/>
            <a:ext cx="1892050" cy="826848"/>
          </a:xfrm>
          <a:custGeom>
            <a:avLst/>
            <a:gdLst>
              <a:gd name="connsiteX0" fmla="*/ 0 w 2019300"/>
              <a:gd name="connsiteY0" fmla="*/ 231954 h 936804"/>
              <a:gd name="connsiteX1" fmla="*/ 781050 w 2019300"/>
              <a:gd name="connsiteY1" fmla="*/ 41454 h 936804"/>
              <a:gd name="connsiteX2" fmla="*/ 2019300 w 2019300"/>
              <a:gd name="connsiteY2" fmla="*/ 936804 h 936804"/>
            </a:gdLst>
            <a:ahLst/>
            <a:cxnLst>
              <a:cxn ang="0">
                <a:pos x="connsiteX0" y="connsiteY0"/>
              </a:cxn>
              <a:cxn ang="0">
                <a:pos x="connsiteX1" y="connsiteY1"/>
              </a:cxn>
              <a:cxn ang="0">
                <a:pos x="connsiteX2" y="connsiteY2"/>
              </a:cxn>
            </a:cxnLst>
            <a:rect l="l" t="t" r="r" b="b"/>
            <a:pathLst>
              <a:path w="2019300" h="936804">
                <a:moveTo>
                  <a:pt x="0" y="231954"/>
                </a:moveTo>
                <a:cubicBezTo>
                  <a:pt x="222250" y="77966"/>
                  <a:pt x="444500" y="-76021"/>
                  <a:pt x="781050" y="41454"/>
                </a:cubicBezTo>
                <a:cubicBezTo>
                  <a:pt x="1117600" y="158929"/>
                  <a:pt x="1727200" y="679629"/>
                  <a:pt x="2019300" y="936804"/>
                </a:cubicBezTo>
              </a:path>
            </a:pathLst>
          </a:custGeom>
          <a:noFill/>
          <a:ln w="38100" cap="flat">
            <a:solidFill>
              <a:srgbClr val="0070C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zh-CN" altLang="en-US" sz="18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endParaRPr>
          </a:p>
        </p:txBody>
      </p:sp>
      <p:sp>
        <p:nvSpPr>
          <p:cNvPr id="19" name="椭圆 18">
            <a:extLst>
              <a:ext uri="{FF2B5EF4-FFF2-40B4-BE49-F238E27FC236}">
                <a16:creationId xmlns:a16="http://schemas.microsoft.com/office/drawing/2014/main" id="{C4138A45-F729-B19C-F7A8-B26E45A3C6BB}"/>
              </a:ext>
            </a:extLst>
          </p:cNvPr>
          <p:cNvSpPr/>
          <p:nvPr/>
        </p:nvSpPr>
        <p:spPr>
          <a:xfrm>
            <a:off x="16670022" y="5290179"/>
            <a:ext cx="331304" cy="331304"/>
          </a:xfrm>
          <a:prstGeom prst="ellipse">
            <a:avLst/>
          </a:prstGeom>
          <a:solidFill>
            <a:srgbClr val="00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220" name="任意多边形: 形状 219">
            <a:extLst>
              <a:ext uri="{FF2B5EF4-FFF2-40B4-BE49-F238E27FC236}">
                <a16:creationId xmlns:a16="http://schemas.microsoft.com/office/drawing/2014/main" id="{D67F53EA-74BF-9D86-1F1E-95AAE49E0B17}"/>
              </a:ext>
            </a:extLst>
          </p:cNvPr>
          <p:cNvSpPr/>
          <p:nvPr/>
        </p:nvSpPr>
        <p:spPr>
          <a:xfrm>
            <a:off x="14676698" y="6577604"/>
            <a:ext cx="1280073" cy="2554821"/>
          </a:xfrm>
          <a:custGeom>
            <a:avLst/>
            <a:gdLst>
              <a:gd name="connsiteX0" fmla="*/ 0 w 2400300"/>
              <a:gd name="connsiteY0" fmla="*/ 5467350 h 5467350"/>
              <a:gd name="connsiteX1" fmla="*/ 1581150 w 2400300"/>
              <a:gd name="connsiteY1" fmla="*/ 1524000 h 5467350"/>
              <a:gd name="connsiteX2" fmla="*/ 2400300 w 2400300"/>
              <a:gd name="connsiteY2" fmla="*/ 0 h 5467350"/>
            </a:gdLst>
            <a:ahLst/>
            <a:cxnLst>
              <a:cxn ang="0">
                <a:pos x="connsiteX0" y="connsiteY0"/>
              </a:cxn>
              <a:cxn ang="0">
                <a:pos x="connsiteX1" y="connsiteY1"/>
              </a:cxn>
              <a:cxn ang="0">
                <a:pos x="connsiteX2" y="connsiteY2"/>
              </a:cxn>
            </a:cxnLst>
            <a:rect l="l" t="t" r="r" b="b"/>
            <a:pathLst>
              <a:path w="2400300" h="5467350">
                <a:moveTo>
                  <a:pt x="0" y="5467350"/>
                </a:moveTo>
                <a:cubicBezTo>
                  <a:pt x="590550" y="3951287"/>
                  <a:pt x="1181100" y="2435225"/>
                  <a:pt x="1581150" y="1524000"/>
                </a:cubicBezTo>
                <a:cubicBezTo>
                  <a:pt x="1981200" y="612775"/>
                  <a:pt x="2197100" y="219075"/>
                  <a:pt x="2400300" y="0"/>
                </a:cubicBezTo>
              </a:path>
            </a:pathLst>
          </a:custGeom>
          <a:noFill/>
          <a:ln w="12700" cap="flat">
            <a:solidFill>
              <a:schemeClr val="accent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zh-CN" altLang="en-US" sz="18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endParaRPr>
          </a:p>
        </p:txBody>
      </p:sp>
      <p:sp>
        <p:nvSpPr>
          <p:cNvPr id="18" name="椭圆 17">
            <a:extLst>
              <a:ext uri="{FF2B5EF4-FFF2-40B4-BE49-F238E27FC236}">
                <a16:creationId xmlns:a16="http://schemas.microsoft.com/office/drawing/2014/main" id="{541C61EC-AAAC-C916-BE3F-B12B834B02A4}"/>
              </a:ext>
            </a:extLst>
          </p:cNvPr>
          <p:cNvSpPr/>
          <p:nvPr/>
        </p:nvSpPr>
        <p:spPr>
          <a:xfrm>
            <a:off x="15791120" y="6351955"/>
            <a:ext cx="331304" cy="331304"/>
          </a:xfrm>
          <a:prstGeom prst="ellipse">
            <a:avLst/>
          </a:prstGeom>
          <a:solidFill>
            <a:srgbClr val="00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221" name="任意多边形: 形状 220">
            <a:extLst>
              <a:ext uri="{FF2B5EF4-FFF2-40B4-BE49-F238E27FC236}">
                <a16:creationId xmlns:a16="http://schemas.microsoft.com/office/drawing/2014/main" id="{148BDE14-83D6-BEE6-CB7E-10E28ED32213}"/>
              </a:ext>
            </a:extLst>
          </p:cNvPr>
          <p:cNvSpPr/>
          <p:nvPr/>
        </p:nvSpPr>
        <p:spPr>
          <a:xfrm>
            <a:off x="18783300" y="6096000"/>
            <a:ext cx="3409950" cy="5829300"/>
          </a:xfrm>
          <a:custGeom>
            <a:avLst/>
            <a:gdLst>
              <a:gd name="connsiteX0" fmla="*/ 0 w 3409950"/>
              <a:gd name="connsiteY0" fmla="*/ 0 h 5829300"/>
              <a:gd name="connsiteX1" fmla="*/ 1638300 w 3409950"/>
              <a:gd name="connsiteY1" fmla="*/ 2590800 h 5829300"/>
              <a:gd name="connsiteX2" fmla="*/ 3409950 w 3409950"/>
              <a:gd name="connsiteY2" fmla="*/ 5829300 h 5829300"/>
            </a:gdLst>
            <a:ahLst/>
            <a:cxnLst>
              <a:cxn ang="0">
                <a:pos x="connsiteX0" y="connsiteY0"/>
              </a:cxn>
              <a:cxn ang="0">
                <a:pos x="connsiteX1" y="connsiteY1"/>
              </a:cxn>
              <a:cxn ang="0">
                <a:pos x="connsiteX2" y="connsiteY2"/>
              </a:cxn>
            </a:cxnLst>
            <a:rect l="l" t="t" r="r" b="b"/>
            <a:pathLst>
              <a:path w="3409950" h="5829300">
                <a:moveTo>
                  <a:pt x="0" y="0"/>
                </a:moveTo>
                <a:cubicBezTo>
                  <a:pt x="534987" y="809625"/>
                  <a:pt x="1069975" y="1619250"/>
                  <a:pt x="1638300" y="2590800"/>
                </a:cubicBezTo>
                <a:cubicBezTo>
                  <a:pt x="2206625" y="3562350"/>
                  <a:pt x="2808287" y="4695825"/>
                  <a:pt x="3409950" y="5829300"/>
                </a:cubicBezTo>
              </a:path>
            </a:pathLst>
          </a:custGeom>
          <a:noFill/>
          <a:ln w="12700" cap="flat">
            <a:solidFill>
              <a:schemeClr val="accent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zh-CN" altLang="en-US" sz="18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222" name="文本框 221">
                <a:extLst>
                  <a:ext uri="{FF2B5EF4-FFF2-40B4-BE49-F238E27FC236}">
                    <a16:creationId xmlns:a16="http://schemas.microsoft.com/office/drawing/2014/main" id="{F9D9A322-8AB0-7E39-8145-583988AEF6D6}"/>
                  </a:ext>
                </a:extLst>
              </p:cNvPr>
              <p:cNvSpPr txBox="1"/>
              <p:nvPr/>
            </p:nvSpPr>
            <p:spPr>
              <a:xfrm>
                <a:off x="15678705" y="5137451"/>
                <a:ext cx="1043990" cy="4971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1" i="1" smtClean="0">
                              <a:solidFill>
                                <a:srgbClr val="7030A0"/>
                              </a:solidFill>
                              <a:latin typeface="Cambria Math" panose="02040503050406030204" pitchFamily="18" charset="0"/>
                            </a:rPr>
                          </m:ctrlPr>
                        </m:sSubPr>
                        <m:e>
                          <m:r>
                            <a:rPr lang="en-US" altLang="zh-CN" sz="2800" b="1" i="0" smtClean="0">
                              <a:solidFill>
                                <a:srgbClr val="7030A0"/>
                              </a:solidFill>
                              <a:latin typeface="Cambria Math" panose="02040503050406030204" pitchFamily="18" charset="0"/>
                            </a:rPr>
                            <m:t>𝐐</m:t>
                          </m:r>
                        </m:e>
                        <m:sub>
                          <m:r>
                            <a:rPr lang="en-US" altLang="zh-CN" sz="2800" b="0" i="1" smtClean="0">
                              <a:solidFill>
                                <a:srgbClr val="7030A0"/>
                              </a:solidFill>
                              <a:latin typeface="Cambria Math" panose="02040503050406030204" pitchFamily="18" charset="0"/>
                            </a:rPr>
                            <m:t>𝑖</m:t>
                          </m:r>
                          <m:r>
                            <a:rPr lang="en-US" altLang="zh-CN" sz="2800" b="0" i="1" smtClean="0">
                              <a:solidFill>
                                <a:srgbClr val="7030A0"/>
                              </a:solidFill>
                              <a:latin typeface="Cambria Math" panose="02040503050406030204" pitchFamily="18" charset="0"/>
                            </a:rPr>
                            <m:t>,1</m:t>
                          </m:r>
                        </m:sub>
                      </m:sSub>
                    </m:oMath>
                  </m:oMathPara>
                </a14:m>
                <a:endParaRPr lang="zh-CN" altLang="en-US" sz="2800" b="1" dirty="0">
                  <a:latin typeface="Arial" panose="020B0604020202020204" pitchFamily="34" charset="0"/>
                  <a:cs typeface="Arial" panose="020B0604020202020204" pitchFamily="34" charset="0"/>
                </a:endParaRPr>
              </a:p>
            </p:txBody>
          </p:sp>
        </mc:Choice>
        <mc:Fallback xmlns="">
          <p:sp>
            <p:nvSpPr>
              <p:cNvPr id="222" name="文本框 221">
                <a:extLst>
                  <a:ext uri="{FF2B5EF4-FFF2-40B4-BE49-F238E27FC236}">
                    <a16:creationId xmlns:a16="http://schemas.microsoft.com/office/drawing/2014/main" id="{F9D9A322-8AB0-7E39-8145-583988AEF6D6}"/>
                  </a:ext>
                </a:extLst>
              </p:cNvPr>
              <p:cNvSpPr txBox="1">
                <a:spLocks noRot="1" noChangeAspect="1" noMove="1" noResize="1" noEditPoints="1" noAdjustHandles="1" noChangeArrowheads="1" noChangeShapeType="1" noTextEdit="1"/>
              </p:cNvSpPr>
              <p:nvPr/>
            </p:nvSpPr>
            <p:spPr>
              <a:xfrm>
                <a:off x="15678705" y="5137451"/>
                <a:ext cx="1043990" cy="497187"/>
              </a:xfrm>
              <a:prstGeom prst="rect">
                <a:avLst/>
              </a:prstGeom>
              <a:blipFill>
                <a:blip r:embed="rId9"/>
                <a:stretch>
                  <a:fillRect b="-14815"/>
                </a:stretch>
              </a:blipFill>
              <a:ln w="12700" cap="flat">
                <a:noFill/>
                <a:miter lim="400000"/>
              </a:ln>
              <a:effec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3" name="文本框 222">
                <a:extLst>
                  <a:ext uri="{FF2B5EF4-FFF2-40B4-BE49-F238E27FC236}">
                    <a16:creationId xmlns:a16="http://schemas.microsoft.com/office/drawing/2014/main" id="{F4B464BD-B980-9A1C-F707-B8DDBC0527E2}"/>
                  </a:ext>
                </a:extLst>
              </p:cNvPr>
              <p:cNvSpPr txBox="1"/>
              <p:nvPr/>
            </p:nvSpPr>
            <p:spPr>
              <a:xfrm>
                <a:off x="17223607" y="4127341"/>
                <a:ext cx="1043990" cy="4971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1" i="1" smtClean="0">
                              <a:solidFill>
                                <a:srgbClr val="0070C0"/>
                              </a:solidFill>
                              <a:latin typeface="Cambria Math" panose="02040503050406030204" pitchFamily="18" charset="0"/>
                            </a:rPr>
                          </m:ctrlPr>
                        </m:sSubPr>
                        <m:e>
                          <m:r>
                            <a:rPr lang="en-US" altLang="zh-CN" sz="2800" b="1" i="0" smtClean="0">
                              <a:solidFill>
                                <a:srgbClr val="0070C0"/>
                              </a:solidFill>
                              <a:latin typeface="Cambria Math" panose="02040503050406030204" pitchFamily="18" charset="0"/>
                            </a:rPr>
                            <m:t>𝐐</m:t>
                          </m:r>
                        </m:e>
                        <m:sub>
                          <m:r>
                            <a:rPr lang="en-US" altLang="zh-CN" sz="2800" b="0" i="1" smtClean="0">
                              <a:solidFill>
                                <a:srgbClr val="0070C0"/>
                              </a:solidFill>
                              <a:latin typeface="Cambria Math" panose="02040503050406030204" pitchFamily="18" charset="0"/>
                            </a:rPr>
                            <m:t>𝑖</m:t>
                          </m:r>
                          <m:r>
                            <a:rPr lang="en-US" altLang="zh-CN" sz="2800" b="0" i="1" smtClean="0">
                              <a:solidFill>
                                <a:srgbClr val="0070C0"/>
                              </a:solidFill>
                              <a:latin typeface="Cambria Math" panose="02040503050406030204" pitchFamily="18" charset="0"/>
                            </a:rPr>
                            <m:t>+1,1</m:t>
                          </m:r>
                        </m:sub>
                      </m:sSub>
                    </m:oMath>
                  </m:oMathPara>
                </a14:m>
                <a:endParaRPr lang="zh-CN" altLang="en-US" sz="2800" b="1" dirty="0">
                  <a:latin typeface="Arial" panose="020B0604020202020204" pitchFamily="34" charset="0"/>
                  <a:cs typeface="Arial" panose="020B0604020202020204" pitchFamily="34" charset="0"/>
                </a:endParaRPr>
              </a:p>
            </p:txBody>
          </p:sp>
        </mc:Choice>
        <mc:Fallback xmlns="">
          <p:sp>
            <p:nvSpPr>
              <p:cNvPr id="223" name="文本框 222">
                <a:extLst>
                  <a:ext uri="{FF2B5EF4-FFF2-40B4-BE49-F238E27FC236}">
                    <a16:creationId xmlns:a16="http://schemas.microsoft.com/office/drawing/2014/main" id="{F4B464BD-B980-9A1C-F707-B8DDBC0527E2}"/>
                  </a:ext>
                </a:extLst>
              </p:cNvPr>
              <p:cNvSpPr txBox="1">
                <a:spLocks noRot="1" noChangeAspect="1" noMove="1" noResize="1" noEditPoints="1" noAdjustHandles="1" noChangeArrowheads="1" noChangeShapeType="1" noTextEdit="1"/>
              </p:cNvSpPr>
              <p:nvPr/>
            </p:nvSpPr>
            <p:spPr>
              <a:xfrm>
                <a:off x="17223607" y="4127341"/>
                <a:ext cx="1043990" cy="497187"/>
              </a:xfrm>
              <a:prstGeom prst="rect">
                <a:avLst/>
              </a:prstGeom>
              <a:blipFill>
                <a:blip r:embed="rId10"/>
                <a:stretch>
                  <a:fillRect l="-5814" r="-2907" b="-13415"/>
                </a:stretch>
              </a:blipFill>
              <a:ln w="12700" cap="flat">
                <a:noFill/>
                <a:miter lim="400000"/>
              </a:ln>
              <a:effectLst/>
            </p:spPr>
            <p:txBody>
              <a:bodyPr/>
              <a:lstStyle/>
              <a:p>
                <a:r>
                  <a:rPr lang="zh-CN" altLang="en-US">
                    <a:noFill/>
                  </a:rPr>
                  <a:t> </a:t>
                </a:r>
              </a:p>
            </p:txBody>
          </p:sp>
        </mc:Fallback>
      </mc:AlternateContent>
      <p:sp>
        <p:nvSpPr>
          <p:cNvPr id="10" name="椭圆 9">
            <a:extLst>
              <a:ext uri="{FF2B5EF4-FFF2-40B4-BE49-F238E27FC236}">
                <a16:creationId xmlns:a16="http://schemas.microsoft.com/office/drawing/2014/main" id="{DA5F6C23-952A-EDF2-45E5-3014CA7A320A}"/>
              </a:ext>
            </a:extLst>
          </p:cNvPr>
          <p:cNvSpPr/>
          <p:nvPr/>
        </p:nvSpPr>
        <p:spPr>
          <a:xfrm>
            <a:off x="14457457" y="8967772"/>
            <a:ext cx="331304" cy="331304"/>
          </a:xfrm>
          <a:prstGeom prst="ellipse">
            <a:avLst/>
          </a:prstGeom>
          <a:solidFill>
            <a:srgbClr val="00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1" name="椭圆 10">
            <a:extLst>
              <a:ext uri="{FF2B5EF4-FFF2-40B4-BE49-F238E27FC236}">
                <a16:creationId xmlns:a16="http://schemas.microsoft.com/office/drawing/2014/main" id="{23C24955-E173-3D48-D374-AF80367E8157}"/>
              </a:ext>
            </a:extLst>
          </p:cNvPr>
          <p:cNvSpPr/>
          <p:nvPr/>
        </p:nvSpPr>
        <p:spPr>
          <a:xfrm>
            <a:off x="22131131" y="11770068"/>
            <a:ext cx="331304" cy="331304"/>
          </a:xfrm>
          <a:prstGeom prst="ellipse">
            <a:avLst/>
          </a:prstGeom>
          <a:solidFill>
            <a:srgbClr val="00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mc:AlternateContent xmlns:mc="http://schemas.openxmlformats.org/markup-compatibility/2006" xmlns:a14="http://schemas.microsoft.com/office/drawing/2010/main">
        <mc:Choice Requires="a14">
          <p:sp>
            <p:nvSpPr>
              <p:cNvPr id="224" name="文本框 223">
                <a:extLst>
                  <a:ext uri="{FF2B5EF4-FFF2-40B4-BE49-F238E27FC236}">
                    <a16:creationId xmlns:a16="http://schemas.microsoft.com/office/drawing/2014/main" id="{289266A8-1BE8-4EFA-97EC-00BE5D4D2B4B}"/>
                  </a:ext>
                </a:extLst>
              </p:cNvPr>
              <p:cNvSpPr txBox="1"/>
              <p:nvPr/>
            </p:nvSpPr>
            <p:spPr>
              <a:xfrm>
                <a:off x="14720864" y="9033678"/>
                <a:ext cx="1043990" cy="4971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1" i="1" smtClean="0">
                              <a:solidFill>
                                <a:schemeClr val="tx1"/>
                              </a:solidFill>
                              <a:latin typeface="Cambria Math" panose="02040503050406030204" pitchFamily="18" charset="0"/>
                            </a:rPr>
                          </m:ctrlPr>
                        </m:sSubPr>
                        <m:e>
                          <m:r>
                            <a:rPr lang="en-US" altLang="zh-CN" sz="2800" b="1" i="0" smtClean="0">
                              <a:solidFill>
                                <a:schemeClr val="tx1"/>
                              </a:solidFill>
                              <a:latin typeface="Cambria Math" panose="02040503050406030204" pitchFamily="18" charset="0"/>
                            </a:rPr>
                            <m:t>𝐏</m:t>
                          </m:r>
                        </m:e>
                        <m:sub>
                          <m:r>
                            <a:rPr lang="en-US" altLang="zh-CN" sz="2800" b="0" i="1" smtClean="0">
                              <a:solidFill>
                                <a:schemeClr val="tx1"/>
                              </a:solidFill>
                              <a:latin typeface="Cambria Math" panose="02040503050406030204" pitchFamily="18" charset="0"/>
                            </a:rPr>
                            <m:t>0</m:t>
                          </m:r>
                        </m:sub>
                      </m:sSub>
                    </m:oMath>
                  </m:oMathPara>
                </a14:m>
                <a:endParaRPr lang="zh-CN" altLang="en-US" sz="2800" b="1" dirty="0">
                  <a:solidFill>
                    <a:schemeClr val="tx1"/>
                  </a:solidFill>
                  <a:latin typeface="Arial" panose="020B0604020202020204" pitchFamily="34" charset="0"/>
                  <a:cs typeface="Arial" panose="020B0604020202020204" pitchFamily="34" charset="0"/>
                </a:endParaRPr>
              </a:p>
            </p:txBody>
          </p:sp>
        </mc:Choice>
        <mc:Fallback xmlns="">
          <p:sp>
            <p:nvSpPr>
              <p:cNvPr id="224" name="文本框 223">
                <a:extLst>
                  <a:ext uri="{FF2B5EF4-FFF2-40B4-BE49-F238E27FC236}">
                    <a16:creationId xmlns:a16="http://schemas.microsoft.com/office/drawing/2014/main" id="{289266A8-1BE8-4EFA-97EC-00BE5D4D2B4B}"/>
                  </a:ext>
                </a:extLst>
              </p:cNvPr>
              <p:cNvSpPr txBox="1">
                <a:spLocks noRot="1" noChangeAspect="1" noMove="1" noResize="1" noEditPoints="1" noAdjustHandles="1" noChangeArrowheads="1" noChangeShapeType="1" noTextEdit="1"/>
              </p:cNvSpPr>
              <p:nvPr/>
            </p:nvSpPr>
            <p:spPr>
              <a:xfrm>
                <a:off x="14720864" y="9033678"/>
                <a:ext cx="1043990" cy="497187"/>
              </a:xfrm>
              <a:prstGeom prst="rect">
                <a:avLst/>
              </a:prstGeom>
              <a:blipFill>
                <a:blip r:embed="rId11"/>
                <a:stretch>
                  <a:fillRect/>
                </a:stretch>
              </a:blipFill>
              <a:ln w="12700" cap="flat">
                <a:noFill/>
                <a:miter lim="400000"/>
              </a:ln>
              <a:effec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6" name="文本框 225">
                <a:extLst>
                  <a:ext uri="{FF2B5EF4-FFF2-40B4-BE49-F238E27FC236}">
                    <a16:creationId xmlns:a16="http://schemas.microsoft.com/office/drawing/2014/main" id="{CFE18C25-84A5-5230-574F-5723D5C13C5B}"/>
                  </a:ext>
                </a:extLst>
              </p:cNvPr>
              <p:cNvSpPr txBox="1"/>
              <p:nvPr/>
            </p:nvSpPr>
            <p:spPr>
              <a:xfrm>
                <a:off x="16571779" y="1580432"/>
                <a:ext cx="1043990" cy="4971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1" i="1" smtClean="0">
                              <a:solidFill>
                                <a:schemeClr val="tx1"/>
                              </a:solidFill>
                              <a:latin typeface="Cambria Math" panose="02040503050406030204" pitchFamily="18" charset="0"/>
                            </a:rPr>
                          </m:ctrlPr>
                        </m:sSubPr>
                        <m:e>
                          <m:r>
                            <a:rPr lang="en-US" altLang="zh-CN" sz="2800" b="1" i="0" smtClean="0">
                              <a:solidFill>
                                <a:schemeClr val="tx1"/>
                              </a:solidFill>
                              <a:latin typeface="Cambria Math" panose="02040503050406030204" pitchFamily="18" charset="0"/>
                            </a:rPr>
                            <m:t>𝐏</m:t>
                          </m:r>
                        </m:e>
                        <m:sub>
                          <m:r>
                            <a:rPr lang="en-US" altLang="zh-CN" sz="2800" b="1" i="1" smtClean="0">
                              <a:solidFill>
                                <a:schemeClr val="tx1"/>
                              </a:solidFill>
                              <a:latin typeface="Cambria Math" panose="02040503050406030204" pitchFamily="18" charset="0"/>
                            </a:rPr>
                            <m:t>𝟏</m:t>
                          </m:r>
                        </m:sub>
                      </m:sSub>
                    </m:oMath>
                  </m:oMathPara>
                </a14:m>
                <a:endParaRPr lang="zh-CN" altLang="en-US" sz="2800" b="1" dirty="0">
                  <a:solidFill>
                    <a:schemeClr val="tx1"/>
                  </a:solidFill>
                  <a:latin typeface="Arial" panose="020B0604020202020204" pitchFamily="34" charset="0"/>
                  <a:cs typeface="Arial" panose="020B0604020202020204" pitchFamily="34" charset="0"/>
                </a:endParaRPr>
              </a:p>
            </p:txBody>
          </p:sp>
        </mc:Choice>
        <mc:Fallback xmlns="">
          <p:sp>
            <p:nvSpPr>
              <p:cNvPr id="226" name="文本框 225">
                <a:extLst>
                  <a:ext uri="{FF2B5EF4-FFF2-40B4-BE49-F238E27FC236}">
                    <a16:creationId xmlns:a16="http://schemas.microsoft.com/office/drawing/2014/main" id="{CFE18C25-84A5-5230-574F-5723D5C13C5B}"/>
                  </a:ext>
                </a:extLst>
              </p:cNvPr>
              <p:cNvSpPr txBox="1">
                <a:spLocks noRot="1" noChangeAspect="1" noMove="1" noResize="1" noEditPoints="1" noAdjustHandles="1" noChangeArrowheads="1" noChangeShapeType="1" noTextEdit="1"/>
              </p:cNvSpPr>
              <p:nvPr/>
            </p:nvSpPr>
            <p:spPr>
              <a:xfrm>
                <a:off x="16571779" y="1580432"/>
                <a:ext cx="1043990" cy="497187"/>
              </a:xfrm>
              <a:prstGeom prst="rect">
                <a:avLst/>
              </a:prstGeom>
              <a:blipFill>
                <a:blip r:embed="rId12"/>
                <a:stretch>
                  <a:fillRect/>
                </a:stretch>
              </a:blipFill>
              <a:ln w="12700" cap="flat">
                <a:noFill/>
                <a:miter lim="400000"/>
              </a:ln>
              <a:effectLst/>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7" name="文本框 226">
                <a:extLst>
                  <a:ext uri="{FF2B5EF4-FFF2-40B4-BE49-F238E27FC236}">
                    <a16:creationId xmlns:a16="http://schemas.microsoft.com/office/drawing/2014/main" id="{41F9D9EE-41D9-AB39-1D14-8234005C401C}"/>
                  </a:ext>
                </a:extLst>
              </p:cNvPr>
              <p:cNvSpPr txBox="1"/>
              <p:nvPr/>
            </p:nvSpPr>
            <p:spPr>
              <a:xfrm>
                <a:off x="22351229" y="11852778"/>
                <a:ext cx="1043990" cy="4971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1" i="1" smtClean="0">
                              <a:solidFill>
                                <a:schemeClr val="tx1"/>
                              </a:solidFill>
                              <a:latin typeface="Cambria Math" panose="02040503050406030204" pitchFamily="18" charset="0"/>
                            </a:rPr>
                          </m:ctrlPr>
                        </m:sSubPr>
                        <m:e>
                          <m:r>
                            <a:rPr lang="en-US" altLang="zh-CN" sz="2800" b="1" i="0" smtClean="0">
                              <a:solidFill>
                                <a:schemeClr val="tx1"/>
                              </a:solidFill>
                              <a:latin typeface="Cambria Math" panose="02040503050406030204" pitchFamily="18" charset="0"/>
                            </a:rPr>
                            <m:t>𝐏</m:t>
                          </m:r>
                        </m:e>
                        <m:sub>
                          <m:r>
                            <a:rPr lang="en-US" altLang="zh-CN" sz="2800" b="1" i="1">
                              <a:solidFill>
                                <a:schemeClr val="tx1"/>
                              </a:solidFill>
                              <a:latin typeface="Cambria Math" panose="02040503050406030204" pitchFamily="18" charset="0"/>
                            </a:rPr>
                            <m:t>2</m:t>
                          </m:r>
                        </m:sub>
                      </m:sSub>
                    </m:oMath>
                  </m:oMathPara>
                </a14:m>
                <a:endParaRPr lang="zh-CN" altLang="en-US" sz="2800" b="1" dirty="0">
                  <a:solidFill>
                    <a:schemeClr val="tx1"/>
                  </a:solidFill>
                  <a:latin typeface="Arial" panose="020B0604020202020204" pitchFamily="34" charset="0"/>
                  <a:cs typeface="Arial" panose="020B0604020202020204" pitchFamily="34" charset="0"/>
                </a:endParaRPr>
              </a:p>
            </p:txBody>
          </p:sp>
        </mc:Choice>
        <mc:Fallback xmlns="">
          <p:sp>
            <p:nvSpPr>
              <p:cNvPr id="227" name="文本框 226">
                <a:extLst>
                  <a:ext uri="{FF2B5EF4-FFF2-40B4-BE49-F238E27FC236}">
                    <a16:creationId xmlns:a16="http://schemas.microsoft.com/office/drawing/2014/main" id="{41F9D9EE-41D9-AB39-1D14-8234005C401C}"/>
                  </a:ext>
                </a:extLst>
              </p:cNvPr>
              <p:cNvSpPr txBox="1">
                <a:spLocks noRot="1" noChangeAspect="1" noMove="1" noResize="1" noEditPoints="1" noAdjustHandles="1" noChangeArrowheads="1" noChangeShapeType="1" noTextEdit="1"/>
              </p:cNvSpPr>
              <p:nvPr/>
            </p:nvSpPr>
            <p:spPr>
              <a:xfrm>
                <a:off x="22351229" y="11852778"/>
                <a:ext cx="1043990" cy="497187"/>
              </a:xfrm>
              <a:prstGeom prst="rect">
                <a:avLst/>
              </a:prstGeom>
              <a:blipFill>
                <a:blip r:embed="rId13"/>
                <a:stretch>
                  <a:fillRect/>
                </a:stretch>
              </a:blipFill>
              <a:ln w="12700" cap="flat">
                <a:noFill/>
                <a:miter lim="400000"/>
              </a:ln>
              <a:effectLst/>
            </p:spPr>
            <p:txBody>
              <a:bodyPr/>
              <a:lstStyle/>
              <a:p>
                <a:r>
                  <a:rPr lang="zh-CN" altLang="en-US">
                    <a:noFill/>
                  </a:rPr>
                  <a:t> </a:t>
                </a:r>
              </a:p>
            </p:txBody>
          </p:sp>
        </mc:Fallback>
      </mc:AlternateContent>
      <p:sp>
        <p:nvSpPr>
          <p:cNvPr id="24" name="椭圆 23">
            <a:extLst>
              <a:ext uri="{FF2B5EF4-FFF2-40B4-BE49-F238E27FC236}">
                <a16:creationId xmlns:a16="http://schemas.microsoft.com/office/drawing/2014/main" id="{1BCEE91B-DE8D-C045-E48A-D8DAFC855218}"/>
              </a:ext>
            </a:extLst>
          </p:cNvPr>
          <p:cNvSpPr/>
          <p:nvPr/>
        </p:nvSpPr>
        <p:spPr>
          <a:xfrm>
            <a:off x="18579903" y="5861382"/>
            <a:ext cx="331304" cy="331304"/>
          </a:xfrm>
          <a:prstGeom prst="ellipse">
            <a:avLst/>
          </a:prstGeom>
          <a:solidFill>
            <a:srgbClr val="00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2" name="文本框 7">
            <a:extLst>
              <a:ext uri="{FF2B5EF4-FFF2-40B4-BE49-F238E27FC236}">
                <a16:creationId xmlns:a16="http://schemas.microsoft.com/office/drawing/2014/main" id="{AF448099-91AB-CF5D-4E94-BD5B2A77EEFE}"/>
              </a:ext>
            </a:extLst>
          </p:cNvPr>
          <p:cNvSpPr txBox="1"/>
          <p:nvPr/>
        </p:nvSpPr>
        <p:spPr>
          <a:xfrm>
            <a:off x="723900" y="247650"/>
            <a:ext cx="18561627"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Curvature-Guided Subdivision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187521695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6550E-B830-55DE-67A3-FFE11ECDCD78}"/>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760ECD98-015D-D4FA-E9E9-242E0AE45204}"/>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E7885400-FB79-ABD7-BA68-3CED0C1B49A4}"/>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756FA322-22AD-328A-37DC-6F1A325C4D8C}"/>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6C5BD774-B884-4761-B8BA-B9D4AE8B97DB}"/>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2039B9AE-2B2D-B5E8-8275-1219AFE23AD7}"/>
                  </a:ext>
                </a:extLst>
              </p:cNvPr>
              <p:cNvSpPr txBox="1">
                <a:spLocks/>
              </p:cNvSpPr>
              <p:nvPr/>
            </p:nvSpPr>
            <p:spPr>
              <a:xfrm>
                <a:off x="1618325" y="2551738"/>
                <a:ext cx="21137766" cy="11164262"/>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Dash pattern </a:t>
                </a:r>
                <a14:m>
                  <m:oMath xmlns:m="http://schemas.openxmlformats.org/officeDocument/2006/math">
                    <m:d>
                      <m:dPr>
                        <m:ctrlPr>
                          <a:rPr lang="en-US" altLang="zh-CN" sz="4800" b="0" i="1" dirty="0" smtClean="0">
                            <a:solidFill>
                              <a:srgbClr val="000000"/>
                            </a:solidFill>
                            <a:latin typeface="Cambria Math" panose="02040503050406030204" pitchFamily="18" charset="0"/>
                            <a:cs typeface="+mn-cs"/>
                            <a:sym typeface="Wingdings" panose="05000000000000000000" pitchFamily="2" charset="2"/>
                          </a:rPr>
                        </m:ctrlPr>
                      </m:dPr>
                      <m:e>
                        <m:sSub>
                          <m:sSubPr>
                            <m:ctrlPr>
                              <a:rPr lang="en-US" altLang="zh-CN" sz="4800" b="0" i="1" dirty="0" smtClean="0">
                                <a:solidFill>
                                  <a:srgbClr val="000000"/>
                                </a:solidFill>
                                <a:latin typeface="Cambria Math" panose="02040503050406030204" pitchFamily="18" charset="0"/>
                                <a:cs typeface="+mn-cs"/>
                                <a:sym typeface="Wingdings" panose="05000000000000000000" pitchFamily="2" charset="2"/>
                              </a:rPr>
                            </m:ctrlPr>
                          </m:sSubPr>
                          <m:e>
                            <m:r>
                              <a:rPr lang="en-US" altLang="zh-CN" sz="4800" b="0" i="1" dirty="0" smtClean="0">
                                <a:solidFill>
                                  <a:srgbClr val="000000"/>
                                </a:solidFill>
                                <a:latin typeface="Cambria Math" panose="02040503050406030204" pitchFamily="18" charset="0"/>
                                <a:cs typeface="+mn-cs"/>
                                <a:sym typeface="Wingdings" panose="05000000000000000000" pitchFamily="2" charset="2"/>
                              </a:rPr>
                              <m:t>𝑙</m:t>
                            </m:r>
                          </m:e>
                          <m:sub>
                            <m:r>
                              <a:rPr lang="en-US" altLang="zh-CN" sz="4800" b="0" i="1" dirty="0" smtClean="0">
                                <a:solidFill>
                                  <a:srgbClr val="000000"/>
                                </a:solidFill>
                                <a:latin typeface="Cambria Math" panose="02040503050406030204" pitchFamily="18" charset="0"/>
                                <a:cs typeface="+mn-cs"/>
                                <a:sym typeface="Wingdings" panose="05000000000000000000" pitchFamily="2" charset="2"/>
                              </a:rPr>
                              <m:t>1</m:t>
                            </m:r>
                          </m:sub>
                        </m:sSub>
                        <m:r>
                          <a:rPr lang="en-US" altLang="zh-CN" sz="4800" b="0" i="1" dirty="0" smtClean="0">
                            <a:solidFill>
                              <a:srgbClr val="000000"/>
                            </a:solidFill>
                            <a:latin typeface="Cambria Math" panose="02040503050406030204" pitchFamily="18" charset="0"/>
                            <a:cs typeface="+mn-cs"/>
                            <a:sym typeface="Wingdings" panose="05000000000000000000" pitchFamily="2" charset="2"/>
                          </a:rPr>
                          <m:t>,</m:t>
                        </m:r>
                        <m:sSub>
                          <m:sSubPr>
                            <m:ctrlPr>
                              <a:rPr lang="en-US" altLang="zh-CN" sz="4800" b="0" i="1" dirty="0" smtClean="0">
                                <a:solidFill>
                                  <a:srgbClr val="000000"/>
                                </a:solidFill>
                                <a:latin typeface="Cambria Math" panose="02040503050406030204" pitchFamily="18" charset="0"/>
                                <a:cs typeface="+mn-cs"/>
                                <a:sym typeface="Wingdings" panose="05000000000000000000" pitchFamily="2" charset="2"/>
                              </a:rPr>
                            </m:ctrlPr>
                          </m:sSubPr>
                          <m:e>
                            <m:r>
                              <a:rPr lang="en-US" altLang="zh-CN" sz="4800" b="0" i="1" dirty="0" smtClean="0">
                                <a:solidFill>
                                  <a:srgbClr val="000000"/>
                                </a:solidFill>
                                <a:latin typeface="Cambria Math" panose="02040503050406030204" pitchFamily="18" charset="0"/>
                                <a:cs typeface="+mn-cs"/>
                                <a:sym typeface="Wingdings" panose="05000000000000000000" pitchFamily="2" charset="2"/>
                              </a:rPr>
                              <m:t>𝑙</m:t>
                            </m:r>
                          </m:e>
                          <m:sub>
                            <m:r>
                              <a:rPr lang="en-US" altLang="zh-CN" sz="4800" b="0" i="1" dirty="0" smtClean="0">
                                <a:solidFill>
                                  <a:srgbClr val="000000"/>
                                </a:solidFill>
                                <a:latin typeface="Cambria Math" panose="02040503050406030204" pitchFamily="18" charset="0"/>
                                <a:cs typeface="+mn-cs"/>
                                <a:sym typeface="Wingdings" panose="05000000000000000000" pitchFamily="2" charset="2"/>
                              </a:rPr>
                              <m:t>2</m:t>
                            </m:r>
                          </m:sub>
                        </m:sSub>
                      </m:e>
                    </m:d>
                    <m:r>
                      <a:rPr lang="en-US" altLang="zh-CN" sz="4800" b="0" i="1" dirty="0" smtClean="0">
                        <a:solidFill>
                          <a:srgbClr val="000000"/>
                        </a:solidFill>
                        <a:latin typeface="Cambria Math" panose="02040503050406030204" pitchFamily="18" charset="0"/>
                        <a:cs typeface="+mn-cs"/>
                        <a:sym typeface="Wingdings" panose="05000000000000000000" pitchFamily="2" charset="2"/>
                      </a:rPr>
                      <m:t>:</m:t>
                    </m:r>
                  </m:oMath>
                </a14:m>
                <a:r>
                  <a:rPr lang="en-US" altLang="zh-CN" sz="4800" dirty="0">
                    <a:solidFill>
                      <a:srgbClr val="000000"/>
                    </a:solidFill>
                  </a:rPr>
                  <a:t> solid segment length </a:t>
                </a:r>
                <a14:m>
                  <m:oMath xmlns:m="http://schemas.openxmlformats.org/officeDocument/2006/math">
                    <m:sSub>
                      <m:sSubPr>
                        <m:ctrlPr>
                          <a:rPr lang="en-US" altLang="zh-CN" sz="4800" i="1" dirty="0">
                            <a:solidFill>
                              <a:srgbClr val="000000"/>
                            </a:solidFill>
                            <a:latin typeface="Cambria Math" panose="02040503050406030204" pitchFamily="18" charset="0"/>
                            <a:sym typeface="Wingdings" panose="05000000000000000000" pitchFamily="2" charset="2"/>
                          </a:rPr>
                        </m:ctrlPr>
                      </m:sSubPr>
                      <m:e>
                        <m:r>
                          <a:rPr lang="en-US" altLang="zh-CN" sz="4800" i="1" dirty="0">
                            <a:solidFill>
                              <a:srgbClr val="000000"/>
                            </a:solidFill>
                            <a:latin typeface="Cambria Math" panose="02040503050406030204" pitchFamily="18" charset="0"/>
                            <a:sym typeface="Wingdings" panose="05000000000000000000" pitchFamily="2" charset="2"/>
                          </a:rPr>
                          <m:t>𝑙</m:t>
                        </m:r>
                      </m:e>
                      <m:sub>
                        <m:r>
                          <a:rPr lang="en-US" altLang="zh-CN" sz="4800" i="1" dirty="0">
                            <a:solidFill>
                              <a:srgbClr val="000000"/>
                            </a:solidFill>
                            <a:latin typeface="Cambria Math" panose="02040503050406030204" pitchFamily="18" charset="0"/>
                            <a:sym typeface="Wingdings" panose="05000000000000000000" pitchFamily="2" charset="2"/>
                          </a:rPr>
                          <m:t>1</m:t>
                        </m:r>
                      </m:sub>
                    </m:sSub>
                  </m:oMath>
                </a14:m>
                <a:r>
                  <a:rPr lang="en-US" altLang="zh-CN" sz="4800" dirty="0">
                    <a:solidFill>
                      <a:srgbClr val="000000"/>
                    </a:solidFill>
                  </a:rPr>
                  <a:t>, gap length </a:t>
                </a:r>
                <a14:m>
                  <m:oMath xmlns:m="http://schemas.openxmlformats.org/officeDocument/2006/math">
                    <m:sSub>
                      <m:sSubPr>
                        <m:ctrlPr>
                          <a:rPr lang="en-US" altLang="zh-CN" sz="4800" i="1" dirty="0">
                            <a:solidFill>
                              <a:srgbClr val="000000"/>
                            </a:solidFill>
                            <a:latin typeface="Cambria Math" panose="02040503050406030204" pitchFamily="18" charset="0"/>
                            <a:sym typeface="Wingdings" panose="05000000000000000000" pitchFamily="2" charset="2"/>
                          </a:rPr>
                        </m:ctrlPr>
                      </m:sSubPr>
                      <m:e>
                        <m:r>
                          <a:rPr lang="en-US" altLang="zh-CN" sz="4800" i="1" dirty="0">
                            <a:solidFill>
                              <a:srgbClr val="000000"/>
                            </a:solidFill>
                            <a:latin typeface="Cambria Math" panose="02040503050406030204" pitchFamily="18" charset="0"/>
                            <a:sym typeface="Wingdings" panose="05000000000000000000" pitchFamily="2" charset="2"/>
                          </a:rPr>
                          <m:t>𝑙</m:t>
                        </m:r>
                      </m:e>
                      <m:sub>
                        <m:r>
                          <a:rPr lang="en-US" altLang="zh-CN" sz="4800" i="1" dirty="0">
                            <a:solidFill>
                              <a:srgbClr val="000000"/>
                            </a:solidFill>
                            <a:latin typeface="Cambria Math" panose="02040503050406030204" pitchFamily="18" charset="0"/>
                            <a:sym typeface="Wingdings" panose="05000000000000000000" pitchFamily="2" charset="2"/>
                          </a:rPr>
                          <m:t>2</m:t>
                        </m:r>
                      </m:sub>
                    </m:sSub>
                  </m:oMath>
                </a14:m>
                <a:endParaRPr lang="en-US" altLang="zh-CN" sz="4800" dirty="0">
                  <a:solidFill>
                    <a:srgbClr val="000000"/>
                  </a:solidFill>
                </a:endParaRPr>
              </a:p>
              <a:p>
                <a:pPr marL="609600" indent="-609600">
                  <a:lnSpc>
                    <a:spcPct val="150000"/>
                  </a:lnSpc>
                  <a:buClrTx/>
                  <a:buSzPct val="123000"/>
                  <a:buChar char="•"/>
                </a:pPr>
                <a:endParaRPr lang="en-US" altLang="zh-CN" sz="4800" dirty="0">
                  <a:solidFill>
                    <a:srgbClr val="000000"/>
                  </a:solidFill>
                </a:endParaRPr>
              </a:p>
              <a:p>
                <a:pPr marL="609600" indent="-609600">
                  <a:lnSpc>
                    <a:spcPct val="150000"/>
                  </a:lnSpc>
                  <a:buClrTx/>
                  <a:buSzPct val="123000"/>
                  <a:buChar char="•"/>
                </a:pPr>
                <a:endParaRPr lang="en-US" altLang="zh-CN" sz="4800" dirty="0">
                  <a:solidFill>
                    <a:srgbClr val="000000"/>
                  </a:solidFill>
                </a:endParaRPr>
              </a:p>
              <a:p>
                <a:pPr marL="952500" lvl="1" indent="-609600">
                  <a:lnSpc>
                    <a:spcPct val="150000"/>
                  </a:lnSpc>
                  <a:buClrTx/>
                  <a:buSzPct val="123000"/>
                </a:pPr>
                <a:endParaRPr lang="en-US" altLang="zh-CN" sz="4400" dirty="0">
                  <a:solidFill>
                    <a:srgbClr val="000000"/>
                  </a:solidFill>
                </a:endParaRPr>
              </a:p>
              <a:p>
                <a:pPr marL="952500" lvl="1" indent="-609600">
                  <a:lnSpc>
                    <a:spcPct val="150000"/>
                  </a:lnSpc>
                  <a:buClrTx/>
                  <a:buSzPct val="123000"/>
                </a:pPr>
                <a:r>
                  <a:rPr lang="en-US" altLang="zh-CN" sz="4400" dirty="0">
                    <a:solidFill>
                      <a:srgbClr val="000000"/>
                    </a:solidFill>
                  </a:rPr>
                  <a:t>Given arc length </a:t>
                </a:r>
                <a14:m>
                  <m:oMath xmlns:m="http://schemas.openxmlformats.org/officeDocument/2006/math">
                    <m:r>
                      <a:rPr lang="en-US" altLang="zh-CN" sz="4400" i="1" dirty="0" smtClean="0">
                        <a:solidFill>
                          <a:srgbClr val="000000"/>
                        </a:solidFill>
                        <a:latin typeface="Cambria Math" panose="02040503050406030204" pitchFamily="18" charset="0"/>
                        <a:cs typeface="+mn-cs"/>
                      </a:rPr>
                      <m:t>𝑆</m:t>
                    </m:r>
                    <m:r>
                      <a:rPr lang="en-US" altLang="zh-CN" sz="4400" i="1" dirty="0">
                        <a:solidFill>
                          <a:srgbClr val="000000"/>
                        </a:solidFill>
                        <a:latin typeface="Cambria Math" panose="02040503050406030204" pitchFamily="18" charset="0"/>
                      </a:rPr>
                      <m:t>∈</m:t>
                    </m:r>
                    <m:d>
                      <m:dPr>
                        <m:begChr m:val="["/>
                        <m:endChr m:val="]"/>
                        <m:ctrlPr>
                          <a:rPr lang="en-US" altLang="zh-CN" sz="4400" i="1" dirty="0">
                            <a:solidFill>
                              <a:srgbClr val="000000"/>
                            </a:solidFill>
                            <a:latin typeface="Cambria Math" panose="02040503050406030204" pitchFamily="18" charset="0"/>
                          </a:rPr>
                        </m:ctrlPr>
                      </m:dPr>
                      <m:e>
                        <m:r>
                          <a:rPr lang="en-US" altLang="zh-CN" sz="4400" i="1" dirty="0">
                            <a:solidFill>
                              <a:srgbClr val="000000"/>
                            </a:solidFill>
                            <a:latin typeface="Cambria Math" panose="02040503050406030204" pitchFamily="18" charset="0"/>
                          </a:rPr>
                          <m:t>0,</m:t>
                        </m:r>
                        <m:r>
                          <a:rPr lang="en-US" altLang="zh-CN" sz="4400" b="0" i="1" dirty="0" smtClean="0">
                            <a:solidFill>
                              <a:srgbClr val="000000"/>
                            </a:solidFill>
                            <a:latin typeface="Cambria Math" panose="02040503050406030204" pitchFamily="18" charset="0"/>
                          </a:rPr>
                          <m:t>𝑙</m:t>
                        </m:r>
                      </m:e>
                    </m:d>
                    <m:r>
                      <a:rPr lang="en-US" altLang="zh-CN" sz="4400" b="0" i="1" dirty="0" smtClean="0">
                        <a:solidFill>
                          <a:srgbClr val="000000"/>
                        </a:solidFill>
                        <a:latin typeface="Cambria Math" panose="02040503050406030204" pitchFamily="18" charset="0"/>
                      </a:rPr>
                      <m:t>,</m:t>
                    </m:r>
                  </m:oMath>
                </a14:m>
                <a:r>
                  <a:rPr lang="en-US" altLang="zh-CN" sz="4400" dirty="0">
                    <a:solidFill>
                      <a:srgbClr val="000000"/>
                    </a:solidFill>
                  </a:rPr>
                  <a:t> solve for </a:t>
                </a:r>
                <a14:m>
                  <m:oMath xmlns:m="http://schemas.openxmlformats.org/officeDocument/2006/math">
                    <m:r>
                      <a:rPr lang="en-US" altLang="zh-CN" sz="4400" i="1" dirty="0">
                        <a:solidFill>
                          <a:srgbClr val="000000"/>
                        </a:solidFill>
                        <a:latin typeface="Cambria Math" panose="02040503050406030204" pitchFamily="18" charset="0"/>
                        <a:cs typeface="+mn-cs"/>
                      </a:rPr>
                      <m:t>𝑡</m:t>
                    </m:r>
                    <m:r>
                      <a:rPr lang="en-US" altLang="zh-CN" sz="4400" b="0" i="1" dirty="0" smtClean="0">
                        <a:solidFill>
                          <a:srgbClr val="000000"/>
                        </a:solidFill>
                        <a:latin typeface="Cambria Math" panose="02040503050406030204" pitchFamily="18" charset="0"/>
                        <a:cs typeface="+mn-cs"/>
                      </a:rPr>
                      <m:t>∈</m:t>
                    </m:r>
                    <m:r>
                      <a:rPr lang="en-US" altLang="zh-CN" sz="4400" i="1" dirty="0" smtClean="0">
                        <a:solidFill>
                          <a:srgbClr val="000000"/>
                        </a:solidFill>
                        <a:latin typeface="Cambria Math" panose="02040503050406030204" pitchFamily="18" charset="0"/>
                        <a:cs typeface="+mn-cs"/>
                      </a:rPr>
                      <m:t>[0,1]</m:t>
                    </m:r>
                  </m:oMath>
                </a14:m>
                <a:endParaRPr lang="en-US" altLang="zh-CN" sz="4400" b="0" dirty="0">
                  <a:solidFill>
                    <a:srgbClr val="000000"/>
                  </a:solidFill>
                </a:endParaRPr>
              </a:p>
              <a:p>
                <a:pPr marL="952500" lvl="1" indent="-609600">
                  <a:lnSpc>
                    <a:spcPct val="150000"/>
                  </a:lnSpc>
                  <a:buClrTx/>
                  <a:buSzPct val="123000"/>
                </a:pPr>
                <a:r>
                  <a:rPr lang="en-US" altLang="zh-CN" sz="4400" dirty="0">
                    <a:solidFill>
                      <a:srgbClr val="000000"/>
                    </a:solidFill>
                  </a:rPr>
                  <a:t>Newton iteration on </a:t>
                </a:r>
                <a14:m>
                  <m:oMath xmlns:m="http://schemas.openxmlformats.org/officeDocument/2006/math">
                    <m:r>
                      <a:rPr lang="en-US" altLang="zh-CN" sz="4400" i="1">
                        <a:solidFill>
                          <a:srgbClr val="000000"/>
                        </a:solidFill>
                        <a:latin typeface="Cambria Math" panose="02040503050406030204" pitchFamily="18" charset="0"/>
                      </a:rPr>
                      <m:t>𝑠</m:t>
                    </m:r>
                    <m:d>
                      <m:dPr>
                        <m:ctrlPr>
                          <a:rPr lang="en-US" altLang="zh-CN" sz="4400" i="1">
                            <a:solidFill>
                              <a:srgbClr val="000000"/>
                            </a:solidFill>
                            <a:latin typeface="Cambria Math" panose="02040503050406030204" pitchFamily="18" charset="0"/>
                          </a:rPr>
                        </m:ctrlPr>
                      </m:dPr>
                      <m:e>
                        <m:r>
                          <a:rPr lang="en-US" altLang="zh-CN" sz="4400" i="1">
                            <a:solidFill>
                              <a:srgbClr val="000000"/>
                            </a:solidFill>
                            <a:latin typeface="Cambria Math" panose="02040503050406030204" pitchFamily="18" charset="0"/>
                          </a:rPr>
                          <m:t>𝑡</m:t>
                        </m:r>
                      </m:e>
                    </m:d>
                    <m:r>
                      <a:rPr lang="en-US" altLang="zh-CN" sz="4400" i="1">
                        <a:solidFill>
                          <a:srgbClr val="000000"/>
                        </a:solidFill>
                        <a:latin typeface="Cambria Math" panose="02040503050406030204" pitchFamily="18" charset="0"/>
                      </a:rPr>
                      <m:t>−</m:t>
                    </m:r>
                    <m:r>
                      <a:rPr lang="en-US" altLang="zh-CN" sz="4400" i="1">
                        <a:solidFill>
                          <a:srgbClr val="000000"/>
                        </a:solidFill>
                        <a:latin typeface="Cambria Math" panose="02040503050406030204" pitchFamily="18" charset="0"/>
                      </a:rPr>
                      <m:t>𝑆</m:t>
                    </m:r>
                    <m:r>
                      <a:rPr lang="en-US" altLang="zh-CN" sz="4400" i="1">
                        <a:solidFill>
                          <a:srgbClr val="000000"/>
                        </a:solidFill>
                        <a:latin typeface="Cambria Math" panose="02040503050406030204" pitchFamily="18" charset="0"/>
                      </a:rPr>
                      <m:t>=0</m:t>
                    </m:r>
                  </m:oMath>
                </a14:m>
                <a:r>
                  <a:rPr lang="en-US" altLang="zh-CN" sz="4400" dirty="0">
                    <a:solidFill>
                      <a:srgbClr val="000000"/>
                    </a:solidFill>
                  </a:rPr>
                  <a:t> with a good initial guess </a:t>
                </a:r>
                <a14:m>
                  <m:oMath xmlns:m="http://schemas.openxmlformats.org/officeDocument/2006/math">
                    <m:sSub>
                      <m:sSubPr>
                        <m:ctrlPr>
                          <a:rPr lang="en-US" altLang="zh-CN" sz="4400" b="0" i="1" smtClean="0">
                            <a:solidFill>
                              <a:srgbClr val="000000"/>
                            </a:solidFill>
                            <a:latin typeface="Cambria Math" panose="02040503050406030204" pitchFamily="18" charset="0"/>
                          </a:rPr>
                        </m:ctrlPr>
                      </m:sSubPr>
                      <m:e>
                        <m:r>
                          <a:rPr lang="en-US" altLang="zh-CN" sz="4400" i="1">
                            <a:solidFill>
                              <a:srgbClr val="000000"/>
                            </a:solidFill>
                            <a:latin typeface="Cambria Math" panose="02040503050406030204" pitchFamily="18" charset="0"/>
                          </a:rPr>
                          <m:t>𝑡</m:t>
                        </m:r>
                      </m:e>
                      <m:sub>
                        <m:r>
                          <a:rPr lang="en-US" altLang="zh-CN" sz="4400" b="0" i="1" smtClean="0">
                            <a:solidFill>
                              <a:srgbClr val="000000"/>
                            </a:solidFill>
                            <a:latin typeface="Cambria Math" panose="02040503050406030204" pitchFamily="18" charset="0"/>
                          </a:rPr>
                          <m:t>0</m:t>
                        </m:r>
                      </m:sub>
                    </m:sSub>
                  </m:oMath>
                </a14:m>
                <a:endParaRPr lang="en-US" altLang="zh-CN" sz="4400" dirty="0">
                  <a:solidFill>
                    <a:srgbClr val="000000"/>
                  </a:solidFill>
                </a:endParaRPr>
              </a:p>
              <a:p>
                <a:pPr marL="952500" lvl="1" indent="-609600">
                  <a:lnSpc>
                    <a:spcPct val="150000"/>
                  </a:lnSpc>
                  <a:buClrTx/>
                  <a:buSzPct val="123000"/>
                </a:pPr>
                <a14:m>
                  <m:oMath xmlns:m="http://schemas.openxmlformats.org/officeDocument/2006/math">
                    <m:acc>
                      <m:accPr>
                        <m:chr m:val="̃"/>
                        <m:ctrlPr>
                          <a:rPr lang="en-US" altLang="zh-CN" sz="4400" i="1">
                            <a:solidFill>
                              <a:srgbClr val="000000"/>
                            </a:solidFill>
                            <a:latin typeface="Cambria Math" panose="02040503050406030204" pitchFamily="18" charset="0"/>
                          </a:rPr>
                        </m:ctrlPr>
                      </m:accPr>
                      <m:e>
                        <m:r>
                          <a:rPr lang="en-US" altLang="zh-CN" sz="4400" i="1">
                            <a:solidFill>
                              <a:srgbClr val="000000"/>
                            </a:solidFill>
                            <a:latin typeface="Cambria Math" panose="02040503050406030204" pitchFamily="18" charset="0"/>
                          </a:rPr>
                          <m:t>𝑠</m:t>
                        </m:r>
                      </m:e>
                    </m:acc>
                    <m:d>
                      <m:dPr>
                        <m:ctrlPr>
                          <a:rPr lang="en-US" altLang="zh-CN" sz="4400" i="1">
                            <a:solidFill>
                              <a:srgbClr val="000000"/>
                            </a:solidFill>
                            <a:latin typeface="Cambria Math" panose="02040503050406030204" pitchFamily="18" charset="0"/>
                          </a:rPr>
                        </m:ctrlPr>
                      </m:dPr>
                      <m:e>
                        <m:r>
                          <a:rPr lang="en-US" altLang="zh-CN" sz="4400" i="1">
                            <a:solidFill>
                              <a:srgbClr val="000000"/>
                            </a:solidFill>
                            <a:latin typeface="Cambria Math" panose="02040503050406030204" pitchFamily="18" charset="0"/>
                          </a:rPr>
                          <m:t>𝑡</m:t>
                        </m:r>
                      </m:e>
                    </m:d>
                    <m:r>
                      <a:rPr lang="en-US" altLang="zh-CN" sz="4400" i="1">
                        <a:solidFill>
                          <a:srgbClr val="000000"/>
                        </a:solidFill>
                        <a:latin typeface="Cambria Math" panose="02040503050406030204" pitchFamily="18" charset="0"/>
                      </a:rPr>
                      <m:t>=−</m:t>
                    </m:r>
                    <m:f>
                      <m:fPr>
                        <m:ctrlPr>
                          <a:rPr lang="en-US" altLang="zh-CN" sz="4400" i="1">
                            <a:solidFill>
                              <a:srgbClr val="000000"/>
                            </a:solidFill>
                            <a:latin typeface="Cambria Math" panose="02040503050406030204" pitchFamily="18" charset="0"/>
                          </a:rPr>
                        </m:ctrlPr>
                      </m:fPr>
                      <m:num>
                        <m:r>
                          <a:rPr lang="en-US" altLang="zh-CN" sz="4400" i="1">
                            <a:solidFill>
                              <a:srgbClr val="000000"/>
                            </a:solidFill>
                            <a:latin typeface="Cambria Math" panose="02040503050406030204" pitchFamily="18" charset="0"/>
                          </a:rPr>
                          <m:t>1</m:t>
                        </m:r>
                      </m:num>
                      <m:den>
                        <m:r>
                          <a:rPr lang="en-US" altLang="zh-CN" sz="4400" i="1">
                            <a:solidFill>
                              <a:srgbClr val="000000"/>
                            </a:solidFill>
                            <a:latin typeface="Cambria Math" panose="02040503050406030204" pitchFamily="18" charset="0"/>
                          </a:rPr>
                          <m:t>2</m:t>
                        </m:r>
                      </m:den>
                    </m:f>
                    <m:sSup>
                      <m:sSupPr>
                        <m:ctrlPr>
                          <a:rPr lang="en-US" altLang="zh-CN" sz="4400" i="1">
                            <a:solidFill>
                              <a:srgbClr val="000000"/>
                            </a:solidFill>
                            <a:latin typeface="Cambria Math" panose="02040503050406030204" pitchFamily="18" charset="0"/>
                          </a:rPr>
                        </m:ctrlPr>
                      </m:sSupPr>
                      <m:e>
                        <m:r>
                          <a:rPr lang="en-US" altLang="zh-CN" sz="4400" i="1">
                            <a:solidFill>
                              <a:srgbClr val="000000"/>
                            </a:solidFill>
                            <a:latin typeface="Cambria Math" panose="02040503050406030204" pitchFamily="18" charset="0"/>
                          </a:rPr>
                          <m:t>𝑠</m:t>
                        </m:r>
                      </m:e>
                      <m:sup>
                        <m:r>
                          <a:rPr lang="en-US" altLang="zh-CN" sz="4400" i="1">
                            <a:solidFill>
                              <a:srgbClr val="000000"/>
                            </a:solidFill>
                            <a:latin typeface="Cambria Math" panose="02040503050406030204" pitchFamily="18" charset="0"/>
                          </a:rPr>
                          <m:t>′′</m:t>
                        </m:r>
                      </m:sup>
                    </m:sSup>
                    <m:d>
                      <m:dPr>
                        <m:ctrlPr>
                          <a:rPr lang="en-US" altLang="zh-CN" sz="4400" i="1">
                            <a:solidFill>
                              <a:srgbClr val="000000"/>
                            </a:solidFill>
                            <a:latin typeface="Cambria Math" panose="02040503050406030204" pitchFamily="18" charset="0"/>
                          </a:rPr>
                        </m:ctrlPr>
                      </m:dPr>
                      <m:e>
                        <m:r>
                          <a:rPr lang="en-US" altLang="zh-CN" sz="4400" i="1">
                            <a:solidFill>
                              <a:srgbClr val="000000"/>
                            </a:solidFill>
                            <a:latin typeface="Cambria Math" panose="02040503050406030204" pitchFamily="18" charset="0"/>
                          </a:rPr>
                          <m:t>0.5</m:t>
                        </m:r>
                      </m:e>
                    </m:d>
                    <m:d>
                      <m:dPr>
                        <m:ctrlPr>
                          <a:rPr lang="en-US" altLang="zh-CN" sz="4400" i="1">
                            <a:solidFill>
                              <a:srgbClr val="000000"/>
                            </a:solidFill>
                            <a:latin typeface="Cambria Math" panose="02040503050406030204" pitchFamily="18" charset="0"/>
                          </a:rPr>
                        </m:ctrlPr>
                      </m:dPr>
                      <m:e>
                        <m:r>
                          <a:rPr lang="en-US" altLang="zh-CN" sz="4400" i="1">
                            <a:solidFill>
                              <a:srgbClr val="000000"/>
                            </a:solidFill>
                            <a:latin typeface="Cambria Math" panose="02040503050406030204" pitchFamily="18" charset="0"/>
                          </a:rPr>
                          <m:t>1−</m:t>
                        </m:r>
                        <m:r>
                          <a:rPr lang="en-US" altLang="zh-CN" sz="4400" i="1">
                            <a:solidFill>
                              <a:srgbClr val="000000"/>
                            </a:solidFill>
                            <a:latin typeface="Cambria Math" panose="02040503050406030204" pitchFamily="18" charset="0"/>
                          </a:rPr>
                          <m:t>𝑡</m:t>
                        </m:r>
                      </m:e>
                    </m:d>
                    <m:r>
                      <a:rPr lang="en-US" altLang="zh-CN" sz="4400" i="1">
                        <a:solidFill>
                          <a:srgbClr val="000000"/>
                        </a:solidFill>
                        <a:latin typeface="Cambria Math" panose="02040503050406030204" pitchFamily="18" charset="0"/>
                      </a:rPr>
                      <m:t>𝑡</m:t>
                    </m:r>
                    <m:r>
                      <a:rPr lang="en-US" altLang="zh-CN" sz="4400" i="1">
                        <a:solidFill>
                          <a:srgbClr val="000000"/>
                        </a:solidFill>
                        <a:latin typeface="Cambria Math" panose="02040503050406030204" pitchFamily="18" charset="0"/>
                      </a:rPr>
                      <m:t>+</m:t>
                    </m:r>
                    <m:r>
                      <a:rPr lang="en-US" altLang="zh-CN" sz="4400" i="1">
                        <a:solidFill>
                          <a:srgbClr val="000000"/>
                        </a:solidFill>
                        <a:latin typeface="Cambria Math" panose="02040503050406030204" pitchFamily="18" charset="0"/>
                      </a:rPr>
                      <m:t>𝑙𝑡</m:t>
                    </m:r>
                  </m:oMath>
                </a14:m>
                <a:r>
                  <a:rPr lang="en-US" altLang="zh-CN" sz="4400" dirty="0">
                    <a:solidFill>
                      <a:srgbClr val="000000"/>
                    </a:solidFill>
                  </a:rPr>
                  <a:t> is a quadratic approximation of </a:t>
                </a:r>
                <a14:m>
                  <m:oMath xmlns:m="http://schemas.openxmlformats.org/officeDocument/2006/math">
                    <m:r>
                      <a:rPr lang="en-US" altLang="zh-CN" sz="4400" i="1">
                        <a:solidFill>
                          <a:srgbClr val="000000"/>
                        </a:solidFill>
                        <a:latin typeface="Cambria Math" panose="02040503050406030204" pitchFamily="18" charset="0"/>
                      </a:rPr>
                      <m:t>𝑠</m:t>
                    </m:r>
                  </m:oMath>
                </a14:m>
                <a:endParaRPr lang="en-US" altLang="zh-CN" sz="4400" dirty="0">
                  <a:solidFill>
                    <a:srgbClr val="000000"/>
                  </a:solidFill>
                </a:endParaRPr>
              </a:p>
              <a:p>
                <a:pPr marL="952500" lvl="1" indent="-609600">
                  <a:lnSpc>
                    <a:spcPct val="150000"/>
                  </a:lnSpc>
                  <a:buClrTx/>
                  <a:buSzPct val="123000"/>
                </a:pPr>
                <a:r>
                  <a:rPr lang="en-US" altLang="zh-CN" sz="4400" dirty="0">
                    <a:solidFill>
                      <a:srgbClr val="000000"/>
                    </a:solidFill>
                  </a:rPr>
                  <a:t>Obtain </a:t>
                </a:r>
                <a14:m>
                  <m:oMath xmlns:m="http://schemas.openxmlformats.org/officeDocument/2006/math">
                    <m:sSub>
                      <m:sSubPr>
                        <m:ctrlPr>
                          <a:rPr lang="en-US" altLang="zh-CN" sz="4400" i="1">
                            <a:solidFill>
                              <a:srgbClr val="000000"/>
                            </a:solidFill>
                            <a:latin typeface="Cambria Math" panose="02040503050406030204" pitchFamily="18" charset="0"/>
                          </a:rPr>
                        </m:ctrlPr>
                      </m:sSubPr>
                      <m:e>
                        <m:r>
                          <a:rPr lang="en-US" altLang="zh-CN" sz="4400" i="1">
                            <a:solidFill>
                              <a:srgbClr val="000000"/>
                            </a:solidFill>
                            <a:latin typeface="Cambria Math" panose="02040503050406030204" pitchFamily="18" charset="0"/>
                          </a:rPr>
                          <m:t>𝑡</m:t>
                        </m:r>
                      </m:e>
                      <m:sub>
                        <m:r>
                          <a:rPr lang="en-US" altLang="zh-CN" sz="4400" i="1">
                            <a:solidFill>
                              <a:srgbClr val="000000"/>
                            </a:solidFill>
                            <a:latin typeface="Cambria Math" panose="02040503050406030204" pitchFamily="18" charset="0"/>
                          </a:rPr>
                          <m:t>0</m:t>
                        </m:r>
                      </m:sub>
                    </m:sSub>
                  </m:oMath>
                </a14:m>
                <a:r>
                  <a:rPr lang="zh-CN" altLang="en-US" sz="4400" dirty="0">
                    <a:solidFill>
                      <a:srgbClr val="000000"/>
                    </a:solidFill>
                  </a:rPr>
                  <a:t> </a:t>
                </a:r>
                <a:r>
                  <a:rPr lang="en-US" altLang="zh-CN" sz="4400" dirty="0">
                    <a:solidFill>
                      <a:srgbClr val="000000"/>
                    </a:solidFill>
                  </a:rPr>
                  <a:t>by solving </a:t>
                </a:r>
                <a14:m>
                  <m:oMath xmlns:m="http://schemas.openxmlformats.org/officeDocument/2006/math">
                    <m:acc>
                      <m:accPr>
                        <m:chr m:val="̃"/>
                        <m:ctrlPr>
                          <a:rPr lang="en-US" altLang="zh-CN" sz="4400" i="1">
                            <a:solidFill>
                              <a:srgbClr val="000000"/>
                            </a:solidFill>
                            <a:latin typeface="Cambria Math" panose="02040503050406030204" pitchFamily="18" charset="0"/>
                          </a:rPr>
                        </m:ctrlPr>
                      </m:accPr>
                      <m:e>
                        <m:r>
                          <a:rPr lang="en-US" altLang="zh-CN" sz="4400" i="1">
                            <a:solidFill>
                              <a:srgbClr val="000000"/>
                            </a:solidFill>
                            <a:latin typeface="Cambria Math" panose="02040503050406030204" pitchFamily="18" charset="0"/>
                          </a:rPr>
                          <m:t>𝑠</m:t>
                        </m:r>
                      </m:e>
                    </m:acc>
                    <m:d>
                      <m:dPr>
                        <m:ctrlPr>
                          <a:rPr lang="en-US" altLang="zh-CN" sz="4400" i="1">
                            <a:solidFill>
                              <a:srgbClr val="000000"/>
                            </a:solidFill>
                            <a:latin typeface="Cambria Math" panose="02040503050406030204" pitchFamily="18" charset="0"/>
                          </a:rPr>
                        </m:ctrlPr>
                      </m:dPr>
                      <m:e>
                        <m:r>
                          <a:rPr lang="en-US" altLang="zh-CN" sz="4400" i="1">
                            <a:solidFill>
                              <a:srgbClr val="000000"/>
                            </a:solidFill>
                            <a:latin typeface="Cambria Math" panose="02040503050406030204" pitchFamily="18" charset="0"/>
                          </a:rPr>
                          <m:t>𝑡</m:t>
                        </m:r>
                      </m:e>
                    </m:d>
                    <m:r>
                      <a:rPr lang="en-US" altLang="zh-CN" sz="4400" i="1">
                        <a:solidFill>
                          <a:srgbClr val="000000"/>
                        </a:solidFill>
                        <a:latin typeface="Cambria Math" panose="02040503050406030204" pitchFamily="18" charset="0"/>
                      </a:rPr>
                      <m:t>−</m:t>
                    </m:r>
                    <m:r>
                      <a:rPr lang="en-US" altLang="zh-CN" sz="4400" i="1">
                        <a:solidFill>
                          <a:srgbClr val="000000"/>
                        </a:solidFill>
                        <a:latin typeface="Cambria Math" panose="02040503050406030204" pitchFamily="18" charset="0"/>
                      </a:rPr>
                      <m:t>𝑆</m:t>
                    </m:r>
                    <m:r>
                      <a:rPr lang="en-US" altLang="zh-CN" sz="4400" i="1">
                        <a:solidFill>
                          <a:srgbClr val="000000"/>
                        </a:solidFill>
                        <a:latin typeface="Cambria Math" panose="02040503050406030204" pitchFamily="18" charset="0"/>
                      </a:rPr>
                      <m:t>=0</m:t>
                    </m:r>
                  </m:oMath>
                </a14:m>
                <a:endParaRPr lang="en-US" altLang="zh-CN" sz="4400" dirty="0">
                  <a:solidFill>
                    <a:srgbClr val="000000"/>
                  </a:solidFill>
                </a:endParaRPr>
              </a:p>
            </p:txBody>
          </p:sp>
        </mc:Choice>
        <mc:Fallback xmlns="">
          <p:sp>
            <p:nvSpPr>
              <p:cNvPr id="7" name="내용 개체 틀 2">
                <a:extLst>
                  <a:ext uri="{FF2B5EF4-FFF2-40B4-BE49-F238E27FC236}">
                    <a16:creationId xmlns:a16="http://schemas.microsoft.com/office/drawing/2014/main" id="{2039B9AE-2B2D-B5E8-8275-1219AFE23AD7}"/>
                  </a:ext>
                </a:extLst>
              </p:cNvPr>
              <p:cNvSpPr txBox="1">
                <a:spLocks noRot="1" noChangeAspect="1" noMove="1" noResize="1" noEditPoints="1" noAdjustHandles="1" noChangeArrowheads="1" noChangeShapeType="1" noTextEdit="1"/>
              </p:cNvSpPr>
              <p:nvPr/>
            </p:nvSpPr>
            <p:spPr>
              <a:xfrm>
                <a:off x="1618325" y="2551738"/>
                <a:ext cx="21137766" cy="11164262"/>
              </a:xfrm>
              <a:prstGeom prst="rect">
                <a:avLst/>
              </a:prstGeom>
              <a:blipFill>
                <a:blip r:embed="rId5"/>
                <a:stretch>
                  <a:fillRect l="-1557" t="-218"/>
                </a:stretch>
              </a:blipFill>
            </p:spPr>
            <p:txBody>
              <a:bodyPr/>
              <a:lstStyle/>
              <a:p>
                <a:r>
                  <a:rPr lang="zh-CN" altLang="en-US">
                    <a:noFill/>
                  </a:rPr>
                  <a:t> </a:t>
                </a:r>
              </a:p>
            </p:txBody>
          </p:sp>
        </mc:Fallback>
      </mc:AlternateContent>
      <p:pic>
        <p:nvPicPr>
          <p:cNvPr id="3" name="图片 2">
            <a:extLst>
              <a:ext uri="{FF2B5EF4-FFF2-40B4-BE49-F238E27FC236}">
                <a16:creationId xmlns:a16="http://schemas.microsoft.com/office/drawing/2014/main" id="{1F62689B-E754-18E9-1EAC-B840DC2B9F5E}"/>
              </a:ext>
            </a:extLst>
          </p:cNvPr>
          <p:cNvPicPr>
            <a:picLocks noChangeAspect="1"/>
          </p:cNvPicPr>
          <p:nvPr/>
        </p:nvPicPr>
        <p:blipFill>
          <a:blip r:embed="rId6"/>
          <a:stretch>
            <a:fillRect/>
          </a:stretch>
        </p:blipFill>
        <p:spPr>
          <a:xfrm>
            <a:off x="7183297" y="4221006"/>
            <a:ext cx="9011136" cy="2750448"/>
          </a:xfrm>
          <a:prstGeom prst="rect">
            <a:avLst/>
          </a:prstGeom>
        </p:spPr>
      </p:pic>
      <p:sp>
        <p:nvSpPr>
          <p:cNvPr id="2" name="文本框 7">
            <a:extLst>
              <a:ext uri="{FF2B5EF4-FFF2-40B4-BE49-F238E27FC236}">
                <a16:creationId xmlns:a16="http://schemas.microsoft.com/office/drawing/2014/main" id="{E158C0B4-80F1-29FA-D840-95C3ED9B93D9}"/>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Arc-Length Parametrization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115459741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312D-331D-B2CD-48A3-712F43E119F0}"/>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BD43E1F2-5F30-71B3-AB5B-C77CE6057BF5}"/>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2C4566FA-9647-94CA-BC73-E49261BD2982}"/>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4330E666-EFDB-ED6A-4885-F64C09C48F94}"/>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744E3BED-9B3D-87D4-4531-1C466C75786F}"/>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58749F89-C88F-5551-A9BE-B1DFEBFB6602}"/>
                  </a:ext>
                </a:extLst>
              </p:cNvPr>
              <p:cNvSpPr txBox="1">
                <a:spLocks/>
              </p:cNvSpPr>
              <p:nvPr/>
            </p:nvSpPr>
            <p:spPr>
              <a:xfrm>
                <a:off x="1618325" y="2233684"/>
                <a:ext cx="21137766" cy="969452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Error estimation: accuracy is controlled by turning angle </a:t>
                </a:r>
                <a14:m>
                  <m:oMath xmlns:m="http://schemas.openxmlformats.org/officeDocument/2006/math">
                    <m:r>
                      <a:rPr lang="en-US" altLang="zh-CN" sz="4400" i="1">
                        <a:solidFill>
                          <a:schemeClr val="tx1"/>
                        </a:solidFill>
                        <a:latin typeface="Cambria Math" panose="02040503050406030204" pitchFamily="18" charset="0"/>
                      </a:rPr>
                      <m:t>𝜑</m:t>
                    </m:r>
                  </m:oMath>
                </a14:m>
                <a:endParaRPr lang="en-US" altLang="zh-CN" sz="4400" dirty="0">
                  <a:solidFill>
                    <a:srgbClr val="000000"/>
                  </a:solidFill>
                </a:endParaRPr>
              </a:p>
              <a:p>
                <a:pPr marL="952500" lvl="1" indent="-609600">
                  <a:lnSpc>
                    <a:spcPct val="150000"/>
                  </a:lnSpc>
                  <a:buClrTx/>
                  <a:buSzPct val="123000"/>
                </a:pPr>
                <a:r>
                  <a:rPr lang="en-US" altLang="zh-CN" sz="4000" dirty="0">
                    <a:solidFill>
                      <a:srgbClr val="000000"/>
                    </a:solidFill>
                  </a:rPr>
                  <a:t>How accurate is the chosen initial guess?</a:t>
                </a:r>
              </a:p>
            </p:txBody>
          </p:sp>
        </mc:Choice>
        <mc:Fallback xmlns="">
          <p:sp>
            <p:nvSpPr>
              <p:cNvPr id="7" name="내용 개체 틀 2">
                <a:extLst>
                  <a:ext uri="{FF2B5EF4-FFF2-40B4-BE49-F238E27FC236}">
                    <a16:creationId xmlns:a16="http://schemas.microsoft.com/office/drawing/2014/main" id="{58749F89-C88F-5551-A9BE-B1DFEBFB6602}"/>
                  </a:ext>
                </a:extLst>
              </p:cNvPr>
              <p:cNvSpPr txBox="1">
                <a:spLocks noRot="1" noChangeAspect="1" noMove="1" noResize="1" noEditPoints="1" noAdjustHandles="1" noChangeArrowheads="1" noChangeShapeType="1" noTextEdit="1"/>
              </p:cNvSpPr>
              <p:nvPr/>
            </p:nvSpPr>
            <p:spPr>
              <a:xfrm>
                <a:off x="1618325" y="2233684"/>
                <a:ext cx="21137766" cy="9694524"/>
              </a:xfrm>
              <a:prstGeom prst="rect">
                <a:avLst/>
              </a:prstGeom>
              <a:blipFill>
                <a:blip r:embed="rId5"/>
                <a:stretch>
                  <a:fillRect l="-1557" t="-189"/>
                </a:stretch>
              </a:blipFill>
            </p:spPr>
            <p:txBody>
              <a:bodyPr/>
              <a:lstStyle/>
              <a:p>
                <a:r>
                  <a:rPr lang="zh-CN" altLang="en-US">
                    <a:noFill/>
                  </a:rPr>
                  <a:t> </a:t>
                </a:r>
              </a:p>
            </p:txBody>
          </p:sp>
        </mc:Fallback>
      </mc:AlternateContent>
      <p:sp>
        <p:nvSpPr>
          <p:cNvPr id="2" name="文本框 7">
            <a:extLst>
              <a:ext uri="{FF2B5EF4-FFF2-40B4-BE49-F238E27FC236}">
                <a16:creationId xmlns:a16="http://schemas.microsoft.com/office/drawing/2014/main" id="{2FD72C72-2949-86EF-67D9-9C88592DE594}"/>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Arc-Length Parametrization</a:t>
            </a:r>
            <a:endParaRPr lang="zh-CN" altLang="en-US" sz="8800" b="1" i="1" dirty="0">
              <a:latin typeface="Arial Narrow" panose="020B0606020202030204" pitchFamily="34" charset="0"/>
              <a:cs typeface="Arial" panose="020B0604020202020204" pitchFamily="34" charset="0"/>
            </a:endParaRPr>
          </a:p>
        </p:txBody>
      </p:sp>
      <p:pic>
        <p:nvPicPr>
          <p:cNvPr id="5" name="图片 4">
            <a:extLst>
              <a:ext uri="{FF2B5EF4-FFF2-40B4-BE49-F238E27FC236}">
                <a16:creationId xmlns:a16="http://schemas.microsoft.com/office/drawing/2014/main" id="{CC09B5CB-11DE-1FD1-6CE5-B5B2A16EE167}"/>
              </a:ext>
            </a:extLst>
          </p:cNvPr>
          <p:cNvPicPr>
            <a:picLocks noChangeAspect="1"/>
          </p:cNvPicPr>
          <p:nvPr/>
        </p:nvPicPr>
        <p:blipFill>
          <a:blip r:embed="rId6"/>
          <a:stretch>
            <a:fillRect/>
          </a:stretch>
        </p:blipFill>
        <p:spPr>
          <a:xfrm>
            <a:off x="3806136" y="5205345"/>
            <a:ext cx="17066944" cy="6276971"/>
          </a:xfrm>
          <a:prstGeom prst="rect">
            <a:avLst/>
          </a:prstGeom>
        </p:spPr>
      </p:pic>
    </p:spTree>
    <p:extLst>
      <p:ext uri="{BB962C8B-B14F-4D97-AF65-F5344CB8AC3E}">
        <p14:creationId xmlns:p14="http://schemas.microsoft.com/office/powerpoint/2010/main" val="365176540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F6890-E6F9-614C-F8B3-BCB001DAA322}"/>
            </a:ext>
          </a:extLst>
        </p:cNvPr>
        <p:cNvGrpSpPr/>
        <p:nvPr/>
      </p:nvGrpSpPr>
      <p:grpSpPr>
        <a:xfrm>
          <a:off x="0" y="0"/>
          <a:ext cx="0" cy="0"/>
          <a:chOff x="0" y="0"/>
          <a:chExt cx="0" cy="0"/>
        </a:xfrm>
      </p:grpSpPr>
      <p:grpSp>
        <p:nvGrpSpPr>
          <p:cNvPr id="13" name="组合 12">
            <a:extLst>
              <a:ext uri="{FF2B5EF4-FFF2-40B4-BE49-F238E27FC236}">
                <a16:creationId xmlns:a16="http://schemas.microsoft.com/office/drawing/2014/main" id="{2ACE8141-94FC-9DDA-F62E-8BA54839118E}"/>
              </a:ext>
            </a:extLst>
          </p:cNvPr>
          <p:cNvGrpSpPr/>
          <p:nvPr/>
        </p:nvGrpSpPr>
        <p:grpSpPr>
          <a:xfrm>
            <a:off x="3748864" y="4517721"/>
            <a:ext cx="17181488" cy="8400272"/>
            <a:chOff x="8615779" y="6449504"/>
            <a:chExt cx="7142857" cy="3492244"/>
          </a:xfrm>
        </p:grpSpPr>
        <p:pic>
          <p:nvPicPr>
            <p:cNvPr id="8" name="图片 7">
              <a:extLst>
                <a:ext uri="{FF2B5EF4-FFF2-40B4-BE49-F238E27FC236}">
                  <a16:creationId xmlns:a16="http://schemas.microsoft.com/office/drawing/2014/main" id="{8890970E-15F8-67EE-103B-8B0D7B4BA590}"/>
                </a:ext>
              </a:extLst>
            </p:cNvPr>
            <p:cNvPicPr>
              <a:picLocks noChangeAspect="1"/>
            </p:cNvPicPr>
            <p:nvPr/>
          </p:nvPicPr>
          <p:blipFill>
            <a:blip r:embed="rId3"/>
            <a:stretch>
              <a:fillRect/>
            </a:stretch>
          </p:blipFill>
          <p:spPr>
            <a:xfrm>
              <a:off x="8615779" y="6449504"/>
              <a:ext cx="7142857" cy="1866667"/>
            </a:xfrm>
            <a:prstGeom prst="rect">
              <a:avLst/>
            </a:prstGeom>
          </p:spPr>
        </p:pic>
        <p:pic>
          <p:nvPicPr>
            <p:cNvPr id="11" name="图片 10">
              <a:extLst>
                <a:ext uri="{FF2B5EF4-FFF2-40B4-BE49-F238E27FC236}">
                  <a16:creationId xmlns:a16="http://schemas.microsoft.com/office/drawing/2014/main" id="{B9854F89-CF79-244B-28B0-7A01AD570278}"/>
                </a:ext>
              </a:extLst>
            </p:cNvPr>
            <p:cNvPicPr>
              <a:picLocks noChangeAspect="1"/>
            </p:cNvPicPr>
            <p:nvPr/>
          </p:nvPicPr>
          <p:blipFill>
            <a:blip r:embed="rId4"/>
            <a:stretch>
              <a:fillRect/>
            </a:stretch>
          </p:blipFill>
          <p:spPr>
            <a:xfrm>
              <a:off x="8635906" y="8189367"/>
              <a:ext cx="7000000" cy="1752381"/>
            </a:xfrm>
            <a:prstGeom prst="rect">
              <a:avLst/>
            </a:prstGeom>
          </p:spPr>
        </p:pic>
      </p:grpSp>
      <p:sp>
        <p:nvSpPr>
          <p:cNvPr id="198" name="直接连接符 5">
            <a:extLst>
              <a:ext uri="{FF2B5EF4-FFF2-40B4-BE49-F238E27FC236}">
                <a16:creationId xmlns:a16="http://schemas.microsoft.com/office/drawing/2014/main" id="{A91B09DD-C802-6543-FA4D-9E48D4FE7169}"/>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54415F80-E55C-AD92-953D-89AFEA5F1C06}"/>
              </a:ext>
            </a:extLst>
          </p:cNvPr>
          <p:cNvPicPr>
            <a:picLocks noChangeAspect="1"/>
          </p:cNvPicPr>
          <p:nvPr/>
        </p:nvPicPr>
        <p:blipFill>
          <a:blip r:embed="rId5"/>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E89A0EFB-03FD-11E9-9ED5-9284A35715C6}"/>
              </a:ext>
            </a:extLst>
          </p:cNvPr>
          <p:cNvPicPr>
            <a:picLocks noChangeAspect="1"/>
          </p:cNvPicPr>
          <p:nvPr/>
        </p:nvPicPr>
        <p:blipFill>
          <a:blip r:embed="rId6"/>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8790DF19-02F0-1AB4-05C8-52F1E885D570}"/>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A26DC448-85DC-A19B-84C5-2CC05E528FE3}"/>
                  </a:ext>
                </a:extLst>
              </p:cNvPr>
              <p:cNvSpPr txBox="1">
                <a:spLocks/>
              </p:cNvSpPr>
              <p:nvPr/>
            </p:nvSpPr>
            <p:spPr>
              <a:xfrm>
                <a:off x="1618325" y="2233684"/>
                <a:ext cx="21137766" cy="969452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Error estimation: accuracy is controlled by turning angle </a:t>
                </a:r>
                <a14:m>
                  <m:oMath xmlns:m="http://schemas.openxmlformats.org/officeDocument/2006/math">
                    <m:r>
                      <a:rPr lang="en-US" altLang="zh-CN" sz="4400" i="1">
                        <a:solidFill>
                          <a:schemeClr val="tx1"/>
                        </a:solidFill>
                        <a:latin typeface="Cambria Math" panose="02040503050406030204" pitchFamily="18" charset="0"/>
                      </a:rPr>
                      <m:t>𝜑</m:t>
                    </m:r>
                  </m:oMath>
                </a14:m>
                <a:endParaRPr lang="en-US" altLang="zh-CN" sz="4400" dirty="0">
                  <a:solidFill>
                    <a:srgbClr val="000000"/>
                  </a:solidFill>
                </a:endParaRPr>
              </a:p>
              <a:p>
                <a:pPr marL="952500" lvl="1" indent="-609600">
                  <a:lnSpc>
                    <a:spcPct val="150000"/>
                  </a:lnSpc>
                  <a:buClrTx/>
                  <a:buSzPct val="123000"/>
                </a:pPr>
                <a:r>
                  <a:rPr lang="en-US" altLang="zh-CN" sz="4000" dirty="0">
                    <a:solidFill>
                      <a:srgbClr val="000000"/>
                    </a:solidFill>
                  </a:rPr>
                  <a:t>How accurate is Newton iteration?</a:t>
                </a:r>
              </a:p>
            </p:txBody>
          </p:sp>
        </mc:Choice>
        <mc:Fallback xmlns="">
          <p:sp>
            <p:nvSpPr>
              <p:cNvPr id="7" name="내용 개체 틀 2">
                <a:extLst>
                  <a:ext uri="{FF2B5EF4-FFF2-40B4-BE49-F238E27FC236}">
                    <a16:creationId xmlns:a16="http://schemas.microsoft.com/office/drawing/2014/main" id="{A26DC448-85DC-A19B-84C5-2CC05E528FE3}"/>
                  </a:ext>
                </a:extLst>
              </p:cNvPr>
              <p:cNvSpPr txBox="1">
                <a:spLocks noRot="1" noChangeAspect="1" noMove="1" noResize="1" noEditPoints="1" noAdjustHandles="1" noChangeArrowheads="1" noChangeShapeType="1" noTextEdit="1"/>
              </p:cNvSpPr>
              <p:nvPr/>
            </p:nvSpPr>
            <p:spPr>
              <a:xfrm>
                <a:off x="1618325" y="2233684"/>
                <a:ext cx="21137766" cy="9694524"/>
              </a:xfrm>
              <a:prstGeom prst="rect">
                <a:avLst/>
              </a:prstGeom>
              <a:blipFill>
                <a:blip r:embed="rId7"/>
                <a:stretch>
                  <a:fillRect l="-1557" t="-189"/>
                </a:stretch>
              </a:blipFill>
            </p:spPr>
            <p:txBody>
              <a:bodyPr/>
              <a:lstStyle/>
              <a:p>
                <a:r>
                  <a:rPr lang="zh-CN" altLang="en-US">
                    <a:noFill/>
                  </a:rPr>
                  <a:t> </a:t>
                </a:r>
              </a:p>
            </p:txBody>
          </p:sp>
        </mc:Fallback>
      </mc:AlternateContent>
      <p:sp>
        <p:nvSpPr>
          <p:cNvPr id="2" name="文本框 7">
            <a:extLst>
              <a:ext uri="{FF2B5EF4-FFF2-40B4-BE49-F238E27FC236}">
                <a16:creationId xmlns:a16="http://schemas.microsoft.com/office/drawing/2014/main" id="{3342903E-F56F-C1DA-BDF5-9ED70B128392}"/>
              </a:ext>
            </a:extLst>
          </p:cNvPr>
          <p:cNvSpPr txBox="1"/>
          <p:nvPr/>
        </p:nvSpPr>
        <p:spPr>
          <a:xfrm>
            <a:off x="723900" y="247650"/>
            <a:ext cx="21014689" cy="153888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Arc-Length Parametrization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286754673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1916F-0CC0-3498-DD13-5F612B3BA0FC}"/>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C67CA76D-628D-9FF9-A820-B60FBE40B022}"/>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824F6E6F-6EC5-C350-67B8-F84B230D1005}"/>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C9694760-F85B-05BB-C7BF-C48A7FAE0976}"/>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36A42905-AC27-93D8-7086-A701D7DFC176}"/>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D14D13B6-0A26-B5DD-CB13-D505996D7A9F}"/>
                  </a:ext>
                </a:extLst>
              </p:cNvPr>
              <p:cNvSpPr txBox="1">
                <a:spLocks/>
              </p:cNvSpPr>
              <p:nvPr/>
            </p:nvSpPr>
            <p:spPr>
              <a:xfrm>
                <a:off x="1618325" y="2233684"/>
                <a:ext cx="21137766" cy="969452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Upper bound depends on </a:t>
                </a:r>
                <a14:m>
                  <m:oMath xmlns:m="http://schemas.openxmlformats.org/officeDocument/2006/math">
                    <m:r>
                      <a:rPr lang="en-US" altLang="zh-CN" sz="4800" b="0" i="1" smtClean="0">
                        <a:solidFill>
                          <a:srgbClr val="000000"/>
                        </a:solidFill>
                        <a:latin typeface="Cambria Math" panose="02040503050406030204" pitchFamily="18" charset="0"/>
                        <a:cs typeface="+mn-cs"/>
                      </a:rPr>
                      <m:t>𝜖</m:t>
                    </m:r>
                  </m:oMath>
                </a14:m>
                <a:r>
                  <a:rPr lang="en-US" altLang="zh-CN" sz="4800" dirty="0">
                    <a:solidFill>
                      <a:srgbClr val="000000"/>
                    </a:solidFill>
                  </a:rPr>
                  <a:t> and twice control edge length |</a:t>
                </a:r>
                <a14:m>
                  <m:oMath xmlns:m="http://schemas.openxmlformats.org/officeDocument/2006/math">
                    <m:sSup>
                      <m:sSupPr>
                        <m:ctrlPr>
                          <a:rPr lang="en-US" altLang="zh-CN" sz="4800" i="1">
                            <a:solidFill>
                              <a:srgbClr val="000000"/>
                            </a:solidFill>
                            <a:latin typeface="Cambria Math" panose="02040503050406030204" pitchFamily="18" charset="0"/>
                          </a:rPr>
                        </m:ctrlPr>
                      </m:sSupPr>
                      <m:e>
                        <m:r>
                          <a:rPr lang="en-US" altLang="zh-CN" sz="4800" b="1">
                            <a:solidFill>
                              <a:srgbClr val="000000"/>
                            </a:solidFill>
                            <a:latin typeface="Cambria Math" panose="02040503050406030204" pitchFamily="18" charset="0"/>
                          </a:rPr>
                          <m:t>𝐁</m:t>
                        </m:r>
                      </m:e>
                      <m:sup>
                        <m:r>
                          <a:rPr lang="en-US" altLang="zh-CN" sz="4800" i="1">
                            <a:solidFill>
                              <a:srgbClr val="000000"/>
                            </a:solidFill>
                            <a:latin typeface="Cambria Math" panose="02040503050406030204" pitchFamily="18" charset="0"/>
                          </a:rPr>
                          <m:t>′</m:t>
                        </m:r>
                      </m:sup>
                    </m:sSup>
                    <m:r>
                      <a:rPr lang="en-US" altLang="zh-CN" sz="4800" i="1">
                        <a:solidFill>
                          <a:srgbClr val="000000"/>
                        </a:solidFill>
                        <a:latin typeface="Cambria Math" panose="02040503050406030204" pitchFamily="18" charset="0"/>
                      </a:rPr>
                      <m:t>(</m:t>
                    </m:r>
                    <m:r>
                      <a:rPr lang="en-US" altLang="zh-CN" sz="4800" b="0" i="1" smtClean="0">
                        <a:solidFill>
                          <a:srgbClr val="000000"/>
                        </a:solidFill>
                        <a:latin typeface="Cambria Math" panose="02040503050406030204" pitchFamily="18" charset="0"/>
                      </a:rPr>
                      <m:t>0</m:t>
                    </m:r>
                    <m:r>
                      <a:rPr lang="en-US" altLang="zh-CN" sz="4800" i="1">
                        <a:solidFill>
                          <a:srgbClr val="000000"/>
                        </a:solidFill>
                        <a:latin typeface="Cambria Math" panose="02040503050406030204" pitchFamily="18" charset="0"/>
                      </a:rPr>
                      <m:t>)|</m:t>
                    </m:r>
                  </m:oMath>
                </a14:m>
                <a:endParaRPr lang="en-US" altLang="zh-CN" sz="4800" dirty="0">
                  <a:solidFill>
                    <a:srgbClr val="000000"/>
                  </a:solidFill>
                </a:endParaRPr>
              </a:p>
              <a:p>
                <a:pPr marL="952500" lvl="1" indent="-609600">
                  <a:lnSpc>
                    <a:spcPct val="150000"/>
                  </a:lnSpc>
                  <a:buClrTx/>
                  <a:buSzPct val="123000"/>
                </a:pPr>
                <a:r>
                  <a:rPr lang="en-US" altLang="zh-CN" sz="4400" dirty="0">
                    <a:solidFill>
                      <a:srgbClr val="000000"/>
                    </a:solidFill>
                  </a:rPr>
                  <a:t>Assume </a:t>
                </a:r>
                <a14:m>
                  <m:oMath xmlns:m="http://schemas.openxmlformats.org/officeDocument/2006/math">
                    <m:r>
                      <a:rPr lang="en-US" altLang="zh-CN" sz="4400" i="1">
                        <a:solidFill>
                          <a:srgbClr val="000000"/>
                        </a:solidFill>
                        <a:latin typeface="Cambria Math" panose="02040503050406030204" pitchFamily="18" charset="0"/>
                      </a:rPr>
                      <m:t>𝜖</m:t>
                    </m:r>
                    <m:r>
                      <a:rPr lang="en-US" altLang="zh-CN" sz="4400" i="1">
                        <a:solidFill>
                          <a:srgbClr val="000000"/>
                        </a:solidFill>
                        <a:latin typeface="Cambria Math" panose="02040503050406030204" pitchFamily="18" charset="0"/>
                      </a:rPr>
                      <m:t>=0.01,</m:t>
                    </m:r>
                  </m:oMath>
                </a14:m>
                <a:r>
                  <a:rPr lang="zh-CN" altLang="en-US" sz="4400" dirty="0">
                    <a:solidFill>
                      <a:srgbClr val="000000"/>
                    </a:solidFill>
                  </a:rPr>
                  <a:t> </a:t>
                </a:r>
                <a:r>
                  <a:rPr lang="en-US" altLang="zh-CN" sz="4400" dirty="0">
                    <a:solidFill>
                      <a:srgbClr val="000000"/>
                    </a:solidFill>
                  </a:rPr>
                  <a:t>observe how upper bound is related to |</a:t>
                </a:r>
                <a14:m>
                  <m:oMath xmlns:m="http://schemas.openxmlformats.org/officeDocument/2006/math">
                    <m:sSup>
                      <m:sSupPr>
                        <m:ctrlPr>
                          <a:rPr lang="en-US" altLang="zh-CN" sz="4400" i="1">
                            <a:solidFill>
                              <a:srgbClr val="000000"/>
                            </a:solidFill>
                            <a:latin typeface="Cambria Math" panose="02040503050406030204" pitchFamily="18" charset="0"/>
                          </a:rPr>
                        </m:ctrlPr>
                      </m:sSupPr>
                      <m:e>
                        <m:r>
                          <a:rPr lang="en-US" altLang="zh-CN" sz="4400" b="1">
                            <a:solidFill>
                              <a:srgbClr val="000000"/>
                            </a:solidFill>
                            <a:latin typeface="Cambria Math" panose="02040503050406030204" pitchFamily="18" charset="0"/>
                          </a:rPr>
                          <m:t>𝐁</m:t>
                        </m:r>
                      </m:e>
                      <m:sup>
                        <m:r>
                          <a:rPr lang="en-US" altLang="zh-CN" sz="4400" i="1">
                            <a:solidFill>
                              <a:srgbClr val="000000"/>
                            </a:solidFill>
                            <a:latin typeface="Cambria Math" panose="02040503050406030204" pitchFamily="18" charset="0"/>
                          </a:rPr>
                          <m:t>′</m:t>
                        </m:r>
                      </m:sup>
                    </m:sSup>
                    <m:r>
                      <a:rPr lang="en-US" altLang="zh-CN" sz="4400" i="1">
                        <a:solidFill>
                          <a:srgbClr val="000000"/>
                        </a:solidFill>
                        <a:latin typeface="Cambria Math" panose="02040503050406030204" pitchFamily="18" charset="0"/>
                      </a:rPr>
                      <m:t>(0)|</m:t>
                    </m:r>
                  </m:oMath>
                </a14:m>
                <a:endParaRPr lang="en-US" altLang="zh-CN" sz="4400" dirty="0">
                  <a:solidFill>
                    <a:srgbClr val="000000"/>
                  </a:solidFill>
                </a:endParaRPr>
              </a:p>
              <a:p>
                <a:pPr marL="952500" lvl="1" indent="-609600">
                  <a:lnSpc>
                    <a:spcPct val="150000"/>
                  </a:lnSpc>
                  <a:buClrTx/>
                  <a:buSzPct val="123000"/>
                </a:pPr>
                <a:r>
                  <a:rPr lang="en-US" altLang="zh-CN" sz="4400" dirty="0">
                    <a:solidFill>
                      <a:srgbClr val="000000"/>
                    </a:solidFill>
                  </a:rPr>
                  <a:t>Rendering in 1920x1080</a:t>
                </a:r>
                <a:r>
                  <a:rPr lang="zh-CN" altLang="en-US" sz="4400" dirty="0">
                    <a:solidFill>
                      <a:srgbClr val="000000"/>
                    </a:solidFill>
                  </a:rPr>
                  <a:t> </a:t>
                </a:r>
                <a:r>
                  <a:rPr lang="en-US" altLang="zh-CN" sz="4400" dirty="0">
                    <a:solidFill>
                      <a:srgbClr val="000000"/>
                    </a:solidFill>
                  </a:rPr>
                  <a:t>screen: </a:t>
                </a:r>
                <a14:m>
                  <m:oMath xmlns:m="http://schemas.openxmlformats.org/officeDocument/2006/math">
                    <m:sSub>
                      <m:sSubPr>
                        <m:ctrlPr>
                          <a:rPr lang="en-US" altLang="zh-CN" sz="4400" i="1">
                            <a:solidFill>
                              <a:srgbClr val="000000"/>
                            </a:solidFill>
                            <a:latin typeface="Cambria Math" panose="02040503050406030204" pitchFamily="18" charset="0"/>
                          </a:rPr>
                        </m:ctrlPr>
                      </m:sSubPr>
                      <m:e>
                        <m:r>
                          <a:rPr lang="en-US" altLang="zh-CN" sz="4400" b="1" i="0" smtClean="0">
                            <a:solidFill>
                              <a:srgbClr val="000000"/>
                            </a:solidFill>
                            <a:latin typeface="Cambria Math" panose="02040503050406030204" pitchFamily="18" charset="0"/>
                          </a:rPr>
                          <m:t>|</m:t>
                        </m:r>
                        <m:r>
                          <a:rPr lang="en-US" altLang="zh-CN" sz="4400" b="1">
                            <a:solidFill>
                              <a:srgbClr val="000000"/>
                            </a:solidFill>
                            <a:latin typeface="Cambria Math" panose="02040503050406030204" pitchFamily="18" charset="0"/>
                          </a:rPr>
                          <m:t>𝐏</m:t>
                        </m:r>
                      </m:e>
                      <m:sub>
                        <m:r>
                          <a:rPr lang="en-US" altLang="zh-CN" sz="4400">
                            <a:solidFill>
                              <a:srgbClr val="000000"/>
                            </a:solidFill>
                            <a:latin typeface="Cambria Math" panose="02040503050406030204" pitchFamily="18" charset="0"/>
                          </a:rPr>
                          <m:t>0</m:t>
                        </m:r>
                      </m:sub>
                    </m:sSub>
                    <m:sSub>
                      <m:sSubPr>
                        <m:ctrlPr>
                          <a:rPr lang="en-US" altLang="zh-CN" sz="4400" i="1">
                            <a:solidFill>
                              <a:srgbClr val="000000"/>
                            </a:solidFill>
                            <a:latin typeface="Cambria Math" panose="02040503050406030204" pitchFamily="18" charset="0"/>
                          </a:rPr>
                        </m:ctrlPr>
                      </m:sSubPr>
                      <m:e>
                        <m:r>
                          <a:rPr lang="en-US" altLang="zh-CN" sz="4400" b="1">
                            <a:solidFill>
                              <a:srgbClr val="000000"/>
                            </a:solidFill>
                            <a:latin typeface="Cambria Math" panose="02040503050406030204" pitchFamily="18" charset="0"/>
                          </a:rPr>
                          <m:t>𝐏</m:t>
                        </m:r>
                      </m:e>
                      <m:sub>
                        <m:r>
                          <a:rPr lang="en-US" altLang="zh-CN" sz="4400">
                            <a:solidFill>
                              <a:srgbClr val="000000"/>
                            </a:solidFill>
                            <a:latin typeface="Cambria Math" panose="02040503050406030204" pitchFamily="18" charset="0"/>
                          </a:rPr>
                          <m:t>1</m:t>
                        </m:r>
                      </m:sub>
                    </m:sSub>
                    <m:r>
                      <a:rPr lang="en-US" altLang="zh-CN" sz="4400" b="0" i="1" smtClean="0">
                        <a:solidFill>
                          <a:srgbClr val="000000"/>
                        </a:solidFill>
                        <a:latin typeface="Cambria Math" panose="02040503050406030204" pitchFamily="18" charset="0"/>
                      </a:rPr>
                      <m:t>|≤1920+1080=3000</m:t>
                    </m:r>
                  </m:oMath>
                </a14:m>
                <a:endParaRPr lang="en-US" altLang="zh-CN" sz="4400" dirty="0">
                  <a:solidFill>
                    <a:srgbClr val="000000"/>
                  </a:solidFill>
                </a:endParaRPr>
              </a:p>
              <a:p>
                <a:pPr marL="952500" lvl="1" indent="-609600">
                  <a:lnSpc>
                    <a:spcPct val="150000"/>
                  </a:lnSpc>
                  <a:buClrTx/>
                  <a:buSzPct val="123000"/>
                </a:pPr>
                <a:r>
                  <a:rPr lang="en-US" altLang="zh-CN" sz="4400" b="1" dirty="0">
                    <a:solidFill>
                      <a:srgbClr val="000000"/>
                    </a:solidFill>
                  </a:rPr>
                  <a:t>Newton iteration always converges within 3 steps</a:t>
                </a:r>
              </a:p>
            </p:txBody>
          </p:sp>
        </mc:Choice>
        <mc:Fallback xmlns="">
          <p:sp>
            <p:nvSpPr>
              <p:cNvPr id="7" name="내용 개체 틀 2">
                <a:extLst>
                  <a:ext uri="{FF2B5EF4-FFF2-40B4-BE49-F238E27FC236}">
                    <a16:creationId xmlns:a16="http://schemas.microsoft.com/office/drawing/2014/main" id="{D14D13B6-0A26-B5DD-CB13-D505996D7A9F}"/>
                  </a:ext>
                </a:extLst>
              </p:cNvPr>
              <p:cNvSpPr txBox="1">
                <a:spLocks noRot="1" noChangeAspect="1" noMove="1" noResize="1" noEditPoints="1" noAdjustHandles="1" noChangeArrowheads="1" noChangeShapeType="1" noTextEdit="1"/>
              </p:cNvSpPr>
              <p:nvPr/>
            </p:nvSpPr>
            <p:spPr>
              <a:xfrm>
                <a:off x="1618325" y="2233684"/>
                <a:ext cx="21137766" cy="9694524"/>
              </a:xfrm>
              <a:prstGeom prst="rect">
                <a:avLst/>
              </a:prstGeom>
              <a:blipFill>
                <a:blip r:embed="rId5"/>
                <a:stretch>
                  <a:fillRect l="-1557" t="-189"/>
                </a:stretch>
              </a:blipFill>
            </p:spPr>
            <p:txBody>
              <a:bodyPr/>
              <a:lstStyle/>
              <a:p>
                <a:r>
                  <a:rPr lang="zh-CN" altLang="en-US">
                    <a:noFill/>
                  </a:rPr>
                  <a:t> </a:t>
                </a:r>
              </a:p>
            </p:txBody>
          </p:sp>
        </mc:Fallback>
      </mc:AlternateContent>
      <p:grpSp>
        <p:nvGrpSpPr>
          <p:cNvPr id="9" name="组合 8">
            <a:extLst>
              <a:ext uri="{FF2B5EF4-FFF2-40B4-BE49-F238E27FC236}">
                <a16:creationId xmlns:a16="http://schemas.microsoft.com/office/drawing/2014/main" id="{F0D769C3-49A4-C357-D3AA-25C12FCD249A}"/>
              </a:ext>
            </a:extLst>
          </p:cNvPr>
          <p:cNvGrpSpPr/>
          <p:nvPr/>
        </p:nvGrpSpPr>
        <p:grpSpPr>
          <a:xfrm>
            <a:off x="6492511" y="7878346"/>
            <a:ext cx="10994787" cy="5057025"/>
            <a:chOff x="6492511" y="7878346"/>
            <a:chExt cx="10994787" cy="5057025"/>
          </a:xfrm>
        </p:grpSpPr>
        <p:pic>
          <p:nvPicPr>
            <p:cNvPr id="6" name="图片 5">
              <a:extLst>
                <a:ext uri="{FF2B5EF4-FFF2-40B4-BE49-F238E27FC236}">
                  <a16:creationId xmlns:a16="http://schemas.microsoft.com/office/drawing/2014/main" id="{97BF4CE8-4D12-303A-8EAD-B7EB1EFF7A90}"/>
                </a:ext>
              </a:extLst>
            </p:cNvPr>
            <p:cNvPicPr>
              <a:picLocks noChangeAspect="1"/>
            </p:cNvPicPr>
            <p:nvPr/>
          </p:nvPicPr>
          <p:blipFill>
            <a:blip r:embed="rId6"/>
            <a:stretch>
              <a:fillRect/>
            </a:stretch>
          </p:blipFill>
          <p:spPr>
            <a:xfrm>
              <a:off x="6492511" y="7878346"/>
              <a:ext cx="10994787" cy="4524252"/>
            </a:xfrm>
            <a:prstGeom prst="rect">
              <a:avLst/>
            </a:prstGeom>
          </p:spPr>
        </p:pic>
        <p:sp>
          <p:nvSpPr>
            <p:cNvPr id="8" name="文本框 7">
              <a:extLst>
                <a:ext uri="{FF2B5EF4-FFF2-40B4-BE49-F238E27FC236}">
                  <a16:creationId xmlns:a16="http://schemas.microsoft.com/office/drawing/2014/main" id="{C779AFEC-59D5-A345-405A-3BF6085CD484}"/>
                </a:ext>
              </a:extLst>
            </p:cNvPr>
            <p:cNvSpPr txBox="1"/>
            <p:nvPr/>
          </p:nvSpPr>
          <p:spPr>
            <a:xfrm>
              <a:off x="8022647" y="12455240"/>
              <a:ext cx="7934513"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Upper bound of Convergence Steps</a:t>
              </a:r>
              <a:endParaRPr lang="zh-CN" altLang="en-US" sz="2800" dirty="0">
                <a:solidFill>
                  <a:schemeClr val="tx1"/>
                </a:solidFill>
                <a:latin typeface="Arial" panose="020B0604020202020204" pitchFamily="34" charset="0"/>
                <a:cs typeface="Arial" panose="020B0604020202020204" pitchFamily="34" charset="0"/>
              </a:endParaRPr>
            </a:p>
          </p:txBody>
        </p:sp>
      </p:grpSp>
      <p:sp>
        <p:nvSpPr>
          <p:cNvPr id="2" name="文本框 7">
            <a:extLst>
              <a:ext uri="{FF2B5EF4-FFF2-40B4-BE49-F238E27FC236}">
                <a16:creationId xmlns:a16="http://schemas.microsoft.com/office/drawing/2014/main" id="{6C91CA52-B77C-727C-34F4-8CE526E3F1B3}"/>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Arc-Length Parametrization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36135211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6CA43-6BCF-BB76-B29C-97C3502452EA}"/>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C1C9DA11-2C05-540C-596A-9C1ABC8BD5D6}"/>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4CA13EE3-0AAB-BDC2-58CE-1C9BA629FFD3}"/>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EFEFC9C2-F7C4-76A0-F950-F497F3C1176A}"/>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693173CE-49F9-450B-4FA7-72EB825F64D0}"/>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7" name="내용 개체 틀 2">
            <a:extLst>
              <a:ext uri="{FF2B5EF4-FFF2-40B4-BE49-F238E27FC236}">
                <a16:creationId xmlns:a16="http://schemas.microsoft.com/office/drawing/2014/main" id="{576643C4-345E-C482-83B7-C27DFA578C19}"/>
              </a:ext>
            </a:extLst>
          </p:cNvPr>
          <p:cNvSpPr txBox="1">
            <a:spLocks/>
          </p:cNvSpPr>
          <p:nvPr/>
        </p:nvSpPr>
        <p:spPr>
          <a:xfrm>
            <a:off x="1623117" y="2237954"/>
            <a:ext cx="21137766" cy="969452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Application in dashed stroke rendering</a:t>
            </a:r>
          </a:p>
          <a:p>
            <a:pPr marL="952500" lvl="1" indent="-609600">
              <a:lnSpc>
                <a:spcPct val="150000"/>
              </a:lnSpc>
              <a:buClrTx/>
              <a:buSzPct val="123000"/>
            </a:pPr>
            <a:r>
              <a:rPr lang="en-US" altLang="zh-CN" sz="4000" dirty="0">
                <a:solidFill>
                  <a:srgbClr val="000000"/>
                </a:solidFill>
              </a:rPr>
              <a:t>Subdivision with bounded curvature to guarantee fast convergence</a:t>
            </a:r>
          </a:p>
          <a:p>
            <a:pPr marL="952500" lvl="1" indent="-609600">
              <a:lnSpc>
                <a:spcPct val="150000"/>
              </a:lnSpc>
              <a:buClrTx/>
              <a:buSzPct val="123000"/>
            </a:pPr>
            <a:r>
              <a:rPr lang="en-US" altLang="zh-CN" sz="4000" dirty="0">
                <a:solidFill>
                  <a:srgbClr val="000000"/>
                </a:solidFill>
              </a:rPr>
              <a:t>Find parameters of solid segments in each </a:t>
            </a:r>
            <a:r>
              <a:rPr lang="en-US" altLang="zh-CN" sz="4000" dirty="0" err="1">
                <a:solidFill>
                  <a:srgbClr val="000000"/>
                </a:solidFill>
              </a:rPr>
              <a:t>subcurve</a:t>
            </a:r>
            <a:r>
              <a:rPr lang="en-US" altLang="zh-CN" sz="4000" dirty="0">
                <a:solidFill>
                  <a:srgbClr val="000000"/>
                </a:solidFill>
              </a:rPr>
              <a:t>, in parallel</a:t>
            </a:r>
          </a:p>
        </p:txBody>
      </p:sp>
      <p:pic>
        <p:nvPicPr>
          <p:cNvPr id="3" name="图片 2">
            <a:extLst>
              <a:ext uri="{FF2B5EF4-FFF2-40B4-BE49-F238E27FC236}">
                <a16:creationId xmlns:a16="http://schemas.microsoft.com/office/drawing/2014/main" id="{08AED9A7-5A35-C805-595F-35DFE6B87641}"/>
              </a:ext>
            </a:extLst>
          </p:cNvPr>
          <p:cNvPicPr>
            <a:picLocks noChangeAspect="1"/>
          </p:cNvPicPr>
          <p:nvPr/>
        </p:nvPicPr>
        <p:blipFill>
          <a:blip r:embed="rId5"/>
          <a:stretch>
            <a:fillRect/>
          </a:stretch>
        </p:blipFill>
        <p:spPr>
          <a:xfrm>
            <a:off x="15160678" y="5615763"/>
            <a:ext cx="7194137" cy="6390537"/>
          </a:xfrm>
          <a:prstGeom prst="rect">
            <a:avLst/>
          </a:prstGeom>
        </p:spPr>
      </p:pic>
      <p:pic>
        <p:nvPicPr>
          <p:cNvPr id="5" name="图片 4">
            <a:extLst>
              <a:ext uri="{FF2B5EF4-FFF2-40B4-BE49-F238E27FC236}">
                <a16:creationId xmlns:a16="http://schemas.microsoft.com/office/drawing/2014/main" id="{989D464D-950D-5234-0695-C5A97ED39238}"/>
              </a:ext>
            </a:extLst>
          </p:cNvPr>
          <p:cNvPicPr>
            <a:picLocks noChangeAspect="1"/>
          </p:cNvPicPr>
          <p:nvPr/>
        </p:nvPicPr>
        <p:blipFill>
          <a:blip r:embed="rId6"/>
          <a:stretch>
            <a:fillRect/>
          </a:stretch>
        </p:blipFill>
        <p:spPr>
          <a:xfrm>
            <a:off x="1770725" y="5615763"/>
            <a:ext cx="7194138" cy="6390537"/>
          </a:xfrm>
          <a:prstGeom prst="rect">
            <a:avLst/>
          </a:prstGeom>
        </p:spPr>
      </p:pic>
      <p:sp>
        <p:nvSpPr>
          <p:cNvPr id="10" name="箭头: 右 9">
            <a:extLst>
              <a:ext uri="{FF2B5EF4-FFF2-40B4-BE49-F238E27FC236}">
                <a16:creationId xmlns:a16="http://schemas.microsoft.com/office/drawing/2014/main" id="{DA7C3A74-3471-ADEB-0FB2-3FF496EE0691}"/>
              </a:ext>
            </a:extLst>
          </p:cNvPr>
          <p:cNvSpPr/>
          <p:nvPr/>
        </p:nvSpPr>
        <p:spPr>
          <a:xfrm>
            <a:off x="10631535" y="8244500"/>
            <a:ext cx="2862470" cy="1133061"/>
          </a:xfrm>
          <a:prstGeom prst="rightArrow">
            <a:avLst/>
          </a:prstGeom>
          <a:solidFill>
            <a:srgbClr val="00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1" name="文本框 10">
            <a:extLst>
              <a:ext uri="{FF2B5EF4-FFF2-40B4-BE49-F238E27FC236}">
                <a16:creationId xmlns:a16="http://schemas.microsoft.com/office/drawing/2014/main" id="{ECBACE6B-C0F1-B140-AE77-E1E72C47B5F9}"/>
              </a:ext>
            </a:extLst>
          </p:cNvPr>
          <p:cNvSpPr txBox="1"/>
          <p:nvPr/>
        </p:nvSpPr>
        <p:spPr>
          <a:xfrm>
            <a:off x="1400537" y="11922467"/>
            <a:ext cx="7934513"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Result of subdivision</a:t>
            </a:r>
            <a:endParaRPr lang="zh-CN" altLang="en-US" sz="2800" dirty="0">
              <a:solidFill>
                <a:schemeClr val="tx1"/>
              </a:solidFill>
              <a:latin typeface="Arial" panose="020B0604020202020204" pitchFamily="34" charset="0"/>
              <a:cs typeface="Arial" panose="020B0604020202020204" pitchFamily="34" charset="0"/>
            </a:endParaRPr>
          </a:p>
        </p:txBody>
      </p:sp>
      <p:sp>
        <p:nvSpPr>
          <p:cNvPr id="12" name="文本框 11">
            <a:extLst>
              <a:ext uri="{FF2B5EF4-FFF2-40B4-BE49-F238E27FC236}">
                <a16:creationId xmlns:a16="http://schemas.microsoft.com/office/drawing/2014/main" id="{5D12F9AE-DB06-0406-8444-10DD92C37DA0}"/>
              </a:ext>
            </a:extLst>
          </p:cNvPr>
          <p:cNvSpPr txBox="1"/>
          <p:nvPr/>
        </p:nvSpPr>
        <p:spPr>
          <a:xfrm>
            <a:off x="14790489" y="11934679"/>
            <a:ext cx="7934513"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Result of dashed stroke rendering</a:t>
            </a:r>
            <a:endParaRPr lang="zh-CN" altLang="en-US" sz="2800" dirty="0">
              <a:solidFill>
                <a:schemeClr val="tx1"/>
              </a:solidFill>
              <a:latin typeface="Arial" panose="020B0604020202020204" pitchFamily="34" charset="0"/>
              <a:cs typeface="Arial" panose="020B0604020202020204" pitchFamily="34" charset="0"/>
            </a:endParaRPr>
          </a:p>
        </p:txBody>
      </p:sp>
      <p:sp>
        <p:nvSpPr>
          <p:cNvPr id="2" name="文本框 7">
            <a:extLst>
              <a:ext uri="{FF2B5EF4-FFF2-40B4-BE49-F238E27FC236}">
                <a16:creationId xmlns:a16="http://schemas.microsoft.com/office/drawing/2014/main" id="{9CD6973A-7B22-74AC-6D09-DA6E75A94F2A}"/>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Arc-Length Parametrization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151668435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828AA-3AAD-4A10-B3F9-FF0D64ABFDB7}"/>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21447A8B-F693-295D-6448-963EF98D6E27}"/>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8A2127B0-A631-4165-3903-DC62C4ACFDFB}"/>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99E88859-8941-A994-05A6-43F367A528CB}"/>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CDE0BDF2-A069-8542-053F-4927D72D84D7}"/>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9E9D202E-A526-BEEB-3CDC-1AFC35C22EF9}"/>
                  </a:ext>
                </a:extLst>
              </p:cNvPr>
              <p:cNvSpPr txBox="1">
                <a:spLocks/>
              </p:cNvSpPr>
              <p:nvPr/>
            </p:nvSpPr>
            <p:spPr>
              <a:xfrm>
                <a:off x="1623117" y="2237954"/>
                <a:ext cx="21137766" cy="969452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Texture mapping construction:</a:t>
                </a:r>
              </a:p>
              <a:p>
                <a:pPr marL="342900" lvl="1" indent="0">
                  <a:lnSpc>
                    <a:spcPct val="150000"/>
                  </a:lnSpc>
                  <a:buClrTx/>
                  <a:buSzPct val="123000"/>
                  <a:buNone/>
                </a:pPr>
                <a14:m>
                  <m:oMathPara xmlns:m="http://schemas.openxmlformats.org/officeDocument/2006/math">
                    <m:oMathParaPr>
                      <m:jc m:val="centerGroup"/>
                    </m:oMathParaPr>
                    <m:oMath xmlns:m="http://schemas.openxmlformats.org/officeDocument/2006/math">
                      <m:r>
                        <a:rPr lang="en-US" altLang="zh-CN" sz="4400" b="1" i="1">
                          <a:solidFill>
                            <a:srgbClr val="000000"/>
                          </a:solidFill>
                          <a:latin typeface="Cambria Math" panose="02040503050406030204" pitchFamily="18" charset="0"/>
                        </a:rPr>
                        <m:t>𝝍</m:t>
                      </m:r>
                      <m:d>
                        <m:dPr>
                          <m:ctrlPr>
                            <a:rPr lang="en-US" altLang="zh-CN" sz="4400" b="1" i="1" smtClean="0">
                              <a:solidFill>
                                <a:srgbClr val="000000"/>
                              </a:solidFill>
                              <a:latin typeface="Cambria Math" panose="02040503050406030204" pitchFamily="18" charset="0"/>
                            </a:rPr>
                          </m:ctrlPr>
                        </m:dPr>
                        <m:e>
                          <m:r>
                            <a:rPr lang="en-US" altLang="zh-CN" sz="4400" b="0" i="1" smtClean="0">
                              <a:solidFill>
                                <a:srgbClr val="000000"/>
                              </a:solidFill>
                              <a:latin typeface="Cambria Math" panose="02040503050406030204" pitchFamily="18" charset="0"/>
                            </a:rPr>
                            <m:t>𝑢</m:t>
                          </m:r>
                          <m:r>
                            <a:rPr lang="en-US" altLang="zh-CN" sz="4400" b="0" i="1" smtClean="0">
                              <a:solidFill>
                                <a:srgbClr val="000000"/>
                              </a:solidFill>
                              <a:latin typeface="Cambria Math" panose="02040503050406030204" pitchFamily="18" charset="0"/>
                            </a:rPr>
                            <m:t>,</m:t>
                          </m:r>
                          <m:r>
                            <a:rPr lang="en-US" altLang="zh-CN" sz="4400" b="0" i="1" smtClean="0">
                              <a:solidFill>
                                <a:srgbClr val="000000"/>
                              </a:solidFill>
                              <a:latin typeface="Cambria Math" panose="02040503050406030204" pitchFamily="18" charset="0"/>
                            </a:rPr>
                            <m:t>𝑣</m:t>
                          </m:r>
                        </m:e>
                      </m:d>
                      <m:r>
                        <a:rPr lang="en-US" altLang="zh-CN" sz="4400" b="1" i="1" smtClean="0">
                          <a:solidFill>
                            <a:srgbClr val="000000"/>
                          </a:solidFill>
                          <a:latin typeface="Cambria Math" panose="02040503050406030204" pitchFamily="18" charset="0"/>
                        </a:rPr>
                        <m:t>=</m:t>
                      </m:r>
                      <m:sSup>
                        <m:sSupPr>
                          <m:ctrlPr>
                            <a:rPr lang="es-ES" altLang="zh-CN" sz="4400" i="1" dirty="0" smtClean="0">
                              <a:solidFill>
                                <a:schemeClr val="tx1"/>
                              </a:solidFill>
                              <a:latin typeface="Cambria Math" panose="02040503050406030204" pitchFamily="18" charset="0"/>
                            </a:rPr>
                          </m:ctrlPr>
                        </m:sSupPr>
                        <m:e>
                          <m:d>
                            <m:dPr>
                              <m:ctrlPr>
                                <a:rPr lang="es-ES" altLang="zh-CN" sz="4400" i="1" dirty="0" smtClean="0">
                                  <a:solidFill>
                                    <a:schemeClr val="tx1"/>
                                  </a:solidFill>
                                  <a:latin typeface="Cambria Math" panose="02040503050406030204" pitchFamily="18" charset="0"/>
                                </a:rPr>
                              </m:ctrlPr>
                            </m:dPr>
                            <m:e>
                              <m:r>
                                <a:rPr lang="es-ES" altLang="zh-CN" sz="4400" b="0" i="1" dirty="0" smtClean="0">
                                  <a:solidFill>
                                    <a:schemeClr val="tx1"/>
                                  </a:solidFill>
                                  <a:latin typeface="Cambria Math" panose="02040503050406030204" pitchFamily="18" charset="0"/>
                                </a:rPr>
                                <m:t>1−</m:t>
                              </m:r>
                              <m:r>
                                <a:rPr lang="es-ES" altLang="zh-CN" sz="4400" b="0" i="1" dirty="0" smtClean="0">
                                  <a:solidFill>
                                    <a:schemeClr val="tx1"/>
                                  </a:solidFill>
                                  <a:latin typeface="Cambria Math" panose="02040503050406030204" pitchFamily="18" charset="0"/>
                                </a:rPr>
                                <m:t>𝑢</m:t>
                              </m:r>
                            </m:e>
                          </m:d>
                        </m:e>
                        <m:sup>
                          <m:r>
                            <a:rPr lang="es-ES" altLang="zh-CN" sz="4400" b="0" i="1" dirty="0" smtClean="0">
                              <a:solidFill>
                                <a:schemeClr val="tx1"/>
                              </a:solidFill>
                              <a:latin typeface="Cambria Math" panose="02040503050406030204" pitchFamily="18" charset="0"/>
                            </a:rPr>
                            <m:t>2</m:t>
                          </m:r>
                        </m:sup>
                      </m:sSup>
                      <m:sSub>
                        <m:sSubPr>
                          <m:ctrlPr>
                            <a:rPr lang="es-ES" altLang="zh-CN" sz="4400" b="0" i="1" dirty="0" smtClean="0">
                              <a:solidFill>
                                <a:schemeClr val="tx1"/>
                              </a:solidFill>
                              <a:latin typeface="Cambria Math" panose="02040503050406030204" pitchFamily="18" charset="0"/>
                            </a:rPr>
                          </m:ctrlPr>
                        </m:sSubPr>
                        <m:e>
                          <m:r>
                            <a:rPr lang="en-US" altLang="zh-CN" sz="4400" b="0" i="1" dirty="0" smtClean="0">
                              <a:solidFill>
                                <a:schemeClr val="tx1"/>
                              </a:solidFill>
                              <a:latin typeface="Cambria Math" panose="02040503050406030204" pitchFamily="18" charset="0"/>
                            </a:rPr>
                            <m:t>(</m:t>
                          </m:r>
                          <m:r>
                            <a:rPr lang="es-ES" altLang="zh-CN" sz="4400" b="1" i="0" dirty="0" smtClean="0">
                              <a:solidFill>
                                <a:schemeClr val="tx1"/>
                              </a:solidFill>
                              <a:latin typeface="Cambria Math" panose="02040503050406030204" pitchFamily="18" charset="0"/>
                            </a:rPr>
                            <m:t>𝐏</m:t>
                          </m:r>
                        </m:e>
                        <m:sub>
                          <m:r>
                            <a:rPr lang="es-ES" altLang="zh-CN" sz="4400" b="0" i="1" dirty="0" smtClean="0">
                              <a:solidFill>
                                <a:schemeClr val="tx1"/>
                              </a:solidFill>
                              <a:latin typeface="Cambria Math" panose="02040503050406030204" pitchFamily="18" charset="0"/>
                            </a:rPr>
                            <m:t>0</m:t>
                          </m:r>
                        </m:sub>
                      </m:sSub>
                      <m:r>
                        <a:rPr lang="es-ES" altLang="zh-CN" sz="4400" b="0" i="1" dirty="0" smtClean="0">
                          <a:solidFill>
                            <a:schemeClr val="tx1"/>
                          </a:solidFill>
                          <a:latin typeface="Cambria Math" panose="02040503050406030204" pitchFamily="18" charset="0"/>
                        </a:rPr>
                        <m:t>+</m:t>
                      </m:r>
                      <m:d>
                        <m:dPr>
                          <m:ctrlPr>
                            <a:rPr lang="es-ES" altLang="zh-CN" sz="4400" b="0" i="1" dirty="0" smtClean="0">
                              <a:solidFill>
                                <a:schemeClr val="tx1"/>
                              </a:solidFill>
                              <a:latin typeface="Cambria Math" panose="02040503050406030204" pitchFamily="18" charset="0"/>
                            </a:rPr>
                          </m:ctrlPr>
                        </m:dPr>
                        <m:e>
                          <m:r>
                            <a:rPr lang="es-ES" altLang="zh-CN" sz="4400" b="0" i="1" dirty="0" smtClean="0">
                              <a:solidFill>
                                <a:schemeClr val="tx1"/>
                              </a:solidFill>
                              <a:latin typeface="Cambria Math" panose="02040503050406030204" pitchFamily="18" charset="0"/>
                            </a:rPr>
                            <m:t>2</m:t>
                          </m:r>
                          <m:r>
                            <a:rPr lang="es-ES" altLang="zh-CN" sz="4400" b="0" i="1" dirty="0" smtClean="0">
                              <a:solidFill>
                                <a:schemeClr val="tx1"/>
                              </a:solidFill>
                              <a:latin typeface="Cambria Math" panose="02040503050406030204" pitchFamily="18" charset="0"/>
                            </a:rPr>
                            <m:t>𝑣</m:t>
                          </m:r>
                          <m:r>
                            <a:rPr lang="es-ES" altLang="zh-CN" sz="4400" b="0" i="1" dirty="0" smtClean="0">
                              <a:solidFill>
                                <a:schemeClr val="tx1"/>
                              </a:solidFill>
                              <a:latin typeface="Cambria Math" panose="02040503050406030204" pitchFamily="18" charset="0"/>
                            </a:rPr>
                            <m:t>−1</m:t>
                          </m:r>
                        </m:e>
                      </m:d>
                      <m:sSub>
                        <m:sSubPr>
                          <m:ctrlPr>
                            <a:rPr lang="es-ES" altLang="zh-CN" sz="4400" b="0" i="1" dirty="0" smtClean="0">
                              <a:solidFill>
                                <a:schemeClr val="tx1"/>
                              </a:solidFill>
                              <a:latin typeface="Cambria Math" panose="02040503050406030204" pitchFamily="18" charset="0"/>
                            </a:rPr>
                          </m:ctrlPr>
                        </m:sSubPr>
                        <m:e>
                          <m:r>
                            <a:rPr lang="es-ES" altLang="zh-CN" sz="4400" b="1" i="0" dirty="0" smtClean="0">
                              <a:solidFill>
                                <a:schemeClr val="tx1"/>
                              </a:solidFill>
                              <a:latin typeface="Cambria Math" panose="02040503050406030204" pitchFamily="18" charset="0"/>
                            </a:rPr>
                            <m:t>𝐝</m:t>
                          </m:r>
                        </m:e>
                        <m:sub>
                          <m:r>
                            <a:rPr lang="es-ES" altLang="zh-CN" sz="4400" b="0" i="1" dirty="0" smtClean="0">
                              <a:solidFill>
                                <a:schemeClr val="tx1"/>
                              </a:solidFill>
                              <a:latin typeface="Cambria Math" panose="02040503050406030204" pitchFamily="18" charset="0"/>
                            </a:rPr>
                            <m:t>0</m:t>
                          </m:r>
                        </m:sub>
                      </m:sSub>
                      <m:r>
                        <a:rPr lang="es-ES" altLang="zh-CN" sz="4400" b="0" i="1" dirty="0" smtClean="0">
                          <a:solidFill>
                            <a:schemeClr val="tx1"/>
                          </a:solidFill>
                          <a:latin typeface="Cambria Math" panose="02040503050406030204" pitchFamily="18" charset="0"/>
                        </a:rPr>
                        <m:t>)</m:t>
                      </m:r>
                      <m:r>
                        <a:rPr lang="en-US" altLang="zh-CN" sz="4400" i="1" dirty="0">
                          <a:solidFill>
                            <a:schemeClr val="tx1"/>
                          </a:solidFill>
                          <a:latin typeface="Cambria Math" panose="02040503050406030204" pitchFamily="18" charset="0"/>
                        </a:rPr>
                        <m:t>+</m:t>
                      </m:r>
                    </m:oMath>
                  </m:oMathPara>
                </a14:m>
                <a:endParaRPr lang="en-US" altLang="zh-CN" sz="4400" i="1" dirty="0">
                  <a:solidFill>
                    <a:schemeClr val="tx1"/>
                  </a:solidFill>
                  <a:latin typeface="Cambria Math" panose="02040503050406030204" pitchFamily="18" charset="0"/>
                </a:endParaRPr>
              </a:p>
              <a:p>
                <a:pPr marL="342900" lvl="1" indent="0">
                  <a:lnSpc>
                    <a:spcPct val="150000"/>
                  </a:lnSpc>
                  <a:buClrTx/>
                  <a:buSzPct val="123000"/>
                  <a:buNone/>
                </a:pPr>
                <a14:m>
                  <m:oMathPara xmlns:m="http://schemas.openxmlformats.org/officeDocument/2006/math">
                    <m:oMathParaPr>
                      <m:jc m:val="centerGroup"/>
                    </m:oMathParaPr>
                    <m:oMath xmlns:m="http://schemas.openxmlformats.org/officeDocument/2006/math">
                      <m:r>
                        <a:rPr lang="en-US" altLang="zh-CN" sz="4400" i="1" dirty="0">
                          <a:solidFill>
                            <a:schemeClr val="tx1"/>
                          </a:solidFill>
                          <a:latin typeface="Cambria Math" panose="02040503050406030204" pitchFamily="18" charset="0"/>
                        </a:rPr>
                        <m:t>2</m:t>
                      </m:r>
                      <m:r>
                        <a:rPr lang="en-US" altLang="zh-CN" sz="4400" i="1" dirty="0">
                          <a:solidFill>
                            <a:schemeClr val="tx1"/>
                          </a:solidFill>
                          <a:latin typeface="Cambria Math" panose="02040503050406030204" pitchFamily="18" charset="0"/>
                        </a:rPr>
                        <m:t>𝑢</m:t>
                      </m:r>
                      <m:d>
                        <m:dPr>
                          <m:ctrlPr>
                            <a:rPr lang="en-US" altLang="zh-CN" sz="4400" i="1" dirty="0">
                              <a:solidFill>
                                <a:schemeClr val="tx1"/>
                              </a:solidFill>
                              <a:latin typeface="Cambria Math" panose="02040503050406030204" pitchFamily="18" charset="0"/>
                            </a:rPr>
                          </m:ctrlPr>
                        </m:dPr>
                        <m:e>
                          <m:r>
                            <a:rPr lang="en-US" altLang="zh-CN" sz="4400" i="1" dirty="0">
                              <a:solidFill>
                                <a:schemeClr val="tx1"/>
                              </a:solidFill>
                              <a:latin typeface="Cambria Math" panose="02040503050406030204" pitchFamily="18" charset="0"/>
                            </a:rPr>
                            <m:t>1</m:t>
                          </m:r>
                          <m:r>
                            <a:rPr lang="en-US" altLang="zh-CN" sz="4400" b="0" i="1" dirty="0" smtClean="0">
                              <a:solidFill>
                                <a:schemeClr val="tx1"/>
                              </a:solidFill>
                              <a:latin typeface="Cambria Math" panose="02040503050406030204" pitchFamily="18" charset="0"/>
                            </a:rPr>
                            <m:t>−</m:t>
                          </m:r>
                          <m:r>
                            <a:rPr lang="en-US" altLang="zh-CN" sz="4400" i="1" dirty="0">
                              <a:solidFill>
                                <a:schemeClr val="tx1"/>
                              </a:solidFill>
                              <a:latin typeface="Cambria Math" panose="02040503050406030204" pitchFamily="18" charset="0"/>
                            </a:rPr>
                            <m:t>𝑢</m:t>
                          </m:r>
                        </m:e>
                      </m:d>
                      <m:d>
                        <m:dPr>
                          <m:ctrlPr>
                            <a:rPr lang="en-US" altLang="zh-CN" sz="4400" i="1" dirty="0">
                              <a:solidFill>
                                <a:schemeClr val="tx1"/>
                              </a:solidFill>
                              <a:latin typeface="Cambria Math" panose="02040503050406030204" pitchFamily="18" charset="0"/>
                            </a:rPr>
                          </m:ctrlPr>
                        </m:dPr>
                        <m:e>
                          <m:sSub>
                            <m:sSubPr>
                              <m:ctrlPr>
                                <a:rPr lang="en-US" altLang="zh-CN" sz="4400" i="1" dirty="0">
                                  <a:solidFill>
                                    <a:schemeClr val="tx1"/>
                                  </a:solidFill>
                                  <a:latin typeface="Cambria Math" panose="02040503050406030204" pitchFamily="18" charset="0"/>
                                </a:rPr>
                              </m:ctrlPr>
                            </m:sSubPr>
                            <m:e>
                              <m:r>
                                <a:rPr lang="en-US" altLang="zh-CN" sz="4400" b="1" i="0" dirty="0">
                                  <a:solidFill>
                                    <a:schemeClr val="tx1"/>
                                  </a:solidFill>
                                  <a:latin typeface="Cambria Math" panose="02040503050406030204" pitchFamily="18" charset="0"/>
                                </a:rPr>
                                <m:t>𝐏</m:t>
                              </m:r>
                            </m:e>
                            <m:sub>
                              <m:r>
                                <a:rPr lang="en-US" altLang="zh-CN" sz="4400" i="1" dirty="0">
                                  <a:solidFill>
                                    <a:schemeClr val="tx1"/>
                                  </a:solidFill>
                                  <a:latin typeface="Cambria Math" panose="02040503050406030204" pitchFamily="18" charset="0"/>
                                </a:rPr>
                                <m:t>1</m:t>
                              </m:r>
                            </m:sub>
                          </m:sSub>
                          <m:r>
                            <a:rPr lang="en-US" altLang="zh-CN" sz="4400" i="1" dirty="0">
                              <a:solidFill>
                                <a:schemeClr val="tx1"/>
                              </a:solidFill>
                              <a:latin typeface="Cambria Math" panose="02040503050406030204" pitchFamily="18" charset="0"/>
                            </a:rPr>
                            <m:t>+</m:t>
                          </m:r>
                          <m:d>
                            <m:dPr>
                              <m:ctrlPr>
                                <a:rPr lang="en-US" altLang="zh-CN" sz="4400" i="1" dirty="0">
                                  <a:solidFill>
                                    <a:schemeClr val="tx1"/>
                                  </a:solidFill>
                                  <a:latin typeface="Cambria Math" panose="02040503050406030204" pitchFamily="18" charset="0"/>
                                </a:rPr>
                              </m:ctrlPr>
                            </m:dPr>
                            <m:e>
                              <m:r>
                                <a:rPr lang="en-US" altLang="zh-CN" sz="4400" i="1" dirty="0">
                                  <a:solidFill>
                                    <a:schemeClr val="tx1"/>
                                  </a:solidFill>
                                  <a:latin typeface="Cambria Math" panose="02040503050406030204" pitchFamily="18" charset="0"/>
                                </a:rPr>
                                <m:t>2</m:t>
                              </m:r>
                              <m:r>
                                <a:rPr lang="en-US" altLang="zh-CN" sz="4400" i="1" dirty="0">
                                  <a:solidFill>
                                    <a:schemeClr val="tx1"/>
                                  </a:solidFill>
                                  <a:latin typeface="Cambria Math" panose="02040503050406030204" pitchFamily="18" charset="0"/>
                                </a:rPr>
                                <m:t>𝑣</m:t>
                              </m:r>
                              <m:r>
                                <a:rPr lang="en-US" altLang="zh-CN" sz="4400" b="0" i="1" dirty="0" smtClean="0">
                                  <a:solidFill>
                                    <a:schemeClr val="tx1"/>
                                  </a:solidFill>
                                  <a:latin typeface="Cambria Math" panose="02040503050406030204" pitchFamily="18" charset="0"/>
                                </a:rPr>
                                <m:t>−</m:t>
                              </m:r>
                              <m:r>
                                <a:rPr lang="en-US" altLang="zh-CN" sz="4400" i="1" dirty="0">
                                  <a:solidFill>
                                    <a:schemeClr val="tx1"/>
                                  </a:solidFill>
                                  <a:latin typeface="Cambria Math" panose="02040503050406030204" pitchFamily="18" charset="0"/>
                                </a:rPr>
                                <m:t>1</m:t>
                              </m:r>
                            </m:e>
                          </m:d>
                          <m:sSub>
                            <m:sSubPr>
                              <m:ctrlPr>
                                <a:rPr lang="en-US" altLang="zh-CN" sz="4400" i="1" dirty="0">
                                  <a:solidFill>
                                    <a:schemeClr val="tx1"/>
                                  </a:solidFill>
                                  <a:latin typeface="Cambria Math" panose="02040503050406030204" pitchFamily="18" charset="0"/>
                                </a:rPr>
                              </m:ctrlPr>
                            </m:sSubPr>
                            <m:e>
                              <m:r>
                                <a:rPr lang="en-US" altLang="zh-CN" sz="4400" b="1" i="0" dirty="0">
                                  <a:solidFill>
                                    <a:schemeClr val="tx1"/>
                                  </a:solidFill>
                                  <a:latin typeface="Cambria Math" panose="02040503050406030204" pitchFamily="18" charset="0"/>
                                </a:rPr>
                                <m:t>𝐝</m:t>
                              </m:r>
                            </m:e>
                            <m:sub>
                              <m:r>
                                <a:rPr lang="en-US" altLang="zh-CN" sz="4400" i="1" dirty="0">
                                  <a:solidFill>
                                    <a:schemeClr val="tx1"/>
                                  </a:solidFill>
                                  <a:latin typeface="Cambria Math" panose="02040503050406030204" pitchFamily="18" charset="0"/>
                                </a:rPr>
                                <m:t>1</m:t>
                              </m:r>
                            </m:sub>
                          </m:sSub>
                        </m:e>
                      </m:d>
                      <m:r>
                        <a:rPr lang="en-US" altLang="zh-CN" sz="4400" b="0" i="1" dirty="0" smtClean="0">
                          <a:solidFill>
                            <a:schemeClr val="tx1"/>
                          </a:solidFill>
                          <a:latin typeface="Cambria Math" panose="02040503050406030204" pitchFamily="18" charset="0"/>
                        </a:rPr>
                        <m:t>+</m:t>
                      </m:r>
                    </m:oMath>
                  </m:oMathPara>
                </a14:m>
                <a:endParaRPr lang="en-US" altLang="zh-CN" sz="4400" b="0" dirty="0">
                  <a:solidFill>
                    <a:schemeClr val="tx1"/>
                  </a:solidFill>
                </a:endParaRPr>
              </a:p>
              <a:p>
                <a:pPr marL="342900" lvl="1" indent="0">
                  <a:lnSpc>
                    <a:spcPct val="150000"/>
                  </a:lnSpc>
                  <a:buClrTx/>
                  <a:buSzPct val="123000"/>
                  <a:buNone/>
                </a:pPr>
                <a14:m>
                  <m:oMathPara xmlns:m="http://schemas.openxmlformats.org/officeDocument/2006/math">
                    <m:oMathParaPr>
                      <m:jc m:val="centerGroup"/>
                    </m:oMathParaPr>
                    <m:oMath xmlns:m="http://schemas.openxmlformats.org/officeDocument/2006/math">
                      <m:sSup>
                        <m:sSupPr>
                          <m:ctrlPr>
                            <a:rPr lang="es-ES" altLang="zh-CN" sz="4400" i="1" dirty="0">
                              <a:solidFill>
                                <a:schemeClr val="tx1"/>
                              </a:solidFill>
                              <a:latin typeface="Cambria Math" panose="02040503050406030204" pitchFamily="18" charset="0"/>
                            </a:rPr>
                          </m:ctrlPr>
                        </m:sSupPr>
                        <m:e>
                          <m:r>
                            <a:rPr lang="es-ES" altLang="zh-CN" sz="4400" i="1" dirty="0">
                              <a:solidFill>
                                <a:schemeClr val="tx1"/>
                              </a:solidFill>
                              <a:latin typeface="Cambria Math" panose="02040503050406030204" pitchFamily="18" charset="0"/>
                            </a:rPr>
                            <m:t>𝑢</m:t>
                          </m:r>
                        </m:e>
                        <m:sup>
                          <m:r>
                            <a:rPr lang="es-ES" altLang="zh-CN" sz="4400" i="1" dirty="0">
                              <a:solidFill>
                                <a:schemeClr val="tx1"/>
                              </a:solidFill>
                              <a:latin typeface="Cambria Math" panose="02040503050406030204" pitchFamily="18" charset="0"/>
                            </a:rPr>
                            <m:t>2</m:t>
                          </m:r>
                        </m:sup>
                      </m:sSup>
                      <m:r>
                        <a:rPr lang="es-ES" altLang="zh-CN" sz="4400" i="1" dirty="0">
                          <a:solidFill>
                            <a:schemeClr val="tx1"/>
                          </a:solidFill>
                          <a:latin typeface="Cambria Math" panose="02040503050406030204" pitchFamily="18" charset="0"/>
                        </a:rPr>
                        <m:t>(</m:t>
                      </m:r>
                      <m:sSub>
                        <m:sSubPr>
                          <m:ctrlPr>
                            <a:rPr lang="es-ES" altLang="zh-CN" sz="4400" i="1" dirty="0">
                              <a:solidFill>
                                <a:schemeClr val="tx1"/>
                              </a:solidFill>
                              <a:latin typeface="Cambria Math" panose="02040503050406030204" pitchFamily="18" charset="0"/>
                            </a:rPr>
                          </m:ctrlPr>
                        </m:sSubPr>
                        <m:e>
                          <m:r>
                            <a:rPr lang="es-ES" altLang="zh-CN" sz="4400" b="1" i="0" dirty="0">
                              <a:solidFill>
                                <a:schemeClr val="tx1"/>
                              </a:solidFill>
                              <a:latin typeface="Cambria Math" panose="02040503050406030204" pitchFamily="18" charset="0"/>
                            </a:rPr>
                            <m:t>𝐏</m:t>
                          </m:r>
                        </m:e>
                        <m:sub>
                          <m:r>
                            <a:rPr lang="es-ES" altLang="zh-CN" sz="4400" i="1" dirty="0">
                              <a:solidFill>
                                <a:schemeClr val="tx1"/>
                              </a:solidFill>
                              <a:latin typeface="Cambria Math" panose="02040503050406030204" pitchFamily="18" charset="0"/>
                            </a:rPr>
                            <m:t>2</m:t>
                          </m:r>
                        </m:sub>
                      </m:sSub>
                      <m:r>
                        <a:rPr lang="es-ES" altLang="zh-CN" sz="4400" i="1" dirty="0">
                          <a:solidFill>
                            <a:schemeClr val="tx1"/>
                          </a:solidFill>
                          <a:latin typeface="Cambria Math" panose="02040503050406030204" pitchFamily="18" charset="0"/>
                        </a:rPr>
                        <m:t>+</m:t>
                      </m:r>
                      <m:d>
                        <m:dPr>
                          <m:ctrlPr>
                            <a:rPr lang="es-ES" altLang="zh-CN" sz="4400" i="1" dirty="0">
                              <a:solidFill>
                                <a:schemeClr val="tx1"/>
                              </a:solidFill>
                              <a:latin typeface="Cambria Math" panose="02040503050406030204" pitchFamily="18" charset="0"/>
                            </a:rPr>
                          </m:ctrlPr>
                        </m:dPr>
                        <m:e>
                          <m:r>
                            <a:rPr lang="es-ES" altLang="zh-CN" sz="4400" i="1" dirty="0">
                              <a:solidFill>
                                <a:schemeClr val="tx1"/>
                              </a:solidFill>
                              <a:latin typeface="Cambria Math" panose="02040503050406030204" pitchFamily="18" charset="0"/>
                            </a:rPr>
                            <m:t>2</m:t>
                          </m:r>
                          <m:r>
                            <a:rPr lang="es-ES" altLang="zh-CN" sz="4400" i="1" dirty="0">
                              <a:solidFill>
                                <a:schemeClr val="tx1"/>
                              </a:solidFill>
                              <a:latin typeface="Cambria Math" panose="02040503050406030204" pitchFamily="18" charset="0"/>
                            </a:rPr>
                            <m:t>𝑣</m:t>
                          </m:r>
                          <m:r>
                            <a:rPr lang="en-US" altLang="zh-CN" sz="4400" b="0" i="1" dirty="0" smtClean="0">
                              <a:solidFill>
                                <a:schemeClr val="tx1"/>
                              </a:solidFill>
                              <a:latin typeface="Cambria Math" panose="02040503050406030204" pitchFamily="18" charset="0"/>
                            </a:rPr>
                            <m:t>−</m:t>
                          </m:r>
                          <m:r>
                            <a:rPr lang="es-ES" altLang="zh-CN" sz="4400" i="1" dirty="0">
                              <a:solidFill>
                                <a:schemeClr val="tx1"/>
                              </a:solidFill>
                              <a:latin typeface="Cambria Math" panose="02040503050406030204" pitchFamily="18" charset="0"/>
                            </a:rPr>
                            <m:t>1</m:t>
                          </m:r>
                        </m:e>
                      </m:d>
                      <m:sSub>
                        <m:sSubPr>
                          <m:ctrlPr>
                            <a:rPr lang="es-ES" altLang="zh-CN" sz="4400" i="1" dirty="0">
                              <a:solidFill>
                                <a:schemeClr val="tx1"/>
                              </a:solidFill>
                              <a:latin typeface="Cambria Math" panose="02040503050406030204" pitchFamily="18" charset="0"/>
                            </a:rPr>
                          </m:ctrlPr>
                        </m:sSubPr>
                        <m:e>
                          <m:r>
                            <a:rPr lang="es-ES" altLang="zh-CN" sz="4400" b="1" i="0" dirty="0">
                              <a:solidFill>
                                <a:schemeClr val="tx1"/>
                              </a:solidFill>
                              <a:latin typeface="Cambria Math" panose="02040503050406030204" pitchFamily="18" charset="0"/>
                            </a:rPr>
                            <m:t>𝐝</m:t>
                          </m:r>
                        </m:e>
                        <m:sub>
                          <m:r>
                            <a:rPr lang="es-ES" altLang="zh-CN" sz="4400" i="1" dirty="0">
                              <a:solidFill>
                                <a:schemeClr val="tx1"/>
                              </a:solidFill>
                              <a:latin typeface="Cambria Math" panose="02040503050406030204" pitchFamily="18" charset="0"/>
                            </a:rPr>
                            <m:t>2</m:t>
                          </m:r>
                        </m:sub>
                      </m:sSub>
                      <m:r>
                        <a:rPr lang="es-ES" altLang="zh-CN" sz="4400" i="1" dirty="0">
                          <a:solidFill>
                            <a:schemeClr val="tx1"/>
                          </a:solidFill>
                          <a:latin typeface="Cambria Math" panose="02040503050406030204" pitchFamily="18" charset="0"/>
                        </a:rPr>
                        <m:t>)</m:t>
                      </m:r>
                    </m:oMath>
                  </m:oMathPara>
                </a14:m>
                <a:endParaRPr lang="en-US" altLang="zh-CN" sz="4400" b="0" dirty="0">
                  <a:solidFill>
                    <a:schemeClr val="tx1"/>
                  </a:solidFill>
                </a:endParaRPr>
              </a:p>
              <a:p>
                <a:pPr marL="342900" lvl="1" indent="0">
                  <a:lnSpc>
                    <a:spcPct val="150000"/>
                  </a:lnSpc>
                  <a:buClrTx/>
                  <a:buSzPct val="123000"/>
                  <a:buNone/>
                </a:pPr>
                <a:r>
                  <a:rPr lang="en-US" altLang="zh-CN" sz="4400" b="0" dirty="0"/>
                  <a:t>	</a:t>
                </a:r>
              </a:p>
              <a:p>
                <a:pPr marL="952500" lvl="1" indent="-609600">
                  <a:lnSpc>
                    <a:spcPct val="150000"/>
                  </a:lnSpc>
                  <a:buClrTx/>
                  <a:buSzPct val="123000"/>
                </a:pPr>
                <a:endParaRPr lang="zh-CN" altLang="en-US" sz="4400" dirty="0"/>
              </a:p>
              <a:p>
                <a:pPr marL="952500" lvl="1" indent="-609600">
                  <a:lnSpc>
                    <a:spcPct val="150000"/>
                  </a:lnSpc>
                  <a:buClrTx/>
                  <a:buSzPct val="123000"/>
                </a:pPr>
                <a:endParaRPr lang="en-US" altLang="zh-CN" sz="4400" dirty="0">
                  <a:solidFill>
                    <a:srgbClr val="000000"/>
                  </a:solidFill>
                </a:endParaRPr>
              </a:p>
            </p:txBody>
          </p:sp>
        </mc:Choice>
        <mc:Fallback xmlns="">
          <p:sp>
            <p:nvSpPr>
              <p:cNvPr id="7" name="내용 개체 틀 2">
                <a:extLst>
                  <a:ext uri="{FF2B5EF4-FFF2-40B4-BE49-F238E27FC236}">
                    <a16:creationId xmlns:a16="http://schemas.microsoft.com/office/drawing/2014/main" id="{9E9D202E-A526-BEEB-3CDC-1AFC35C22EF9}"/>
                  </a:ext>
                </a:extLst>
              </p:cNvPr>
              <p:cNvSpPr txBox="1">
                <a:spLocks noRot="1" noChangeAspect="1" noMove="1" noResize="1" noEditPoints="1" noAdjustHandles="1" noChangeArrowheads="1" noChangeShapeType="1" noTextEdit="1"/>
              </p:cNvSpPr>
              <p:nvPr/>
            </p:nvSpPr>
            <p:spPr>
              <a:xfrm>
                <a:off x="1623117" y="2237954"/>
                <a:ext cx="21137766" cy="9694524"/>
              </a:xfrm>
              <a:prstGeom prst="rect">
                <a:avLst/>
              </a:prstGeom>
              <a:blipFill>
                <a:blip r:embed="rId5"/>
                <a:stretch>
                  <a:fillRect l="-1557" t="-189"/>
                </a:stretch>
              </a:blipFill>
            </p:spPr>
            <p:txBody>
              <a:bodyPr/>
              <a:lstStyle/>
              <a:p>
                <a:r>
                  <a:rPr lang="zh-CN" altLang="en-US">
                    <a:noFill/>
                  </a:rPr>
                  <a:t> </a:t>
                </a:r>
              </a:p>
            </p:txBody>
          </p:sp>
        </mc:Fallback>
      </mc:AlternateContent>
      <p:sp>
        <p:nvSpPr>
          <p:cNvPr id="10" name="箭头: 右 9">
            <a:extLst>
              <a:ext uri="{FF2B5EF4-FFF2-40B4-BE49-F238E27FC236}">
                <a16:creationId xmlns:a16="http://schemas.microsoft.com/office/drawing/2014/main" id="{D985B65C-DF5B-8811-6116-AD356356A642}"/>
              </a:ext>
            </a:extLst>
          </p:cNvPr>
          <p:cNvSpPr/>
          <p:nvPr/>
        </p:nvSpPr>
        <p:spPr>
          <a:xfrm>
            <a:off x="9335050" y="7495242"/>
            <a:ext cx="2862470" cy="1133061"/>
          </a:xfrm>
          <a:prstGeom prst="rightArrow">
            <a:avLst/>
          </a:prstGeom>
          <a:solidFill>
            <a:srgbClr val="00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F7CEEDC8-FEF6-AD40-532C-293E13C0F415}"/>
                  </a:ext>
                </a:extLst>
              </p:cNvPr>
              <p:cNvSpPr txBox="1"/>
              <p:nvPr/>
            </p:nvSpPr>
            <p:spPr>
              <a:xfrm>
                <a:off x="1400537" y="10534661"/>
                <a:ext cx="7934513"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Unit square in </a:t>
                </a:r>
                <a14:m>
                  <m:oMath xmlns:m="http://schemas.openxmlformats.org/officeDocument/2006/math">
                    <m:r>
                      <a:rPr lang="en-US" altLang="zh-CN" sz="2800" i="1" dirty="0" smtClean="0">
                        <a:solidFill>
                          <a:schemeClr val="tx1"/>
                        </a:solidFill>
                        <a:latin typeface="Cambria Math" panose="02040503050406030204" pitchFamily="18" charset="0"/>
                      </a:rPr>
                      <m:t>𝑢</m:t>
                    </m:r>
                    <m:r>
                      <a:rPr lang="en-US" altLang="zh-CN" sz="2800" b="0" i="1" dirty="0" smtClean="0">
                        <a:solidFill>
                          <a:schemeClr val="tx1"/>
                        </a:solidFill>
                        <a:latin typeface="Cambria Math" panose="02040503050406030204" pitchFamily="18" charset="0"/>
                      </a:rPr>
                      <m:t>𝑣</m:t>
                    </m:r>
                  </m:oMath>
                </a14:m>
                <a:r>
                  <a:rPr lang="zh-CN" altLang="en-US" sz="2800" dirty="0">
                    <a:solidFill>
                      <a:schemeClr val="tx1"/>
                    </a:solidFill>
                    <a:latin typeface="Arial" panose="020B0604020202020204" pitchFamily="34" charset="0"/>
                    <a:cs typeface="Arial" panose="020B0604020202020204" pitchFamily="34" charset="0"/>
                  </a:rPr>
                  <a:t> </a:t>
                </a:r>
                <a:r>
                  <a:rPr lang="en-US" altLang="zh-CN" sz="2800" dirty="0">
                    <a:solidFill>
                      <a:schemeClr val="tx1"/>
                    </a:solidFill>
                    <a:latin typeface="Arial" panose="020B0604020202020204" pitchFamily="34" charset="0"/>
                    <a:cs typeface="Arial" panose="020B0604020202020204" pitchFamily="34" charset="0"/>
                  </a:rPr>
                  <a:t>texture space</a:t>
                </a:r>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11" name="文本框 10">
                <a:extLst>
                  <a:ext uri="{FF2B5EF4-FFF2-40B4-BE49-F238E27FC236}">
                    <a16:creationId xmlns:a16="http://schemas.microsoft.com/office/drawing/2014/main" id="{F7CEEDC8-FEF6-AD40-532C-293E13C0F415}"/>
                  </a:ext>
                </a:extLst>
              </p:cNvPr>
              <p:cNvSpPr txBox="1">
                <a:spLocks noRot="1" noChangeAspect="1" noMove="1" noResize="1" noEditPoints="1" noAdjustHandles="1" noChangeArrowheads="1" noChangeShapeType="1" noTextEdit="1"/>
              </p:cNvSpPr>
              <p:nvPr/>
            </p:nvSpPr>
            <p:spPr>
              <a:xfrm>
                <a:off x="1400537" y="10534661"/>
                <a:ext cx="7934513" cy="480131"/>
              </a:xfrm>
              <a:prstGeom prst="rect">
                <a:avLst/>
              </a:prstGeom>
              <a:blipFill>
                <a:blip r:embed="rId6"/>
                <a:stretch>
                  <a:fillRect t="-21519" b="-34177"/>
                </a:stretch>
              </a:blipFill>
            </p:spPr>
            <p:txBody>
              <a:bodyPr/>
              <a:lstStyle/>
              <a:p>
                <a:r>
                  <a:rPr lang="zh-CN" altLang="en-US">
                    <a:noFill/>
                  </a:rPr>
                  <a:t> </a:t>
                </a:r>
              </a:p>
            </p:txBody>
          </p:sp>
        </mc:Fallback>
      </mc:AlternateContent>
      <p:sp>
        <p:nvSpPr>
          <p:cNvPr id="12" name="文本框 11">
            <a:extLst>
              <a:ext uri="{FF2B5EF4-FFF2-40B4-BE49-F238E27FC236}">
                <a16:creationId xmlns:a16="http://schemas.microsoft.com/office/drawing/2014/main" id="{92A1B3E3-3D8F-68FE-A1A9-34484570B832}"/>
              </a:ext>
            </a:extLst>
          </p:cNvPr>
          <p:cNvSpPr txBox="1"/>
          <p:nvPr/>
        </p:nvSpPr>
        <p:spPr>
          <a:xfrm>
            <a:off x="14219874" y="10534661"/>
            <a:ext cx="7934513"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Stroke region</a:t>
            </a:r>
            <a:endParaRPr lang="zh-CN" altLang="en-US" sz="2800" dirty="0">
              <a:solidFill>
                <a:schemeClr val="tx1"/>
              </a:solidFill>
              <a:latin typeface="Arial" panose="020B0604020202020204" pitchFamily="34" charset="0"/>
              <a:cs typeface="Arial" panose="020B0604020202020204" pitchFamily="34" charset="0"/>
            </a:endParaRPr>
          </a:p>
        </p:txBody>
      </p:sp>
      <p:grpSp>
        <p:nvGrpSpPr>
          <p:cNvPr id="2" name="组合 1">
            <a:extLst>
              <a:ext uri="{FF2B5EF4-FFF2-40B4-BE49-F238E27FC236}">
                <a16:creationId xmlns:a16="http://schemas.microsoft.com/office/drawing/2014/main" id="{DC583101-446E-2E2A-AA7F-ACD64374B3DE}"/>
              </a:ext>
            </a:extLst>
          </p:cNvPr>
          <p:cNvGrpSpPr/>
          <p:nvPr/>
        </p:nvGrpSpPr>
        <p:grpSpPr>
          <a:xfrm>
            <a:off x="14019892" y="4465361"/>
            <a:ext cx="7718697" cy="6037212"/>
            <a:chOff x="6468249" y="2353474"/>
            <a:chExt cx="3437057" cy="2688309"/>
          </a:xfrm>
        </p:grpSpPr>
        <p:sp>
          <p:nvSpPr>
            <p:cNvPr id="6" name="任意多边形: 形状 5">
              <a:extLst>
                <a:ext uri="{FF2B5EF4-FFF2-40B4-BE49-F238E27FC236}">
                  <a16:creationId xmlns:a16="http://schemas.microsoft.com/office/drawing/2014/main" id="{053687FF-0EC5-899D-F4D7-1D568D69CB8E}"/>
                </a:ext>
              </a:extLst>
            </p:cNvPr>
            <p:cNvSpPr/>
            <p:nvPr/>
          </p:nvSpPr>
          <p:spPr>
            <a:xfrm rot="990245">
              <a:off x="7503380" y="4279710"/>
              <a:ext cx="1273042" cy="721003"/>
            </a:xfrm>
            <a:custGeom>
              <a:avLst/>
              <a:gdLst>
                <a:gd name="connsiteX0" fmla="*/ 0 w 2114550"/>
                <a:gd name="connsiteY0" fmla="*/ 726823 h 726823"/>
                <a:gd name="connsiteX1" fmla="*/ 1035050 w 2114550"/>
                <a:gd name="connsiteY1" fmla="*/ 9273 h 726823"/>
                <a:gd name="connsiteX2" fmla="*/ 2114550 w 2114550"/>
                <a:gd name="connsiteY2" fmla="*/ 339473 h 726823"/>
              </a:gdLst>
              <a:ahLst/>
              <a:cxnLst>
                <a:cxn ang="0">
                  <a:pos x="connsiteX0" y="connsiteY0"/>
                </a:cxn>
                <a:cxn ang="0">
                  <a:pos x="connsiteX1" y="connsiteY1"/>
                </a:cxn>
                <a:cxn ang="0">
                  <a:pos x="connsiteX2" y="connsiteY2"/>
                </a:cxn>
              </a:cxnLst>
              <a:rect l="l" t="t" r="r" b="b"/>
              <a:pathLst>
                <a:path w="2114550" h="726823">
                  <a:moveTo>
                    <a:pt x="0" y="726823"/>
                  </a:moveTo>
                  <a:cubicBezTo>
                    <a:pt x="341312" y="400327"/>
                    <a:pt x="682625" y="73831"/>
                    <a:pt x="1035050" y="9273"/>
                  </a:cubicBezTo>
                  <a:cubicBezTo>
                    <a:pt x="1387475" y="-55285"/>
                    <a:pt x="1857375" y="234698"/>
                    <a:pt x="2114550" y="339473"/>
                  </a:cubicBezTo>
                </a:path>
              </a:pathLst>
            </a:custGeom>
            <a:noFill/>
            <a:ln w="2540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cxnSp>
          <p:nvCxnSpPr>
            <p:cNvPr id="8" name="直接连接符 7">
              <a:extLst>
                <a:ext uri="{FF2B5EF4-FFF2-40B4-BE49-F238E27FC236}">
                  <a16:creationId xmlns:a16="http://schemas.microsoft.com/office/drawing/2014/main" id="{3FC20B43-5D1E-C60B-25FA-0B418B6DA14F}"/>
                </a:ext>
              </a:extLst>
            </p:cNvPr>
            <p:cNvCxnSpPr>
              <a:cxnSpLocks/>
            </p:cNvCxnSpPr>
            <p:nvPr/>
          </p:nvCxnSpPr>
          <p:spPr>
            <a:xfrm flipV="1">
              <a:off x="7094098" y="3390528"/>
              <a:ext cx="1336029" cy="10856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E893B77A-5E20-DDE8-EA96-D546A55A7E25}"/>
                </a:ext>
              </a:extLst>
            </p:cNvPr>
            <p:cNvCxnSpPr>
              <a:cxnSpLocks/>
              <a:stCxn id="13" idx="2"/>
            </p:cNvCxnSpPr>
            <p:nvPr/>
          </p:nvCxnSpPr>
          <p:spPr>
            <a:xfrm flipH="1" flipV="1">
              <a:off x="8430127" y="3390528"/>
              <a:ext cx="755942" cy="1120631"/>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任意多边形: 形状 12">
              <a:extLst>
                <a:ext uri="{FF2B5EF4-FFF2-40B4-BE49-F238E27FC236}">
                  <a16:creationId xmlns:a16="http://schemas.microsoft.com/office/drawing/2014/main" id="{060AE065-1D29-0346-62F6-BEAD6072D174}"/>
                </a:ext>
              </a:extLst>
            </p:cNvPr>
            <p:cNvSpPr/>
            <p:nvPr/>
          </p:nvSpPr>
          <p:spPr>
            <a:xfrm rot="990245">
              <a:off x="7204577" y="3724155"/>
              <a:ext cx="2012950" cy="1069723"/>
            </a:xfrm>
            <a:custGeom>
              <a:avLst/>
              <a:gdLst>
                <a:gd name="connsiteX0" fmla="*/ 0 w 2114550"/>
                <a:gd name="connsiteY0" fmla="*/ 726823 h 726823"/>
                <a:gd name="connsiteX1" fmla="*/ 1035050 w 2114550"/>
                <a:gd name="connsiteY1" fmla="*/ 9273 h 726823"/>
                <a:gd name="connsiteX2" fmla="*/ 2114550 w 2114550"/>
                <a:gd name="connsiteY2" fmla="*/ 339473 h 726823"/>
              </a:gdLst>
              <a:ahLst/>
              <a:cxnLst>
                <a:cxn ang="0">
                  <a:pos x="connsiteX0" y="connsiteY0"/>
                </a:cxn>
                <a:cxn ang="0">
                  <a:pos x="connsiteX1" y="connsiteY1"/>
                </a:cxn>
                <a:cxn ang="0">
                  <a:pos x="connsiteX2" y="connsiteY2"/>
                </a:cxn>
              </a:cxnLst>
              <a:rect l="l" t="t" r="r" b="b"/>
              <a:pathLst>
                <a:path w="2114550" h="726823">
                  <a:moveTo>
                    <a:pt x="0" y="726823"/>
                  </a:moveTo>
                  <a:cubicBezTo>
                    <a:pt x="341312" y="400327"/>
                    <a:pt x="682625" y="73831"/>
                    <a:pt x="1035050" y="9273"/>
                  </a:cubicBezTo>
                  <a:cubicBezTo>
                    <a:pt x="1387475" y="-55285"/>
                    <a:pt x="1857375" y="234698"/>
                    <a:pt x="2114550" y="339473"/>
                  </a:cubicBezTo>
                </a:path>
              </a:pathLst>
            </a:custGeom>
            <a:noFill/>
            <a:ln w="254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BD094DB1-8338-9834-43C1-D471D10CE1E7}"/>
                    </a:ext>
                  </a:extLst>
                </p:cNvPr>
                <p:cNvSpPr txBox="1"/>
                <p:nvPr/>
              </p:nvSpPr>
              <p:spPr>
                <a:xfrm>
                  <a:off x="6725787" y="4326493"/>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solidFill>
                                  <a:srgbClr val="FF0000"/>
                                </a:solidFill>
                                <a:latin typeface="Cambria Math" panose="02040503050406030204" pitchFamily="18" charset="0"/>
                              </a:rPr>
                            </m:ctrlPr>
                          </m:sSubPr>
                          <m:e>
                            <m:r>
                              <a:rPr lang="en-US" altLang="zh-CN" b="1" i="0" smtClean="0">
                                <a:solidFill>
                                  <a:srgbClr val="FF0000"/>
                                </a:solidFill>
                                <a:latin typeface="Cambria Math" panose="02040503050406030204" pitchFamily="18" charset="0"/>
                              </a:rPr>
                              <m:t>𝐏</m:t>
                            </m:r>
                          </m:e>
                          <m:sub>
                            <m:r>
                              <a:rPr lang="en-US" altLang="zh-CN" b="0" i="1" smtClean="0">
                                <a:solidFill>
                                  <a:srgbClr val="FF0000"/>
                                </a:solidFill>
                                <a:latin typeface="Cambria Math" panose="02040503050406030204" pitchFamily="18" charset="0"/>
                              </a:rPr>
                              <m:t>0</m:t>
                            </m:r>
                          </m:sub>
                        </m:sSub>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14" name="文本框 13">
                  <a:extLst>
                    <a:ext uri="{FF2B5EF4-FFF2-40B4-BE49-F238E27FC236}">
                      <a16:creationId xmlns:a16="http://schemas.microsoft.com/office/drawing/2014/main" id="{BD094DB1-8338-9834-43C1-D471D10CE1E7}"/>
                    </a:ext>
                  </a:extLst>
                </p:cNvPr>
                <p:cNvSpPr txBox="1">
                  <a:spLocks noRot="1" noChangeAspect="1" noMove="1" noResize="1" noEditPoints="1" noAdjustHandles="1" noChangeArrowheads="1" noChangeShapeType="1" noTextEdit="1"/>
                </p:cNvSpPr>
                <p:nvPr/>
              </p:nvSpPr>
              <p:spPr>
                <a:xfrm>
                  <a:off x="6725787" y="4326493"/>
                  <a:ext cx="297180" cy="337142"/>
                </a:xfrm>
                <a:prstGeom prst="rect">
                  <a:avLst/>
                </a:prstGeom>
                <a:blipFill>
                  <a:blip r:embed="rId7"/>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6482E747-8D55-F4C1-FB0D-4AF4BAD26060}"/>
                    </a:ext>
                  </a:extLst>
                </p:cNvPr>
                <p:cNvSpPr txBox="1"/>
                <p:nvPr/>
              </p:nvSpPr>
              <p:spPr>
                <a:xfrm>
                  <a:off x="9245316" y="4326493"/>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solidFill>
                                  <a:srgbClr val="FF0000"/>
                                </a:solidFill>
                                <a:latin typeface="Cambria Math" panose="02040503050406030204" pitchFamily="18" charset="0"/>
                              </a:rPr>
                            </m:ctrlPr>
                          </m:sSubPr>
                          <m:e>
                            <m:r>
                              <a:rPr lang="en-US" altLang="zh-CN" b="1" i="0" smtClean="0">
                                <a:solidFill>
                                  <a:srgbClr val="FF0000"/>
                                </a:solidFill>
                                <a:latin typeface="Cambria Math" panose="02040503050406030204" pitchFamily="18" charset="0"/>
                              </a:rPr>
                              <m:t>𝐏</m:t>
                            </m:r>
                          </m:e>
                          <m:sub>
                            <m:r>
                              <a:rPr lang="en-US" altLang="zh-CN" b="0" i="1" smtClean="0">
                                <a:solidFill>
                                  <a:srgbClr val="FF0000"/>
                                </a:solidFill>
                                <a:latin typeface="Cambria Math" panose="02040503050406030204" pitchFamily="18" charset="0"/>
                              </a:rPr>
                              <m:t>2</m:t>
                            </m:r>
                          </m:sub>
                        </m:sSub>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15" name="文本框 14">
                  <a:extLst>
                    <a:ext uri="{FF2B5EF4-FFF2-40B4-BE49-F238E27FC236}">
                      <a16:creationId xmlns:a16="http://schemas.microsoft.com/office/drawing/2014/main" id="{6482E747-8D55-F4C1-FB0D-4AF4BAD26060}"/>
                    </a:ext>
                  </a:extLst>
                </p:cNvPr>
                <p:cNvSpPr txBox="1">
                  <a:spLocks noRot="1" noChangeAspect="1" noMove="1" noResize="1" noEditPoints="1" noAdjustHandles="1" noChangeArrowheads="1" noChangeShapeType="1" noTextEdit="1"/>
                </p:cNvSpPr>
                <p:nvPr/>
              </p:nvSpPr>
              <p:spPr>
                <a:xfrm>
                  <a:off x="9245316" y="4326493"/>
                  <a:ext cx="297180" cy="337142"/>
                </a:xfrm>
                <a:prstGeom prst="rect">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B48BDF03-F386-8CEB-8E04-9D0C940F67A9}"/>
                    </a:ext>
                  </a:extLst>
                </p:cNvPr>
                <p:cNvSpPr txBox="1"/>
                <p:nvPr/>
              </p:nvSpPr>
              <p:spPr>
                <a:xfrm>
                  <a:off x="8241539" y="3380316"/>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solidFill>
                                  <a:srgbClr val="FF0000"/>
                                </a:solidFill>
                                <a:latin typeface="Cambria Math" panose="02040503050406030204" pitchFamily="18" charset="0"/>
                              </a:rPr>
                            </m:ctrlPr>
                          </m:sSubPr>
                          <m:e>
                            <m:r>
                              <a:rPr lang="en-US" altLang="zh-CN" b="1" i="0" smtClean="0">
                                <a:solidFill>
                                  <a:srgbClr val="FF0000"/>
                                </a:solidFill>
                                <a:latin typeface="Cambria Math" panose="02040503050406030204" pitchFamily="18" charset="0"/>
                              </a:rPr>
                              <m:t>𝐏</m:t>
                            </m:r>
                          </m:e>
                          <m:sub>
                            <m:r>
                              <a:rPr lang="en-US" altLang="zh-CN" b="0" i="1" smtClean="0">
                                <a:solidFill>
                                  <a:srgbClr val="FF0000"/>
                                </a:solidFill>
                                <a:latin typeface="Cambria Math" panose="02040503050406030204" pitchFamily="18" charset="0"/>
                              </a:rPr>
                              <m:t>1</m:t>
                            </m:r>
                          </m:sub>
                        </m:sSub>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16" name="文本框 15">
                  <a:extLst>
                    <a:ext uri="{FF2B5EF4-FFF2-40B4-BE49-F238E27FC236}">
                      <a16:creationId xmlns:a16="http://schemas.microsoft.com/office/drawing/2014/main" id="{B48BDF03-F386-8CEB-8E04-9D0C940F67A9}"/>
                    </a:ext>
                  </a:extLst>
                </p:cNvPr>
                <p:cNvSpPr txBox="1">
                  <a:spLocks noRot="1" noChangeAspect="1" noMove="1" noResize="1" noEditPoints="1" noAdjustHandles="1" noChangeArrowheads="1" noChangeShapeType="1" noTextEdit="1"/>
                </p:cNvSpPr>
                <p:nvPr/>
              </p:nvSpPr>
              <p:spPr>
                <a:xfrm>
                  <a:off x="8241539" y="3380316"/>
                  <a:ext cx="297180" cy="337142"/>
                </a:xfrm>
                <a:prstGeom prst="rect">
                  <a:avLst/>
                </a:prstGeom>
                <a:blipFill>
                  <a:blip r:embed="rId9"/>
                  <a:stretch>
                    <a:fillRect/>
                  </a:stretch>
                </a:blipFill>
              </p:spPr>
              <p:txBody>
                <a:bodyPr/>
                <a:lstStyle/>
                <a:p>
                  <a:r>
                    <a:rPr lang="zh-CN" altLang="en-US">
                      <a:noFill/>
                    </a:rPr>
                    <a:t> </a:t>
                  </a:r>
                </a:p>
              </p:txBody>
            </p:sp>
          </mc:Fallback>
        </mc:AlternateContent>
        <p:sp>
          <p:nvSpPr>
            <p:cNvPr id="17" name="椭圆 16">
              <a:extLst>
                <a:ext uri="{FF2B5EF4-FFF2-40B4-BE49-F238E27FC236}">
                  <a16:creationId xmlns:a16="http://schemas.microsoft.com/office/drawing/2014/main" id="{5A90679C-E832-F733-BC0E-4303CC4829E7}"/>
                </a:ext>
              </a:extLst>
            </p:cNvPr>
            <p:cNvSpPr/>
            <p:nvPr/>
          </p:nvSpPr>
          <p:spPr>
            <a:xfrm>
              <a:off x="7038772" y="4423419"/>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18" name="椭圆 17">
              <a:extLst>
                <a:ext uri="{FF2B5EF4-FFF2-40B4-BE49-F238E27FC236}">
                  <a16:creationId xmlns:a16="http://schemas.microsoft.com/office/drawing/2014/main" id="{1791C0D7-72A7-DA70-486E-63B7C9B1BF88}"/>
                </a:ext>
              </a:extLst>
            </p:cNvPr>
            <p:cNvSpPr/>
            <p:nvPr/>
          </p:nvSpPr>
          <p:spPr>
            <a:xfrm>
              <a:off x="8377352" y="3355529"/>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19" name="椭圆 18">
              <a:extLst>
                <a:ext uri="{FF2B5EF4-FFF2-40B4-BE49-F238E27FC236}">
                  <a16:creationId xmlns:a16="http://schemas.microsoft.com/office/drawing/2014/main" id="{629D6BC6-17FE-118E-8BEC-B44EC48B7D31}"/>
                </a:ext>
              </a:extLst>
            </p:cNvPr>
            <p:cNvSpPr/>
            <p:nvPr/>
          </p:nvSpPr>
          <p:spPr>
            <a:xfrm>
              <a:off x="9132729" y="4447276"/>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cxnSp>
          <p:nvCxnSpPr>
            <p:cNvPr id="20" name="直接箭头连接符 19">
              <a:extLst>
                <a:ext uri="{FF2B5EF4-FFF2-40B4-BE49-F238E27FC236}">
                  <a16:creationId xmlns:a16="http://schemas.microsoft.com/office/drawing/2014/main" id="{B7421D1C-1046-326E-B46A-C0AC12AB130F}"/>
                </a:ext>
              </a:extLst>
            </p:cNvPr>
            <p:cNvCxnSpPr>
              <a:cxnSpLocks/>
              <a:stCxn id="17" idx="1"/>
            </p:cNvCxnSpPr>
            <p:nvPr/>
          </p:nvCxnSpPr>
          <p:spPr>
            <a:xfrm flipH="1" flipV="1">
              <a:off x="6786747" y="4153850"/>
              <a:ext cx="267648" cy="2851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D2C5E2C-01EE-34D8-02D5-D451995DF15B}"/>
                </a:ext>
              </a:extLst>
            </p:cNvPr>
            <p:cNvCxnSpPr>
              <a:cxnSpLocks/>
            </p:cNvCxnSpPr>
            <p:nvPr/>
          </p:nvCxnSpPr>
          <p:spPr>
            <a:xfrm flipV="1">
              <a:off x="9229515" y="4236344"/>
              <a:ext cx="385789" cy="2400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8021B29C-D431-3B9C-022A-87B366532882}"/>
                </a:ext>
              </a:extLst>
            </p:cNvPr>
            <p:cNvCxnSpPr>
              <a:cxnSpLocks/>
            </p:cNvCxnSpPr>
            <p:nvPr/>
          </p:nvCxnSpPr>
          <p:spPr>
            <a:xfrm flipV="1">
              <a:off x="6785280" y="2707039"/>
              <a:ext cx="1787264" cy="1452297"/>
            </a:xfrm>
            <a:prstGeom prst="line">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D2C578D-DA8A-0223-4DA8-010889EDB8AE}"/>
                </a:ext>
              </a:extLst>
            </p:cNvPr>
            <p:cNvCxnSpPr>
              <a:cxnSpLocks/>
            </p:cNvCxnSpPr>
            <p:nvPr/>
          </p:nvCxnSpPr>
          <p:spPr>
            <a:xfrm flipH="1" flipV="1">
              <a:off x="8575487" y="2717560"/>
              <a:ext cx="1039817" cy="1541456"/>
            </a:xfrm>
            <a:prstGeom prst="line">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8" name="椭圆 27">
              <a:extLst>
                <a:ext uri="{FF2B5EF4-FFF2-40B4-BE49-F238E27FC236}">
                  <a16:creationId xmlns:a16="http://schemas.microsoft.com/office/drawing/2014/main" id="{6A7D76AE-A9FD-0A2B-966A-4F80EC930B21}"/>
                </a:ext>
              </a:extLst>
            </p:cNvPr>
            <p:cNvSpPr/>
            <p:nvPr/>
          </p:nvSpPr>
          <p:spPr>
            <a:xfrm>
              <a:off x="8512481" y="2677975"/>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29" name="文本框 28">
                  <a:extLst>
                    <a:ext uri="{FF2B5EF4-FFF2-40B4-BE49-F238E27FC236}">
                      <a16:creationId xmlns:a16="http://schemas.microsoft.com/office/drawing/2014/main" id="{1AB02E40-8B2B-EC93-E568-7383A7A2E3CE}"/>
                    </a:ext>
                  </a:extLst>
                </p:cNvPr>
                <p:cNvSpPr txBox="1"/>
                <p:nvPr/>
              </p:nvSpPr>
              <p:spPr>
                <a:xfrm>
                  <a:off x="6468249" y="3763018"/>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solidFill>
                                  <a:srgbClr val="0070C0"/>
                                </a:solidFill>
                                <a:latin typeface="Cambria Math" panose="02040503050406030204" pitchFamily="18" charset="0"/>
                              </a:rPr>
                            </m:ctrlPr>
                          </m:sSubSupPr>
                          <m:e>
                            <m:r>
                              <a:rPr lang="en-US" altLang="zh-CN" b="1" i="0" smtClean="0">
                                <a:solidFill>
                                  <a:srgbClr val="0070C0"/>
                                </a:solidFill>
                                <a:latin typeface="Cambria Math" panose="02040503050406030204" pitchFamily="18" charset="0"/>
                              </a:rPr>
                              <m:t>𝐏</m:t>
                            </m:r>
                          </m:e>
                          <m:sub>
                            <m:r>
                              <a:rPr lang="en-US" altLang="zh-CN" b="0" i="1" smtClean="0">
                                <a:solidFill>
                                  <a:srgbClr val="0070C0"/>
                                </a:solidFill>
                                <a:latin typeface="Cambria Math" panose="02040503050406030204" pitchFamily="18" charset="0"/>
                              </a:rPr>
                              <m:t>0</m:t>
                            </m:r>
                          </m:sub>
                          <m:sup>
                            <m:r>
                              <a:rPr lang="en-US" altLang="zh-CN" b="0" i="1" smtClean="0">
                                <a:solidFill>
                                  <a:srgbClr val="0070C0"/>
                                </a:solidFill>
                                <a:latin typeface="Cambria Math" panose="02040503050406030204" pitchFamily="18" charset="0"/>
                              </a:rPr>
                              <m:t>′</m:t>
                            </m:r>
                          </m:sup>
                        </m:sSubSup>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29" name="文本框 28">
                  <a:extLst>
                    <a:ext uri="{FF2B5EF4-FFF2-40B4-BE49-F238E27FC236}">
                      <a16:creationId xmlns:a16="http://schemas.microsoft.com/office/drawing/2014/main" id="{1AB02E40-8B2B-EC93-E568-7383A7A2E3CE}"/>
                    </a:ext>
                  </a:extLst>
                </p:cNvPr>
                <p:cNvSpPr txBox="1">
                  <a:spLocks noRot="1" noChangeAspect="1" noMove="1" noResize="1" noEditPoints="1" noAdjustHandles="1" noChangeArrowheads="1" noChangeShapeType="1" noTextEdit="1"/>
                </p:cNvSpPr>
                <p:nvPr/>
              </p:nvSpPr>
              <p:spPr>
                <a:xfrm>
                  <a:off x="6468249" y="3763018"/>
                  <a:ext cx="297180" cy="337142"/>
                </a:xfrm>
                <a:prstGeom prst="rect">
                  <a:avLst/>
                </a:prstGeom>
                <a:blipFill>
                  <a:blip r:embed="rId10"/>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文本框 29">
                  <a:extLst>
                    <a:ext uri="{FF2B5EF4-FFF2-40B4-BE49-F238E27FC236}">
                      <a16:creationId xmlns:a16="http://schemas.microsoft.com/office/drawing/2014/main" id="{C6FEA03F-D890-A4FC-74F2-A154C9B61AEC}"/>
                    </a:ext>
                  </a:extLst>
                </p:cNvPr>
                <p:cNvSpPr txBox="1"/>
                <p:nvPr/>
              </p:nvSpPr>
              <p:spPr>
                <a:xfrm>
                  <a:off x="8369413" y="2353474"/>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solidFill>
                                  <a:srgbClr val="0070C0"/>
                                </a:solidFill>
                                <a:latin typeface="Cambria Math" panose="02040503050406030204" pitchFamily="18" charset="0"/>
                              </a:rPr>
                            </m:ctrlPr>
                          </m:sSubSupPr>
                          <m:e>
                            <m:r>
                              <a:rPr lang="en-US" altLang="zh-CN" b="1" i="0" smtClean="0">
                                <a:solidFill>
                                  <a:srgbClr val="0070C0"/>
                                </a:solidFill>
                                <a:latin typeface="Cambria Math" panose="02040503050406030204" pitchFamily="18" charset="0"/>
                              </a:rPr>
                              <m:t>𝐏</m:t>
                            </m:r>
                          </m:e>
                          <m:sub>
                            <m:r>
                              <a:rPr lang="en-US" altLang="zh-CN" b="0" i="1" smtClean="0">
                                <a:solidFill>
                                  <a:srgbClr val="0070C0"/>
                                </a:solidFill>
                                <a:latin typeface="Cambria Math" panose="02040503050406030204" pitchFamily="18" charset="0"/>
                              </a:rPr>
                              <m:t>1</m:t>
                            </m:r>
                          </m:sub>
                          <m:sup>
                            <m:r>
                              <a:rPr lang="en-US" altLang="zh-CN" b="0" i="1" smtClean="0">
                                <a:solidFill>
                                  <a:srgbClr val="0070C0"/>
                                </a:solidFill>
                                <a:latin typeface="Cambria Math" panose="02040503050406030204" pitchFamily="18" charset="0"/>
                              </a:rPr>
                              <m:t>′</m:t>
                            </m:r>
                          </m:sup>
                        </m:sSubSup>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30" name="文本框 29">
                  <a:extLst>
                    <a:ext uri="{FF2B5EF4-FFF2-40B4-BE49-F238E27FC236}">
                      <a16:creationId xmlns:a16="http://schemas.microsoft.com/office/drawing/2014/main" id="{C6FEA03F-D890-A4FC-74F2-A154C9B61AEC}"/>
                    </a:ext>
                  </a:extLst>
                </p:cNvPr>
                <p:cNvSpPr txBox="1">
                  <a:spLocks noRot="1" noChangeAspect="1" noMove="1" noResize="1" noEditPoints="1" noAdjustHandles="1" noChangeArrowheads="1" noChangeShapeType="1" noTextEdit="1"/>
                </p:cNvSpPr>
                <p:nvPr/>
              </p:nvSpPr>
              <p:spPr>
                <a:xfrm>
                  <a:off x="8369413" y="2353474"/>
                  <a:ext cx="297180" cy="337142"/>
                </a:xfrm>
                <a:prstGeom prst="rect">
                  <a:avLst/>
                </a:prstGeom>
                <a:blipFill>
                  <a:blip r:embed="rId11"/>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1" name="文本框 30">
                  <a:extLst>
                    <a:ext uri="{FF2B5EF4-FFF2-40B4-BE49-F238E27FC236}">
                      <a16:creationId xmlns:a16="http://schemas.microsoft.com/office/drawing/2014/main" id="{DA035507-291A-F201-4489-3D1D80A135E2}"/>
                    </a:ext>
                  </a:extLst>
                </p:cNvPr>
                <p:cNvSpPr txBox="1"/>
                <p:nvPr/>
              </p:nvSpPr>
              <p:spPr>
                <a:xfrm>
                  <a:off x="9608126" y="3927114"/>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solidFill>
                                  <a:srgbClr val="0070C0"/>
                                </a:solidFill>
                                <a:latin typeface="Cambria Math" panose="02040503050406030204" pitchFamily="18" charset="0"/>
                              </a:rPr>
                            </m:ctrlPr>
                          </m:sSubSupPr>
                          <m:e>
                            <m:r>
                              <a:rPr lang="en-US" altLang="zh-CN" b="1" i="0" smtClean="0">
                                <a:solidFill>
                                  <a:srgbClr val="0070C0"/>
                                </a:solidFill>
                                <a:latin typeface="Cambria Math" panose="02040503050406030204" pitchFamily="18" charset="0"/>
                              </a:rPr>
                              <m:t>𝐏</m:t>
                            </m:r>
                          </m:e>
                          <m:sub>
                            <m:r>
                              <a:rPr lang="en-US" altLang="zh-CN" b="0" i="1" smtClean="0">
                                <a:solidFill>
                                  <a:srgbClr val="0070C0"/>
                                </a:solidFill>
                                <a:latin typeface="Cambria Math" panose="02040503050406030204" pitchFamily="18" charset="0"/>
                              </a:rPr>
                              <m:t>2</m:t>
                            </m:r>
                          </m:sub>
                          <m:sup>
                            <m:r>
                              <a:rPr lang="en-US" altLang="zh-CN" b="0" i="1" smtClean="0">
                                <a:solidFill>
                                  <a:srgbClr val="0070C0"/>
                                </a:solidFill>
                                <a:latin typeface="Cambria Math" panose="02040503050406030204" pitchFamily="18" charset="0"/>
                              </a:rPr>
                              <m:t>′</m:t>
                            </m:r>
                          </m:sup>
                        </m:sSubSup>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31" name="文本框 30">
                  <a:extLst>
                    <a:ext uri="{FF2B5EF4-FFF2-40B4-BE49-F238E27FC236}">
                      <a16:creationId xmlns:a16="http://schemas.microsoft.com/office/drawing/2014/main" id="{DA035507-291A-F201-4489-3D1D80A135E2}"/>
                    </a:ext>
                  </a:extLst>
                </p:cNvPr>
                <p:cNvSpPr txBox="1">
                  <a:spLocks noRot="1" noChangeAspect="1" noMove="1" noResize="1" noEditPoints="1" noAdjustHandles="1" noChangeArrowheads="1" noChangeShapeType="1" noTextEdit="1"/>
                </p:cNvSpPr>
                <p:nvPr/>
              </p:nvSpPr>
              <p:spPr>
                <a:xfrm>
                  <a:off x="9608126" y="3927114"/>
                  <a:ext cx="297180" cy="337142"/>
                </a:xfrm>
                <a:prstGeom prst="rect">
                  <a:avLst/>
                </a:prstGeom>
                <a:blipFill>
                  <a:blip r:embed="rId12"/>
                  <a:stretch>
                    <a:fillRect/>
                  </a:stretch>
                </a:blipFill>
              </p:spPr>
              <p:txBody>
                <a:bodyPr/>
                <a:lstStyle/>
                <a:p>
                  <a:r>
                    <a:rPr lang="zh-CN" altLang="en-US">
                      <a:noFill/>
                    </a:rPr>
                    <a:t> </a:t>
                  </a:r>
                </a:p>
              </p:txBody>
            </p:sp>
          </mc:Fallback>
        </mc:AlternateContent>
        <p:sp>
          <p:nvSpPr>
            <p:cNvPr id="32" name="任意多边形: 形状 31">
              <a:extLst>
                <a:ext uri="{FF2B5EF4-FFF2-40B4-BE49-F238E27FC236}">
                  <a16:creationId xmlns:a16="http://schemas.microsoft.com/office/drawing/2014/main" id="{9EA75263-A81D-9DBE-6794-A9EBCC02BC5D}"/>
                </a:ext>
              </a:extLst>
            </p:cNvPr>
            <p:cNvSpPr/>
            <p:nvPr/>
          </p:nvSpPr>
          <p:spPr>
            <a:xfrm rot="990245">
              <a:off x="6920622" y="3200361"/>
              <a:ext cx="2749172" cy="1372255"/>
            </a:xfrm>
            <a:custGeom>
              <a:avLst/>
              <a:gdLst>
                <a:gd name="connsiteX0" fmla="*/ 0 w 2114550"/>
                <a:gd name="connsiteY0" fmla="*/ 726823 h 726823"/>
                <a:gd name="connsiteX1" fmla="*/ 1035050 w 2114550"/>
                <a:gd name="connsiteY1" fmla="*/ 9273 h 726823"/>
                <a:gd name="connsiteX2" fmla="*/ 2114550 w 2114550"/>
                <a:gd name="connsiteY2" fmla="*/ 339473 h 726823"/>
              </a:gdLst>
              <a:ahLst/>
              <a:cxnLst>
                <a:cxn ang="0">
                  <a:pos x="connsiteX0" y="connsiteY0"/>
                </a:cxn>
                <a:cxn ang="0">
                  <a:pos x="connsiteX1" y="connsiteY1"/>
                </a:cxn>
                <a:cxn ang="0">
                  <a:pos x="connsiteX2" y="connsiteY2"/>
                </a:cxn>
              </a:cxnLst>
              <a:rect l="l" t="t" r="r" b="b"/>
              <a:pathLst>
                <a:path w="2114550" h="726823">
                  <a:moveTo>
                    <a:pt x="0" y="726823"/>
                  </a:moveTo>
                  <a:cubicBezTo>
                    <a:pt x="341312" y="400327"/>
                    <a:pt x="682625" y="73831"/>
                    <a:pt x="1035050" y="9273"/>
                  </a:cubicBezTo>
                  <a:cubicBezTo>
                    <a:pt x="1387475" y="-55285"/>
                    <a:pt x="1857375" y="234698"/>
                    <a:pt x="2114550" y="339473"/>
                  </a:cubicBezTo>
                </a:path>
              </a:pathLst>
            </a:custGeom>
            <a:noFill/>
            <a:ln w="2540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33" name="椭圆 32">
              <a:extLst>
                <a:ext uri="{FF2B5EF4-FFF2-40B4-BE49-F238E27FC236}">
                  <a16:creationId xmlns:a16="http://schemas.microsoft.com/office/drawing/2014/main" id="{0B230861-FBC5-D23A-DC39-A47BF07EAEB3}"/>
                </a:ext>
              </a:extLst>
            </p:cNvPr>
            <p:cNvSpPr/>
            <p:nvPr/>
          </p:nvSpPr>
          <p:spPr>
            <a:xfrm>
              <a:off x="6727679" y="4100510"/>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34" name="椭圆 33">
              <a:extLst>
                <a:ext uri="{FF2B5EF4-FFF2-40B4-BE49-F238E27FC236}">
                  <a16:creationId xmlns:a16="http://schemas.microsoft.com/office/drawing/2014/main" id="{53B52588-92A8-47AE-C73D-47A2370DAEE3}"/>
                </a:ext>
              </a:extLst>
            </p:cNvPr>
            <p:cNvSpPr/>
            <p:nvPr/>
          </p:nvSpPr>
          <p:spPr>
            <a:xfrm>
              <a:off x="9583484" y="4182725"/>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cxnSp>
          <p:nvCxnSpPr>
            <p:cNvPr id="35" name="直接箭头连接符 34">
              <a:extLst>
                <a:ext uri="{FF2B5EF4-FFF2-40B4-BE49-F238E27FC236}">
                  <a16:creationId xmlns:a16="http://schemas.microsoft.com/office/drawing/2014/main" id="{33684BA0-6C30-2332-C3EE-7CCB9B9FD240}"/>
                </a:ext>
              </a:extLst>
            </p:cNvPr>
            <p:cNvCxnSpPr>
              <a:cxnSpLocks/>
            </p:cNvCxnSpPr>
            <p:nvPr/>
          </p:nvCxnSpPr>
          <p:spPr>
            <a:xfrm rot="10800000" flipH="1" flipV="1">
              <a:off x="7131407" y="4519974"/>
              <a:ext cx="267648" cy="2851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8E7C2117-A4BC-EE80-8AE4-38F8D1116447}"/>
                </a:ext>
              </a:extLst>
            </p:cNvPr>
            <p:cNvCxnSpPr>
              <a:cxnSpLocks/>
            </p:cNvCxnSpPr>
            <p:nvPr/>
          </p:nvCxnSpPr>
          <p:spPr>
            <a:xfrm rot="10800000" flipV="1">
              <a:off x="8752931" y="4536963"/>
              <a:ext cx="385789" cy="2400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AE0B1BC5-895E-4125-B83A-E59DAC116560}"/>
                </a:ext>
              </a:extLst>
            </p:cNvPr>
            <p:cNvCxnSpPr>
              <a:cxnSpLocks/>
            </p:cNvCxnSpPr>
            <p:nvPr/>
          </p:nvCxnSpPr>
          <p:spPr>
            <a:xfrm flipV="1">
              <a:off x="7404962" y="4070295"/>
              <a:ext cx="896686" cy="728630"/>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057A37BA-C77F-6573-296C-F19E8D739039}"/>
                </a:ext>
              </a:extLst>
            </p:cNvPr>
            <p:cNvCxnSpPr>
              <a:cxnSpLocks/>
            </p:cNvCxnSpPr>
            <p:nvPr/>
          </p:nvCxnSpPr>
          <p:spPr>
            <a:xfrm flipH="1" flipV="1">
              <a:off x="8299598" y="4080710"/>
              <a:ext cx="458775" cy="680103"/>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sp>
          <p:nvSpPr>
            <p:cNvPr id="39" name="椭圆 38">
              <a:extLst>
                <a:ext uri="{FF2B5EF4-FFF2-40B4-BE49-F238E27FC236}">
                  <a16:creationId xmlns:a16="http://schemas.microsoft.com/office/drawing/2014/main" id="{D3400AF2-F678-8D93-9E5D-CC39991EF4A9}"/>
                </a:ext>
              </a:extLst>
            </p:cNvPr>
            <p:cNvSpPr/>
            <p:nvPr/>
          </p:nvSpPr>
          <p:spPr>
            <a:xfrm>
              <a:off x="8241868" y="4048061"/>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40" name="椭圆 39">
              <a:extLst>
                <a:ext uri="{FF2B5EF4-FFF2-40B4-BE49-F238E27FC236}">
                  <a16:creationId xmlns:a16="http://schemas.microsoft.com/office/drawing/2014/main" id="{703B1F7E-A412-C6DC-2BD7-CB0D9D78B5C5}"/>
                </a:ext>
              </a:extLst>
            </p:cNvPr>
            <p:cNvSpPr/>
            <p:nvPr/>
          </p:nvSpPr>
          <p:spPr>
            <a:xfrm>
              <a:off x="7353872" y="4769633"/>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p:sp>
          <p:nvSpPr>
            <p:cNvPr id="41" name="椭圆 40">
              <a:extLst>
                <a:ext uri="{FF2B5EF4-FFF2-40B4-BE49-F238E27FC236}">
                  <a16:creationId xmlns:a16="http://schemas.microsoft.com/office/drawing/2014/main" id="{C1111E27-97EB-228D-8A9E-55CC831536F4}"/>
                </a:ext>
              </a:extLst>
            </p:cNvPr>
            <p:cNvSpPr/>
            <p:nvPr/>
          </p:nvSpPr>
          <p:spPr>
            <a:xfrm>
              <a:off x="8691440" y="4722275"/>
              <a:ext cx="106680" cy="10668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6" name="文本框 45">
                  <a:extLst>
                    <a:ext uri="{FF2B5EF4-FFF2-40B4-BE49-F238E27FC236}">
                      <a16:creationId xmlns:a16="http://schemas.microsoft.com/office/drawing/2014/main" id="{2A95B658-2757-A03C-E65A-C8C222C5A47B}"/>
                    </a:ext>
                  </a:extLst>
                </p:cNvPr>
                <p:cNvSpPr txBox="1"/>
                <p:nvPr/>
              </p:nvSpPr>
              <p:spPr>
                <a:xfrm>
                  <a:off x="6975752" y="4704641"/>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solidFill>
                                  <a:srgbClr val="00B050"/>
                                </a:solidFill>
                                <a:latin typeface="Cambria Math" panose="02040503050406030204" pitchFamily="18" charset="0"/>
                              </a:rPr>
                            </m:ctrlPr>
                          </m:sSubSupPr>
                          <m:e>
                            <m:r>
                              <a:rPr lang="en-US" altLang="zh-CN" b="1" i="0" smtClean="0">
                                <a:solidFill>
                                  <a:srgbClr val="00B050"/>
                                </a:solidFill>
                                <a:latin typeface="Cambria Math" panose="02040503050406030204" pitchFamily="18" charset="0"/>
                              </a:rPr>
                              <m:t>𝐏</m:t>
                            </m:r>
                          </m:e>
                          <m:sub>
                            <m:r>
                              <a:rPr lang="en-US" altLang="zh-CN" b="0" i="1" smtClean="0">
                                <a:solidFill>
                                  <a:srgbClr val="00B050"/>
                                </a:solidFill>
                                <a:latin typeface="Cambria Math" panose="02040503050406030204" pitchFamily="18" charset="0"/>
                              </a:rPr>
                              <m:t>0</m:t>
                            </m:r>
                          </m:sub>
                          <m:sup>
                            <m:r>
                              <a:rPr lang="en-US" altLang="zh-CN" b="0" i="1" smtClean="0">
                                <a:solidFill>
                                  <a:srgbClr val="00B050"/>
                                </a:solidFill>
                                <a:latin typeface="Cambria Math" panose="02040503050406030204" pitchFamily="18" charset="0"/>
                              </a:rPr>
                              <m:t>′′</m:t>
                            </m:r>
                          </m:sup>
                        </m:sSubSup>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46" name="文本框 45">
                  <a:extLst>
                    <a:ext uri="{FF2B5EF4-FFF2-40B4-BE49-F238E27FC236}">
                      <a16:creationId xmlns:a16="http://schemas.microsoft.com/office/drawing/2014/main" id="{2A95B658-2757-A03C-E65A-C8C222C5A47B}"/>
                    </a:ext>
                  </a:extLst>
                </p:cNvPr>
                <p:cNvSpPr txBox="1">
                  <a:spLocks noRot="1" noChangeAspect="1" noMove="1" noResize="1" noEditPoints="1" noAdjustHandles="1" noChangeArrowheads="1" noChangeShapeType="1" noTextEdit="1"/>
                </p:cNvSpPr>
                <p:nvPr/>
              </p:nvSpPr>
              <p:spPr>
                <a:xfrm>
                  <a:off x="6975752" y="4704641"/>
                  <a:ext cx="297180" cy="337142"/>
                </a:xfrm>
                <a:prstGeom prst="rect">
                  <a:avLst/>
                </a:prstGeom>
                <a:blipFill>
                  <a:blip r:embed="rId13"/>
                  <a:stretch>
                    <a:fillRect r="-1834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7" name="文本框 46">
                  <a:extLst>
                    <a:ext uri="{FF2B5EF4-FFF2-40B4-BE49-F238E27FC236}">
                      <a16:creationId xmlns:a16="http://schemas.microsoft.com/office/drawing/2014/main" id="{C6CF7F1F-EBC1-E18D-7BF0-7A50473C6C16}"/>
                    </a:ext>
                  </a:extLst>
                </p:cNvPr>
                <p:cNvSpPr txBox="1"/>
                <p:nvPr/>
              </p:nvSpPr>
              <p:spPr>
                <a:xfrm>
                  <a:off x="8266834" y="3818656"/>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solidFill>
                                  <a:srgbClr val="00B050"/>
                                </a:solidFill>
                                <a:latin typeface="Cambria Math" panose="02040503050406030204" pitchFamily="18" charset="0"/>
                              </a:rPr>
                            </m:ctrlPr>
                          </m:sSubSupPr>
                          <m:e>
                            <m:r>
                              <a:rPr lang="en-US" altLang="zh-CN" b="1" i="0" smtClean="0">
                                <a:solidFill>
                                  <a:srgbClr val="00B050"/>
                                </a:solidFill>
                                <a:latin typeface="Cambria Math" panose="02040503050406030204" pitchFamily="18" charset="0"/>
                              </a:rPr>
                              <m:t>𝐏</m:t>
                            </m:r>
                          </m:e>
                          <m:sub>
                            <m:r>
                              <a:rPr lang="en-US" altLang="zh-CN" b="0" i="1" smtClean="0">
                                <a:solidFill>
                                  <a:srgbClr val="00B050"/>
                                </a:solidFill>
                                <a:latin typeface="Cambria Math" panose="02040503050406030204" pitchFamily="18" charset="0"/>
                              </a:rPr>
                              <m:t>1</m:t>
                            </m:r>
                          </m:sub>
                          <m:sup>
                            <m:r>
                              <a:rPr lang="en-US" altLang="zh-CN" b="0" i="1" smtClean="0">
                                <a:solidFill>
                                  <a:srgbClr val="00B050"/>
                                </a:solidFill>
                                <a:latin typeface="Cambria Math" panose="02040503050406030204" pitchFamily="18" charset="0"/>
                              </a:rPr>
                              <m:t>′′</m:t>
                            </m:r>
                          </m:sup>
                        </m:sSubSup>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47" name="文本框 46">
                  <a:extLst>
                    <a:ext uri="{FF2B5EF4-FFF2-40B4-BE49-F238E27FC236}">
                      <a16:creationId xmlns:a16="http://schemas.microsoft.com/office/drawing/2014/main" id="{C6CF7F1F-EBC1-E18D-7BF0-7A50473C6C16}"/>
                    </a:ext>
                  </a:extLst>
                </p:cNvPr>
                <p:cNvSpPr txBox="1">
                  <a:spLocks noRot="1" noChangeAspect="1" noMove="1" noResize="1" noEditPoints="1" noAdjustHandles="1" noChangeArrowheads="1" noChangeShapeType="1" noTextEdit="1"/>
                </p:cNvSpPr>
                <p:nvPr/>
              </p:nvSpPr>
              <p:spPr>
                <a:xfrm>
                  <a:off x="8266834" y="3818656"/>
                  <a:ext cx="297180" cy="337142"/>
                </a:xfrm>
                <a:prstGeom prst="rect">
                  <a:avLst/>
                </a:prstGeom>
                <a:blipFill>
                  <a:blip r:embed="rId14"/>
                  <a:stretch>
                    <a:fillRect r="-1727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8" name="文本框 47">
                  <a:extLst>
                    <a:ext uri="{FF2B5EF4-FFF2-40B4-BE49-F238E27FC236}">
                      <a16:creationId xmlns:a16="http://schemas.microsoft.com/office/drawing/2014/main" id="{C8965918-8E2C-DCCF-CA42-6E1CB834C446}"/>
                    </a:ext>
                  </a:extLst>
                </p:cNvPr>
                <p:cNvSpPr txBox="1"/>
                <p:nvPr/>
              </p:nvSpPr>
              <p:spPr>
                <a:xfrm>
                  <a:off x="8323878" y="4676733"/>
                  <a:ext cx="297180" cy="3371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solidFill>
                                  <a:srgbClr val="00B050"/>
                                </a:solidFill>
                                <a:latin typeface="Cambria Math" panose="02040503050406030204" pitchFamily="18" charset="0"/>
                              </a:rPr>
                            </m:ctrlPr>
                          </m:sSubSupPr>
                          <m:e>
                            <m:r>
                              <a:rPr lang="en-US" altLang="zh-CN" b="1" i="0" smtClean="0">
                                <a:solidFill>
                                  <a:srgbClr val="00B050"/>
                                </a:solidFill>
                                <a:latin typeface="Cambria Math" panose="02040503050406030204" pitchFamily="18" charset="0"/>
                              </a:rPr>
                              <m:t>𝐏</m:t>
                            </m:r>
                          </m:e>
                          <m:sub>
                            <m:r>
                              <a:rPr lang="en-US" altLang="zh-CN" b="0" i="1" smtClean="0">
                                <a:solidFill>
                                  <a:srgbClr val="00B050"/>
                                </a:solidFill>
                                <a:latin typeface="Cambria Math" panose="02040503050406030204" pitchFamily="18" charset="0"/>
                              </a:rPr>
                              <m:t>2</m:t>
                            </m:r>
                          </m:sub>
                          <m:sup>
                            <m:r>
                              <a:rPr lang="en-US" altLang="zh-CN" b="0" i="1" smtClean="0">
                                <a:solidFill>
                                  <a:srgbClr val="00B050"/>
                                </a:solidFill>
                                <a:latin typeface="Cambria Math" panose="02040503050406030204" pitchFamily="18" charset="0"/>
                              </a:rPr>
                              <m:t>′′</m:t>
                            </m:r>
                          </m:sup>
                        </m:sSubSup>
                      </m:oMath>
                    </m:oMathPara>
                  </a14:m>
                  <a:endParaRPr lang="zh-CN" altLang="en-US" dirty="0">
                    <a:solidFill>
                      <a:srgbClr val="FF0000"/>
                    </a:solidFill>
                    <a:latin typeface="Arial" panose="020B0604020202020204" pitchFamily="34" charset="0"/>
                    <a:cs typeface="Arial" panose="020B0604020202020204" pitchFamily="34" charset="0"/>
                  </a:endParaRPr>
                </a:p>
              </p:txBody>
            </p:sp>
          </mc:Choice>
          <mc:Fallback xmlns="">
            <p:sp>
              <p:nvSpPr>
                <p:cNvPr id="48" name="文本框 47">
                  <a:extLst>
                    <a:ext uri="{FF2B5EF4-FFF2-40B4-BE49-F238E27FC236}">
                      <a16:creationId xmlns:a16="http://schemas.microsoft.com/office/drawing/2014/main" id="{C8965918-8E2C-DCCF-CA42-6E1CB834C446}"/>
                    </a:ext>
                  </a:extLst>
                </p:cNvPr>
                <p:cNvSpPr txBox="1">
                  <a:spLocks noRot="1" noChangeAspect="1" noMove="1" noResize="1" noEditPoints="1" noAdjustHandles="1" noChangeArrowheads="1" noChangeShapeType="1" noTextEdit="1"/>
                </p:cNvSpPr>
                <p:nvPr/>
              </p:nvSpPr>
              <p:spPr>
                <a:xfrm>
                  <a:off x="8323878" y="4676733"/>
                  <a:ext cx="297180" cy="337142"/>
                </a:xfrm>
                <a:prstGeom prst="rect">
                  <a:avLst/>
                </a:prstGeom>
                <a:blipFill>
                  <a:blip r:embed="rId15"/>
                  <a:stretch>
                    <a:fillRect r="-17273"/>
                  </a:stretch>
                </a:blipFill>
              </p:spPr>
              <p:txBody>
                <a:bodyPr/>
                <a:lstStyle/>
                <a:p>
                  <a:r>
                    <a:rPr lang="zh-CN" altLang="en-US">
                      <a:noFill/>
                    </a:rPr>
                    <a:t> </a:t>
                  </a:r>
                </a:p>
              </p:txBody>
            </p:sp>
          </mc:Fallback>
        </mc:AlternateContent>
      </p:grpSp>
      <p:grpSp>
        <p:nvGrpSpPr>
          <p:cNvPr id="53" name="组合 52">
            <a:extLst>
              <a:ext uri="{FF2B5EF4-FFF2-40B4-BE49-F238E27FC236}">
                <a16:creationId xmlns:a16="http://schemas.microsoft.com/office/drawing/2014/main" id="{72FDC933-25FA-C329-E7C4-414A2F6A509C}"/>
              </a:ext>
            </a:extLst>
          </p:cNvPr>
          <p:cNvGrpSpPr/>
          <p:nvPr/>
        </p:nvGrpSpPr>
        <p:grpSpPr>
          <a:xfrm>
            <a:off x="3490899" y="6167220"/>
            <a:ext cx="3882580" cy="4064095"/>
            <a:chOff x="3490899" y="6672699"/>
            <a:chExt cx="3882580" cy="4064095"/>
          </a:xfrm>
        </p:grpSpPr>
        <p:sp>
          <p:nvSpPr>
            <p:cNvPr id="49" name="矩形 48">
              <a:extLst>
                <a:ext uri="{FF2B5EF4-FFF2-40B4-BE49-F238E27FC236}">
                  <a16:creationId xmlns:a16="http://schemas.microsoft.com/office/drawing/2014/main" id="{D9E73A83-C503-FB1E-98F8-B95824A19D12}"/>
                </a:ext>
              </a:extLst>
            </p:cNvPr>
            <p:cNvSpPr/>
            <p:nvPr/>
          </p:nvSpPr>
          <p:spPr>
            <a:xfrm>
              <a:off x="3497508" y="6789663"/>
              <a:ext cx="3851009" cy="3851009"/>
            </a:xfrm>
            <a:prstGeom prst="rect">
              <a:avLst/>
            </a:prstGeom>
            <a:solidFill>
              <a:schemeClr val="bg1"/>
            </a:solidFill>
            <a:ln w="12700" cap="flat">
              <a:solidFill>
                <a:srgbClr val="00B0F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50" name="矩形 49">
              <a:extLst>
                <a:ext uri="{FF2B5EF4-FFF2-40B4-BE49-F238E27FC236}">
                  <a16:creationId xmlns:a16="http://schemas.microsoft.com/office/drawing/2014/main" id="{C21CB56F-8BC3-BB1E-3A58-3DAF828CDF67}"/>
                </a:ext>
              </a:extLst>
            </p:cNvPr>
            <p:cNvSpPr/>
            <p:nvPr/>
          </p:nvSpPr>
          <p:spPr>
            <a:xfrm>
              <a:off x="3490899" y="6672699"/>
              <a:ext cx="3857618" cy="247665"/>
            </a:xfrm>
            <a:prstGeom prst="rect">
              <a:avLst/>
            </a:prstGeom>
            <a:solidFill>
              <a:srgbClr val="0070C0"/>
            </a:solidFill>
            <a:ln w="12700" cap="flat">
              <a:solidFill>
                <a:srgbClr val="0070C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51" name="矩形 50">
              <a:extLst>
                <a:ext uri="{FF2B5EF4-FFF2-40B4-BE49-F238E27FC236}">
                  <a16:creationId xmlns:a16="http://schemas.microsoft.com/office/drawing/2014/main" id="{D4259396-4A8B-DB0F-B0DD-FE5BEC071EF7}"/>
                </a:ext>
              </a:extLst>
            </p:cNvPr>
            <p:cNvSpPr/>
            <p:nvPr/>
          </p:nvSpPr>
          <p:spPr>
            <a:xfrm>
              <a:off x="3500477" y="8528771"/>
              <a:ext cx="3857618" cy="247665"/>
            </a:xfrm>
            <a:prstGeom prst="rect">
              <a:avLst/>
            </a:prstGeom>
            <a:solidFill>
              <a:srgbClr val="FF000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52" name="矩形 51">
              <a:extLst>
                <a:ext uri="{FF2B5EF4-FFF2-40B4-BE49-F238E27FC236}">
                  <a16:creationId xmlns:a16="http://schemas.microsoft.com/office/drawing/2014/main" id="{B6865570-18D5-0B5B-A5A5-B67FE6163592}"/>
                </a:ext>
              </a:extLst>
            </p:cNvPr>
            <p:cNvSpPr/>
            <p:nvPr/>
          </p:nvSpPr>
          <p:spPr>
            <a:xfrm>
              <a:off x="3515861" y="10489129"/>
              <a:ext cx="3857618" cy="247665"/>
            </a:xfrm>
            <a:prstGeom prst="rect">
              <a:avLst/>
            </a:prstGeom>
            <a:solidFill>
              <a:srgbClr val="00B05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zh-CN" alt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grpSp>
      <mc:AlternateContent xmlns:mc="http://schemas.openxmlformats.org/markup-compatibility/2006" xmlns:a14="http://schemas.microsoft.com/office/drawing/2010/main">
        <mc:Choice Requires="a14">
          <p:sp>
            <p:nvSpPr>
              <p:cNvPr id="55" name="文本框 54">
                <a:extLst>
                  <a:ext uri="{FF2B5EF4-FFF2-40B4-BE49-F238E27FC236}">
                    <a16:creationId xmlns:a16="http://schemas.microsoft.com/office/drawing/2014/main" id="{7B2101C1-0836-6148-BFBC-1412C506BE0E}"/>
                  </a:ext>
                </a:extLst>
              </p:cNvPr>
              <p:cNvSpPr txBox="1"/>
              <p:nvPr/>
            </p:nvSpPr>
            <p:spPr>
              <a:xfrm>
                <a:off x="9808355" y="6665501"/>
                <a:ext cx="1621048" cy="7571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14:m>
                  <m:oMathPara xmlns:m="http://schemas.openxmlformats.org/officeDocument/2006/math">
                    <m:oMathParaPr>
                      <m:jc m:val="centerGroup"/>
                    </m:oMathParaPr>
                    <m:oMath xmlns:m="http://schemas.openxmlformats.org/officeDocument/2006/math">
                      <m:r>
                        <a:rPr lang="en-US" altLang="zh-CN" sz="4800" b="1" i="1" smtClean="0">
                          <a:solidFill>
                            <a:srgbClr val="000000"/>
                          </a:solidFill>
                          <a:latin typeface="Cambria Math" panose="02040503050406030204" pitchFamily="18" charset="0"/>
                        </a:rPr>
                        <m:t>𝝍</m:t>
                      </m:r>
                    </m:oMath>
                  </m:oMathPara>
                </a14:m>
                <a:endParaRPr lang="zh-CN" altLang="en-US" b="1" dirty="0">
                  <a:latin typeface="Arial" panose="020B0604020202020204" pitchFamily="34" charset="0"/>
                  <a:cs typeface="Arial" panose="020B0604020202020204" pitchFamily="34" charset="0"/>
                </a:endParaRPr>
              </a:p>
            </p:txBody>
          </p:sp>
        </mc:Choice>
        <mc:Fallback xmlns="">
          <p:sp>
            <p:nvSpPr>
              <p:cNvPr id="55" name="文本框 54">
                <a:extLst>
                  <a:ext uri="{FF2B5EF4-FFF2-40B4-BE49-F238E27FC236}">
                    <a16:creationId xmlns:a16="http://schemas.microsoft.com/office/drawing/2014/main" id="{7B2101C1-0836-6148-BFBC-1412C506BE0E}"/>
                  </a:ext>
                </a:extLst>
              </p:cNvPr>
              <p:cNvSpPr txBox="1">
                <a:spLocks noRot="1" noChangeAspect="1" noMove="1" noResize="1" noEditPoints="1" noAdjustHandles="1" noChangeArrowheads="1" noChangeShapeType="1" noTextEdit="1"/>
              </p:cNvSpPr>
              <p:nvPr/>
            </p:nvSpPr>
            <p:spPr>
              <a:xfrm>
                <a:off x="9808355" y="6665501"/>
                <a:ext cx="1621048" cy="757130"/>
              </a:xfrm>
              <a:prstGeom prst="rect">
                <a:avLst/>
              </a:prstGeom>
              <a:blipFill>
                <a:blip r:embed="rId16"/>
                <a:stretch>
                  <a:fillRect/>
                </a:stretch>
              </a:blipFill>
              <a:ln w="12700" cap="flat">
                <a:noFill/>
                <a:miter lim="400000"/>
              </a:ln>
              <a:effectLst/>
            </p:spPr>
            <p:txBody>
              <a:bodyPr/>
              <a:lstStyle/>
              <a:p>
                <a:r>
                  <a:rPr lang="zh-CN" altLang="en-US">
                    <a:noFill/>
                  </a:rPr>
                  <a:t> </a:t>
                </a:r>
              </a:p>
            </p:txBody>
          </p:sp>
        </mc:Fallback>
      </mc:AlternateContent>
      <p:sp>
        <p:nvSpPr>
          <p:cNvPr id="3" name="文本框 7">
            <a:extLst>
              <a:ext uri="{FF2B5EF4-FFF2-40B4-BE49-F238E27FC236}">
                <a16:creationId xmlns:a16="http://schemas.microsoft.com/office/drawing/2014/main" id="{35EB3D51-9E94-1A33-AF27-DFFC77329532}"/>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 Arc-Length Parametrization</a:t>
            </a:r>
            <a:endParaRPr lang="zh-CN" altLang="en-US" sz="8800" b="1" i="1" dirty="0">
              <a:latin typeface="Arial Narrow" panose="020B0606020202030204" pitchFamily="34" charset="0"/>
              <a:cs typeface="Arial" panose="020B0604020202020204" pitchFamily="34" charset="0"/>
            </a:endParaRPr>
          </a:p>
        </p:txBody>
      </p:sp>
      <p:sp>
        <p:nvSpPr>
          <p:cNvPr id="21" name="文本框 20">
            <a:extLst>
              <a:ext uri="{FF2B5EF4-FFF2-40B4-BE49-F238E27FC236}">
                <a16:creationId xmlns:a16="http://schemas.microsoft.com/office/drawing/2014/main" id="{3115C52D-241A-AF77-A0F2-4FBB382A8FB8}"/>
              </a:ext>
            </a:extLst>
          </p:cNvPr>
          <p:cNvSpPr txBox="1"/>
          <p:nvPr/>
        </p:nvSpPr>
        <p:spPr>
          <a:xfrm>
            <a:off x="1623117" y="11255564"/>
            <a:ext cx="21703227" cy="10634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609600" indent="-609600">
              <a:lnSpc>
                <a:spcPct val="150000"/>
              </a:lnSpc>
              <a:buClrTx/>
              <a:buSzPct val="123000"/>
              <a:buChar char="•"/>
            </a:pPr>
            <a:r>
              <a:rPr lang="en-US" altLang="zh-CN" sz="4800" dirty="0">
                <a:solidFill>
                  <a:srgbClr val="000000"/>
                </a:solidFill>
                <a:latin typeface="Arial" panose="020B0604020202020204" pitchFamily="34" charset="0"/>
                <a:cs typeface="Arial" panose="020B0604020202020204" pitchFamily="34" charset="0"/>
              </a:rPr>
              <a:t>Arc-length-guided texturing: uniformly partition the region to reduce distortion</a:t>
            </a:r>
          </a:p>
        </p:txBody>
      </p:sp>
    </p:spTree>
    <p:extLst>
      <p:ext uri="{BB962C8B-B14F-4D97-AF65-F5344CB8AC3E}">
        <p14:creationId xmlns:p14="http://schemas.microsoft.com/office/powerpoint/2010/main" val="265138726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p:bldP spid="12" grpId="0"/>
      <p:bldP spid="55"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ABEB5A-AD6B-0BB8-43C2-E0F8C0C05C7D}"/>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8EED4757-8FE8-65DF-2FE2-E799D756E11B}"/>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30A35E5C-B3C2-C3CA-2D06-3E5757992CE6}"/>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AEC3E0B0-6A31-3782-6671-AF22D867BE1F}"/>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7B83526F-57A2-BDDB-6D10-A3CCA1DF3857}"/>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7" name="내용 개체 틀 2">
                <a:extLst>
                  <a:ext uri="{FF2B5EF4-FFF2-40B4-BE49-F238E27FC236}">
                    <a16:creationId xmlns:a16="http://schemas.microsoft.com/office/drawing/2014/main" id="{2A0F35DF-0F6E-0D4A-C53F-C23563F9395C}"/>
                  </a:ext>
                </a:extLst>
              </p:cNvPr>
              <p:cNvSpPr txBox="1">
                <a:spLocks/>
              </p:cNvSpPr>
              <p:nvPr/>
            </p:nvSpPr>
            <p:spPr>
              <a:xfrm>
                <a:off x="1623117" y="2237954"/>
                <a:ext cx="21137766" cy="969452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Texture coordinate solving</a:t>
                </a:r>
              </a:p>
              <a:p>
                <a:pPr marL="952500" lvl="1" indent="-609600">
                  <a:lnSpc>
                    <a:spcPct val="150000"/>
                  </a:lnSpc>
                  <a:buClrTx/>
                  <a:buSzPct val="123000"/>
                </a:pPr>
                <a:r>
                  <a:rPr lang="en-US" altLang="zh-CN" sz="4400" dirty="0">
                    <a:solidFill>
                      <a:srgbClr val="000000"/>
                    </a:solidFill>
                  </a:rPr>
                  <a:t>Given pixel coordinate </a:t>
                </a:r>
                <a14:m>
                  <m:oMath xmlns:m="http://schemas.openxmlformats.org/officeDocument/2006/math">
                    <m:r>
                      <a:rPr lang="en-US" altLang="zh-CN" sz="4400" b="1" i="0" dirty="0">
                        <a:solidFill>
                          <a:srgbClr val="000000"/>
                        </a:solidFill>
                        <a:latin typeface="Cambria Math" panose="02040503050406030204" pitchFamily="18" charset="0"/>
                        <a:cs typeface="+mn-cs"/>
                      </a:rPr>
                      <m:t>𝐏</m:t>
                    </m:r>
                    <m:r>
                      <a:rPr lang="en-US" altLang="zh-CN" sz="4400" i="1" dirty="0" smtClean="0">
                        <a:solidFill>
                          <a:srgbClr val="000000"/>
                        </a:solidFill>
                        <a:latin typeface="Cambria Math" panose="02040503050406030204" pitchFamily="18" charset="0"/>
                        <a:cs typeface="+mn-cs"/>
                      </a:rPr>
                      <m:t>=</m:t>
                    </m:r>
                    <m:d>
                      <m:dPr>
                        <m:ctrlPr>
                          <a:rPr lang="en-US" altLang="zh-CN" sz="4400" b="0" i="1" smtClean="0">
                            <a:solidFill>
                              <a:srgbClr val="000000"/>
                            </a:solidFill>
                            <a:latin typeface="Cambria Math" panose="02040503050406030204" pitchFamily="18" charset="0"/>
                            <a:cs typeface="+mn-cs"/>
                          </a:rPr>
                        </m:ctrlPr>
                      </m:dPr>
                      <m:e>
                        <m:r>
                          <a:rPr lang="en-US" altLang="zh-CN" sz="4400" b="0" i="1" smtClean="0">
                            <a:solidFill>
                              <a:srgbClr val="000000"/>
                            </a:solidFill>
                            <a:latin typeface="Cambria Math" panose="02040503050406030204" pitchFamily="18" charset="0"/>
                            <a:cs typeface="+mn-cs"/>
                          </a:rPr>
                          <m:t>𝑥</m:t>
                        </m:r>
                        <m:r>
                          <a:rPr lang="en-US" altLang="zh-CN" sz="4400" b="0" i="1" smtClean="0">
                            <a:solidFill>
                              <a:srgbClr val="000000"/>
                            </a:solidFill>
                            <a:latin typeface="Cambria Math" panose="02040503050406030204" pitchFamily="18" charset="0"/>
                            <a:cs typeface="+mn-cs"/>
                          </a:rPr>
                          <m:t>,</m:t>
                        </m:r>
                        <m:r>
                          <a:rPr lang="en-US" altLang="zh-CN" sz="4400" b="0" i="1" smtClean="0">
                            <a:solidFill>
                              <a:srgbClr val="000000"/>
                            </a:solidFill>
                            <a:latin typeface="Cambria Math" panose="02040503050406030204" pitchFamily="18" charset="0"/>
                            <a:cs typeface="+mn-cs"/>
                          </a:rPr>
                          <m:t>𝑦</m:t>
                        </m:r>
                      </m:e>
                    </m:d>
                    <m:r>
                      <a:rPr lang="en-US" altLang="zh-CN" sz="4400" b="0" i="1" smtClean="0">
                        <a:solidFill>
                          <a:srgbClr val="000000"/>
                        </a:solidFill>
                        <a:latin typeface="Cambria Math" panose="02040503050406030204" pitchFamily="18" charset="0"/>
                        <a:cs typeface="+mn-cs"/>
                      </a:rPr>
                      <m:t>,</m:t>
                    </m:r>
                  </m:oMath>
                </a14:m>
                <a:r>
                  <a:rPr lang="en-US" altLang="zh-CN" sz="4400" dirty="0">
                    <a:solidFill>
                      <a:srgbClr val="000000"/>
                    </a:solidFill>
                  </a:rPr>
                  <a:t> require</a:t>
                </a:r>
                <a:r>
                  <a:rPr lang="zh-CN" altLang="en-US" sz="4400" dirty="0">
                    <a:solidFill>
                      <a:srgbClr val="000000"/>
                    </a:solidFill>
                  </a:rPr>
                  <a:t> </a:t>
                </a:r>
                <a14:m>
                  <m:oMath xmlns:m="http://schemas.openxmlformats.org/officeDocument/2006/math">
                    <m:d>
                      <m:dPr>
                        <m:ctrlPr>
                          <a:rPr lang="en-US" altLang="zh-CN" sz="4400" b="1" i="1">
                            <a:solidFill>
                              <a:srgbClr val="000000"/>
                            </a:solidFill>
                            <a:latin typeface="Cambria Math" panose="02040503050406030204" pitchFamily="18" charset="0"/>
                          </a:rPr>
                        </m:ctrlPr>
                      </m:dPr>
                      <m:e>
                        <m:r>
                          <a:rPr lang="en-US" altLang="zh-CN" sz="4400" i="1">
                            <a:solidFill>
                              <a:srgbClr val="000000"/>
                            </a:solidFill>
                            <a:latin typeface="Cambria Math" panose="02040503050406030204" pitchFamily="18" charset="0"/>
                          </a:rPr>
                          <m:t>𝑢</m:t>
                        </m:r>
                        <m:r>
                          <a:rPr lang="en-US" altLang="zh-CN" sz="4400" i="1">
                            <a:solidFill>
                              <a:srgbClr val="000000"/>
                            </a:solidFill>
                            <a:latin typeface="Cambria Math" panose="02040503050406030204" pitchFamily="18" charset="0"/>
                          </a:rPr>
                          <m:t>,</m:t>
                        </m:r>
                        <m:r>
                          <a:rPr lang="en-US" altLang="zh-CN" sz="4400" i="1">
                            <a:solidFill>
                              <a:srgbClr val="000000"/>
                            </a:solidFill>
                            <a:latin typeface="Cambria Math" panose="02040503050406030204" pitchFamily="18" charset="0"/>
                          </a:rPr>
                          <m:t>𝑣</m:t>
                        </m:r>
                      </m:e>
                    </m:d>
                    <m:r>
                      <a:rPr lang="en-US" altLang="zh-CN" sz="4400" b="1" i="1" smtClean="0">
                        <a:solidFill>
                          <a:srgbClr val="000000"/>
                        </a:solidFill>
                        <a:latin typeface="Cambria Math" panose="02040503050406030204" pitchFamily="18" charset="0"/>
                      </a:rPr>
                      <m:t> </m:t>
                    </m:r>
                    <m:r>
                      <m:rPr>
                        <m:sty m:val="p"/>
                      </m:rPr>
                      <a:rPr lang="en-US" altLang="zh-CN" sz="4400" b="0" i="0" smtClean="0">
                        <a:solidFill>
                          <a:srgbClr val="000000"/>
                        </a:solidFill>
                        <a:latin typeface="Cambria Math" panose="02040503050406030204" pitchFamily="18" charset="0"/>
                      </a:rPr>
                      <m:t>s</m:t>
                    </m:r>
                    <m:r>
                      <a:rPr lang="en-US" altLang="zh-CN" sz="4400" b="0" i="0" smtClean="0">
                        <a:solidFill>
                          <a:srgbClr val="000000"/>
                        </a:solidFill>
                        <a:latin typeface="Cambria Math" panose="02040503050406030204" pitchFamily="18" charset="0"/>
                      </a:rPr>
                      <m:t>.</m:t>
                    </m:r>
                    <m:r>
                      <m:rPr>
                        <m:sty m:val="p"/>
                      </m:rPr>
                      <a:rPr lang="en-US" altLang="zh-CN" sz="4400" b="0" i="0" smtClean="0">
                        <a:solidFill>
                          <a:srgbClr val="000000"/>
                        </a:solidFill>
                        <a:latin typeface="Cambria Math" panose="02040503050406030204" pitchFamily="18" charset="0"/>
                      </a:rPr>
                      <m:t>t</m:t>
                    </m:r>
                    <m:r>
                      <a:rPr lang="en-US" altLang="zh-CN" sz="4400" b="0" i="0" smtClean="0">
                        <a:solidFill>
                          <a:srgbClr val="000000"/>
                        </a:solidFill>
                        <a:latin typeface="Cambria Math" panose="02040503050406030204" pitchFamily="18" charset="0"/>
                      </a:rPr>
                      <m:t>. </m:t>
                    </m:r>
                    <m:r>
                      <a:rPr lang="en-US" altLang="zh-CN" sz="4400" b="1" i="1">
                        <a:solidFill>
                          <a:srgbClr val="000000"/>
                        </a:solidFill>
                        <a:latin typeface="Cambria Math" panose="02040503050406030204" pitchFamily="18" charset="0"/>
                      </a:rPr>
                      <m:t>𝝍</m:t>
                    </m:r>
                    <m:d>
                      <m:dPr>
                        <m:ctrlPr>
                          <a:rPr lang="en-US" altLang="zh-CN" sz="4400" b="1" i="1">
                            <a:solidFill>
                              <a:srgbClr val="000000"/>
                            </a:solidFill>
                            <a:latin typeface="Cambria Math" panose="02040503050406030204" pitchFamily="18" charset="0"/>
                          </a:rPr>
                        </m:ctrlPr>
                      </m:dPr>
                      <m:e>
                        <m:r>
                          <a:rPr lang="en-US" altLang="zh-CN" sz="4400" i="1">
                            <a:solidFill>
                              <a:srgbClr val="000000"/>
                            </a:solidFill>
                            <a:latin typeface="Cambria Math" panose="02040503050406030204" pitchFamily="18" charset="0"/>
                          </a:rPr>
                          <m:t>𝑢</m:t>
                        </m:r>
                        <m:r>
                          <a:rPr lang="en-US" altLang="zh-CN" sz="4400" i="1">
                            <a:solidFill>
                              <a:srgbClr val="000000"/>
                            </a:solidFill>
                            <a:latin typeface="Cambria Math" panose="02040503050406030204" pitchFamily="18" charset="0"/>
                          </a:rPr>
                          <m:t>,</m:t>
                        </m:r>
                        <m:r>
                          <a:rPr lang="en-US" altLang="zh-CN" sz="4400" i="1">
                            <a:solidFill>
                              <a:srgbClr val="000000"/>
                            </a:solidFill>
                            <a:latin typeface="Cambria Math" panose="02040503050406030204" pitchFamily="18" charset="0"/>
                          </a:rPr>
                          <m:t>𝑣</m:t>
                        </m:r>
                      </m:e>
                    </m:d>
                    <m:r>
                      <a:rPr lang="en-US" altLang="zh-CN" sz="4400" b="1" i="1" smtClean="0">
                        <a:solidFill>
                          <a:srgbClr val="000000"/>
                        </a:solidFill>
                        <a:latin typeface="Cambria Math" panose="02040503050406030204" pitchFamily="18" charset="0"/>
                      </a:rPr>
                      <m:t>=(</m:t>
                    </m:r>
                    <m:r>
                      <a:rPr lang="en-US" altLang="zh-CN" sz="4400" b="0" i="1" smtClean="0">
                        <a:solidFill>
                          <a:srgbClr val="000000"/>
                        </a:solidFill>
                        <a:latin typeface="Cambria Math" panose="02040503050406030204" pitchFamily="18" charset="0"/>
                      </a:rPr>
                      <m:t>𝑥</m:t>
                    </m:r>
                    <m:r>
                      <a:rPr lang="en-US" altLang="zh-CN" sz="4400" b="0" i="1" smtClean="0">
                        <a:solidFill>
                          <a:srgbClr val="000000"/>
                        </a:solidFill>
                        <a:latin typeface="Cambria Math" panose="02040503050406030204" pitchFamily="18" charset="0"/>
                      </a:rPr>
                      <m:t>,</m:t>
                    </m:r>
                    <m:r>
                      <a:rPr lang="en-US" altLang="zh-CN" sz="4400" b="0" i="1" smtClean="0">
                        <a:solidFill>
                          <a:srgbClr val="000000"/>
                        </a:solidFill>
                        <a:latin typeface="Cambria Math" panose="02040503050406030204" pitchFamily="18" charset="0"/>
                      </a:rPr>
                      <m:t>𝑦</m:t>
                    </m:r>
                    <m:r>
                      <a:rPr lang="en-US" altLang="zh-CN" sz="4400" b="1" i="1" smtClean="0">
                        <a:solidFill>
                          <a:srgbClr val="000000"/>
                        </a:solidFill>
                        <a:latin typeface="Cambria Math" panose="02040503050406030204" pitchFamily="18" charset="0"/>
                      </a:rPr>
                      <m:t>)</m:t>
                    </m:r>
                  </m:oMath>
                </a14:m>
                <a:endParaRPr lang="en-US" altLang="zh-CN" sz="4400" dirty="0">
                  <a:solidFill>
                    <a:srgbClr val="000000"/>
                  </a:solidFill>
                </a:endParaRPr>
              </a:p>
              <a:p>
                <a:pPr marL="952500" lvl="1" indent="-609600">
                  <a:lnSpc>
                    <a:spcPct val="150000"/>
                  </a:lnSpc>
                  <a:buClrTx/>
                  <a:buSzPct val="123000"/>
                </a:pPr>
                <a:r>
                  <a:rPr lang="en-US" altLang="zh-CN" sz="4400" dirty="0">
                    <a:solidFill>
                      <a:srgbClr val="000000"/>
                    </a:solidFill>
                  </a:rPr>
                  <a:t>Newton iteration-based solving, with piecewise linear initial value </a:t>
                </a:r>
                <a14:m>
                  <m:oMath xmlns:m="http://schemas.openxmlformats.org/officeDocument/2006/math">
                    <m:d>
                      <m:dPr>
                        <m:ctrlPr>
                          <a:rPr lang="en-US" altLang="zh-CN" sz="4400" b="1" i="1">
                            <a:solidFill>
                              <a:srgbClr val="000000"/>
                            </a:solidFill>
                            <a:latin typeface="Cambria Math" panose="02040503050406030204" pitchFamily="18" charset="0"/>
                          </a:rPr>
                        </m:ctrlPr>
                      </m:dPr>
                      <m:e>
                        <m:sSub>
                          <m:sSubPr>
                            <m:ctrlPr>
                              <a:rPr lang="en-US" altLang="zh-CN" sz="4400" b="0" i="1" smtClean="0">
                                <a:solidFill>
                                  <a:srgbClr val="000000"/>
                                </a:solidFill>
                                <a:latin typeface="Cambria Math" panose="02040503050406030204" pitchFamily="18" charset="0"/>
                              </a:rPr>
                            </m:ctrlPr>
                          </m:sSubPr>
                          <m:e>
                            <m:r>
                              <a:rPr lang="en-US" altLang="zh-CN" sz="4400" i="1">
                                <a:solidFill>
                                  <a:srgbClr val="000000"/>
                                </a:solidFill>
                                <a:latin typeface="Cambria Math" panose="02040503050406030204" pitchFamily="18" charset="0"/>
                              </a:rPr>
                              <m:t>𝑢</m:t>
                            </m:r>
                          </m:e>
                          <m:sub>
                            <m:r>
                              <a:rPr lang="en-US" altLang="zh-CN" sz="4400" b="0" i="1" smtClean="0">
                                <a:solidFill>
                                  <a:srgbClr val="000000"/>
                                </a:solidFill>
                                <a:latin typeface="Cambria Math" panose="02040503050406030204" pitchFamily="18" charset="0"/>
                              </a:rPr>
                              <m:t>0</m:t>
                            </m:r>
                          </m:sub>
                        </m:sSub>
                        <m:r>
                          <a:rPr lang="en-US" altLang="zh-CN" sz="4400" i="1">
                            <a:solidFill>
                              <a:srgbClr val="000000"/>
                            </a:solidFill>
                            <a:latin typeface="Cambria Math" panose="02040503050406030204" pitchFamily="18" charset="0"/>
                          </a:rPr>
                          <m:t>,</m:t>
                        </m:r>
                        <m:sSub>
                          <m:sSubPr>
                            <m:ctrlPr>
                              <a:rPr lang="en-US" altLang="zh-CN" sz="4400" i="1" smtClean="0">
                                <a:solidFill>
                                  <a:srgbClr val="000000"/>
                                </a:solidFill>
                                <a:latin typeface="Cambria Math" panose="02040503050406030204" pitchFamily="18" charset="0"/>
                              </a:rPr>
                            </m:ctrlPr>
                          </m:sSubPr>
                          <m:e>
                            <m:r>
                              <a:rPr lang="en-US" altLang="zh-CN" sz="4400" b="0" i="1">
                                <a:solidFill>
                                  <a:srgbClr val="000000"/>
                                </a:solidFill>
                                <a:latin typeface="Cambria Math" panose="02040503050406030204" pitchFamily="18" charset="0"/>
                              </a:rPr>
                              <m:t>𝑣</m:t>
                            </m:r>
                          </m:e>
                          <m:sub>
                            <m:r>
                              <a:rPr lang="en-US" altLang="zh-CN" sz="4400" b="0" i="1" smtClean="0">
                                <a:solidFill>
                                  <a:srgbClr val="000000"/>
                                </a:solidFill>
                                <a:latin typeface="Cambria Math" panose="02040503050406030204" pitchFamily="18" charset="0"/>
                              </a:rPr>
                              <m:t>0</m:t>
                            </m:r>
                          </m:sub>
                        </m:sSub>
                      </m:e>
                    </m:d>
                    <m:r>
                      <a:rPr lang="en-US" altLang="zh-CN" sz="4400" b="0" i="0" smtClean="0">
                        <a:solidFill>
                          <a:srgbClr val="000000"/>
                        </a:solidFill>
                        <a:latin typeface="Cambria Math" panose="02040503050406030204" pitchFamily="18" charset="0"/>
                      </a:rPr>
                      <m:t>:</m:t>
                    </m:r>
                  </m:oMath>
                </a14:m>
                <a:endParaRPr lang="en-US" altLang="zh-CN" sz="4400" dirty="0">
                  <a:solidFill>
                    <a:srgbClr val="000000"/>
                  </a:solidFill>
                </a:endParaRPr>
              </a:p>
              <a:p>
                <a:pPr marL="952500" lvl="1" indent="-609600">
                  <a:lnSpc>
                    <a:spcPct val="150000"/>
                  </a:lnSpc>
                  <a:buClrTx/>
                  <a:buSzPct val="123000"/>
                </a:pPr>
                <a:endParaRPr lang="en-US" altLang="zh-CN" sz="4400" dirty="0">
                  <a:solidFill>
                    <a:srgbClr val="000000"/>
                  </a:solidFill>
                </a:endParaRPr>
              </a:p>
              <a:p>
                <a:pPr marL="952500" lvl="1" indent="-609600">
                  <a:lnSpc>
                    <a:spcPct val="150000"/>
                  </a:lnSpc>
                  <a:buClrTx/>
                  <a:buSzPct val="123000"/>
                </a:pPr>
                <a:r>
                  <a:rPr lang="en-US" altLang="zh-CN" sz="4400" dirty="0">
                    <a:solidFill>
                      <a:srgbClr val="000000"/>
                    </a:solidFill>
                  </a:rPr>
                  <a:t>Explicit Jacobian matrix computation:</a:t>
                </a:r>
              </a:p>
              <a:p>
                <a:pPr marL="342900" lvl="1" indent="0">
                  <a:lnSpc>
                    <a:spcPct val="150000"/>
                  </a:lnSpc>
                  <a:buClrTx/>
                  <a:buSzPct val="123000"/>
                  <a:buNone/>
                </a:pPr>
                <a:r>
                  <a:rPr lang="en-US" altLang="zh-CN" sz="4400" b="0" dirty="0"/>
                  <a:t>	</a:t>
                </a:r>
              </a:p>
              <a:p>
                <a:pPr marL="952500" lvl="1" indent="-609600">
                  <a:lnSpc>
                    <a:spcPct val="150000"/>
                  </a:lnSpc>
                  <a:buClrTx/>
                  <a:buSzPct val="123000"/>
                </a:pPr>
                <a:endParaRPr lang="zh-CN" altLang="en-US" sz="4400" dirty="0"/>
              </a:p>
              <a:p>
                <a:pPr marL="952500" lvl="1" indent="-609600">
                  <a:lnSpc>
                    <a:spcPct val="150000"/>
                  </a:lnSpc>
                  <a:buClrTx/>
                  <a:buSzPct val="123000"/>
                </a:pPr>
                <a:endParaRPr lang="en-US" altLang="zh-CN" sz="4400" dirty="0">
                  <a:solidFill>
                    <a:srgbClr val="000000"/>
                  </a:solidFill>
                </a:endParaRPr>
              </a:p>
            </p:txBody>
          </p:sp>
        </mc:Choice>
        <mc:Fallback xmlns="">
          <p:sp>
            <p:nvSpPr>
              <p:cNvPr id="7" name="내용 개체 틀 2">
                <a:extLst>
                  <a:ext uri="{FF2B5EF4-FFF2-40B4-BE49-F238E27FC236}">
                    <a16:creationId xmlns:a16="http://schemas.microsoft.com/office/drawing/2014/main" id="{2A0F35DF-0F6E-0D4A-C53F-C23563F9395C}"/>
                  </a:ext>
                </a:extLst>
              </p:cNvPr>
              <p:cNvSpPr txBox="1">
                <a:spLocks noRot="1" noChangeAspect="1" noMove="1" noResize="1" noEditPoints="1" noAdjustHandles="1" noChangeArrowheads="1" noChangeShapeType="1" noTextEdit="1"/>
              </p:cNvSpPr>
              <p:nvPr/>
            </p:nvSpPr>
            <p:spPr>
              <a:xfrm>
                <a:off x="1623117" y="2237954"/>
                <a:ext cx="21137766" cy="9694524"/>
              </a:xfrm>
              <a:prstGeom prst="rect">
                <a:avLst/>
              </a:prstGeom>
              <a:blipFill>
                <a:blip r:embed="rId5"/>
                <a:stretch>
                  <a:fillRect l="-1557" t="-189"/>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85A28590-632E-90B9-9BA5-F2A878E0D9D3}"/>
              </a:ext>
            </a:extLst>
          </p:cNvPr>
          <p:cNvPicPr>
            <a:picLocks noChangeAspect="1"/>
          </p:cNvPicPr>
          <p:nvPr/>
        </p:nvPicPr>
        <p:blipFill>
          <a:blip r:embed="rId6"/>
          <a:stretch>
            <a:fillRect/>
          </a:stretch>
        </p:blipFill>
        <p:spPr>
          <a:xfrm>
            <a:off x="6688621" y="5383105"/>
            <a:ext cx="9759857" cy="1068243"/>
          </a:xfrm>
          <a:prstGeom prst="rect">
            <a:avLst/>
          </a:prstGeom>
        </p:spPr>
      </p:pic>
      <p:pic>
        <p:nvPicPr>
          <p:cNvPr id="22" name="图片 21">
            <a:extLst>
              <a:ext uri="{FF2B5EF4-FFF2-40B4-BE49-F238E27FC236}">
                <a16:creationId xmlns:a16="http://schemas.microsoft.com/office/drawing/2014/main" id="{DE2C6B4E-96D5-58DA-B40B-DB4BC29EF76F}"/>
              </a:ext>
            </a:extLst>
          </p:cNvPr>
          <p:cNvPicPr>
            <a:picLocks noChangeAspect="1"/>
          </p:cNvPicPr>
          <p:nvPr/>
        </p:nvPicPr>
        <p:blipFill>
          <a:blip r:embed="rId7"/>
          <a:stretch>
            <a:fillRect/>
          </a:stretch>
        </p:blipFill>
        <p:spPr>
          <a:xfrm>
            <a:off x="7400155" y="7867456"/>
            <a:ext cx="8336788" cy="3562218"/>
          </a:xfrm>
          <a:prstGeom prst="rect">
            <a:avLst/>
          </a:prstGeom>
        </p:spPr>
      </p:pic>
      <p:sp>
        <p:nvSpPr>
          <p:cNvPr id="2" name="文本框 7">
            <a:extLst>
              <a:ext uri="{FF2B5EF4-FFF2-40B4-BE49-F238E27FC236}">
                <a16:creationId xmlns:a16="http://schemas.microsoft.com/office/drawing/2014/main" id="{1EFEE28B-23AF-A5ED-D552-040994E47405}"/>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en-US" altLang="zh-CN" sz="8800" b="1" i="1" dirty="0">
                <a:solidFill>
                  <a:srgbClr val="000000"/>
                </a:solidFill>
                <a:latin typeface="Arial Narrow" panose="020B0606020202030204" pitchFamily="34" charset="0"/>
                <a:cs typeface="Arial" panose="020B0604020202020204" pitchFamily="34" charset="0"/>
              </a:rPr>
              <a:t>Method</a:t>
            </a:r>
            <a:r>
              <a:rPr lang="en-US" altLang="zh-CN" sz="8800" b="1" i="1">
                <a:solidFill>
                  <a:srgbClr val="000000"/>
                </a:solidFill>
                <a:latin typeface="Arial Narrow" panose="020B0606020202030204" pitchFamily="34" charset="0"/>
                <a:cs typeface="Arial" panose="020B0604020202020204" pitchFamily="34" charset="0"/>
              </a:rPr>
              <a:t>: Arc-Length </a:t>
            </a:r>
            <a:r>
              <a:rPr lang="en-US" altLang="zh-CN" sz="8800" b="1" i="1" dirty="0">
                <a:solidFill>
                  <a:srgbClr val="000000"/>
                </a:solidFill>
                <a:latin typeface="Arial Narrow" panose="020B0606020202030204" pitchFamily="34" charset="0"/>
                <a:cs typeface="Arial" panose="020B0604020202020204" pitchFamily="34" charset="0"/>
              </a:rPr>
              <a:t>Parametrization</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305738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1F0DA-DA61-EC86-E09B-B37B65848864}"/>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8BB11190-B356-CE97-BF0A-92DA60532811}"/>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70446CC3-B6BD-2538-0B9A-92D936B1554A}"/>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BAE0A88A-8EC4-18D7-EA57-5AA09D0D64E0}"/>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B7666180-0115-E0EC-3AA6-47816DFCC310}"/>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7" name="내용 개체 틀 2">
            <a:extLst>
              <a:ext uri="{FF2B5EF4-FFF2-40B4-BE49-F238E27FC236}">
                <a16:creationId xmlns:a16="http://schemas.microsoft.com/office/drawing/2014/main" id="{48DFAA11-48CE-214F-17D0-72986E23991E}"/>
              </a:ext>
            </a:extLst>
          </p:cNvPr>
          <p:cNvSpPr txBox="1">
            <a:spLocks/>
          </p:cNvSpPr>
          <p:nvPr/>
        </p:nvSpPr>
        <p:spPr>
          <a:xfrm>
            <a:off x="1618325" y="2551738"/>
            <a:ext cx="21137766" cy="8612523"/>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1</a:t>
            </a:r>
            <a:endParaRPr lang="en-US" altLang="zh-CN" sz="4400" dirty="0">
              <a:solidFill>
                <a:srgbClr val="000000"/>
              </a:solidFill>
            </a:endParaRPr>
          </a:p>
        </p:txBody>
      </p:sp>
      <p:pic>
        <p:nvPicPr>
          <p:cNvPr id="3" name="图片 2">
            <a:extLst>
              <a:ext uri="{FF2B5EF4-FFF2-40B4-BE49-F238E27FC236}">
                <a16:creationId xmlns:a16="http://schemas.microsoft.com/office/drawing/2014/main" id="{BC6EBB45-63A8-A900-1DED-BFA5E6FB25C2}"/>
              </a:ext>
            </a:extLst>
          </p:cNvPr>
          <p:cNvPicPr>
            <a:picLocks noChangeAspect="1"/>
          </p:cNvPicPr>
          <p:nvPr/>
        </p:nvPicPr>
        <p:blipFill>
          <a:blip r:embed="rId5"/>
          <a:stretch>
            <a:fillRect/>
          </a:stretch>
        </p:blipFill>
        <p:spPr>
          <a:xfrm>
            <a:off x="1618325" y="2662348"/>
            <a:ext cx="9446492" cy="8391298"/>
          </a:xfrm>
          <a:prstGeom prst="rect">
            <a:avLst/>
          </a:prstGeom>
        </p:spPr>
      </p:pic>
      <p:pic>
        <p:nvPicPr>
          <p:cNvPr id="6" name="图片 5">
            <a:extLst>
              <a:ext uri="{FF2B5EF4-FFF2-40B4-BE49-F238E27FC236}">
                <a16:creationId xmlns:a16="http://schemas.microsoft.com/office/drawing/2014/main" id="{273886BB-3C68-FB36-5D0D-1509C1DB8C24}"/>
              </a:ext>
            </a:extLst>
          </p:cNvPr>
          <p:cNvPicPr>
            <a:picLocks noChangeAspect="1"/>
          </p:cNvPicPr>
          <p:nvPr/>
        </p:nvPicPr>
        <p:blipFill>
          <a:blip r:embed="rId6"/>
          <a:stretch>
            <a:fillRect/>
          </a:stretch>
        </p:blipFill>
        <p:spPr>
          <a:xfrm>
            <a:off x="12917740" y="2441123"/>
            <a:ext cx="9695535" cy="8612523"/>
          </a:xfrm>
          <a:prstGeom prst="rect">
            <a:avLst/>
          </a:prstGeom>
        </p:spPr>
      </p:pic>
      <p:sp>
        <p:nvSpPr>
          <p:cNvPr id="8" name="文本框 7">
            <a:extLst>
              <a:ext uri="{FF2B5EF4-FFF2-40B4-BE49-F238E27FC236}">
                <a16:creationId xmlns:a16="http://schemas.microsoft.com/office/drawing/2014/main" id="{3B88FC5D-C08F-4584-D040-6E7C44540A10}"/>
              </a:ext>
            </a:extLst>
          </p:cNvPr>
          <p:cNvSpPr txBox="1"/>
          <p:nvPr/>
        </p:nvSpPr>
        <p:spPr>
          <a:xfrm>
            <a:off x="1813728" y="11375371"/>
            <a:ext cx="9055686"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Subdivision from Polar Stroking, 38</a:t>
            </a:r>
            <a:r>
              <a:rPr lang="zh-CN" altLang="en-US" sz="2800" dirty="0">
                <a:solidFill>
                  <a:schemeClr val="tx1"/>
                </a:solidFill>
                <a:latin typeface="Arial" panose="020B0604020202020204" pitchFamily="34" charset="0"/>
                <a:cs typeface="Arial" panose="020B0604020202020204" pitchFamily="34" charset="0"/>
              </a:rPr>
              <a:t> </a:t>
            </a:r>
            <a:r>
              <a:rPr lang="en-US" altLang="zh-CN" sz="2800" dirty="0">
                <a:solidFill>
                  <a:schemeClr val="tx1"/>
                </a:solidFill>
                <a:latin typeface="Arial" panose="020B0604020202020204" pitchFamily="34" charset="0"/>
                <a:cs typeface="Arial" panose="020B0604020202020204" pitchFamily="34" charset="0"/>
              </a:rPr>
              <a:t>trapezoids in total</a:t>
            </a:r>
            <a:endParaRPr lang="zh-CN" altLang="en-US" sz="2800" dirty="0">
              <a:solidFill>
                <a:schemeClr val="tx1"/>
              </a:solidFill>
              <a:latin typeface="Arial" panose="020B0604020202020204" pitchFamily="34" charset="0"/>
              <a:cs typeface="Arial" panose="020B0604020202020204" pitchFamily="34" charset="0"/>
            </a:endParaRPr>
          </a:p>
        </p:txBody>
      </p:sp>
      <p:sp>
        <p:nvSpPr>
          <p:cNvPr id="9" name="文本框 8">
            <a:extLst>
              <a:ext uri="{FF2B5EF4-FFF2-40B4-BE49-F238E27FC236}">
                <a16:creationId xmlns:a16="http://schemas.microsoft.com/office/drawing/2014/main" id="{163FF1A6-7E02-48B6-FE25-D372EB8DB24B}"/>
              </a:ext>
            </a:extLst>
          </p:cNvPr>
          <p:cNvSpPr txBox="1"/>
          <p:nvPr/>
        </p:nvSpPr>
        <p:spPr>
          <a:xfrm>
            <a:off x="13443697" y="11375371"/>
            <a:ext cx="8643620"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Our subdivision, 6</a:t>
            </a:r>
            <a:r>
              <a:rPr lang="zh-CN" altLang="en-US" sz="2800" dirty="0">
                <a:solidFill>
                  <a:schemeClr val="tx1"/>
                </a:solidFill>
                <a:latin typeface="Arial" panose="020B0604020202020204" pitchFamily="34" charset="0"/>
                <a:cs typeface="Arial" panose="020B0604020202020204" pitchFamily="34" charset="0"/>
              </a:rPr>
              <a:t> </a:t>
            </a:r>
            <a:r>
              <a:rPr lang="en-US" altLang="zh-CN" sz="2800" dirty="0">
                <a:solidFill>
                  <a:schemeClr val="tx1"/>
                </a:solidFill>
                <a:latin typeface="Arial" panose="020B0604020202020204" pitchFamily="34" charset="0"/>
                <a:cs typeface="Arial" panose="020B0604020202020204" pitchFamily="34" charset="0"/>
              </a:rPr>
              <a:t>quadratic strokes</a:t>
            </a:r>
            <a:endParaRPr lang="zh-CN" altLang="en-US" sz="2800" dirty="0">
              <a:solidFill>
                <a:schemeClr val="tx1"/>
              </a:solidFill>
              <a:latin typeface="Arial" panose="020B0604020202020204" pitchFamily="34" charset="0"/>
              <a:cs typeface="Arial" panose="020B0604020202020204" pitchFamily="34" charset="0"/>
            </a:endParaRPr>
          </a:p>
        </p:txBody>
      </p:sp>
      <p:sp>
        <p:nvSpPr>
          <p:cNvPr id="2" name="文本框 7">
            <a:extLst>
              <a:ext uri="{FF2B5EF4-FFF2-40B4-BE49-F238E27FC236}">
                <a16:creationId xmlns:a16="http://schemas.microsoft.com/office/drawing/2014/main" id="{80A05B5E-DE0D-B4D8-91CD-1D17A5B9AD70}"/>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Results</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2605903229"/>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7606D-5EE6-0CF0-8AEB-76F4B6B313A9}"/>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A88DFE30-BEA4-6038-57C8-0CFBFCC5D895}"/>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39E3D327-6F0A-0CF0-600D-E8A4E51FFFF7}"/>
              </a:ext>
            </a:extLst>
          </p:cNvPr>
          <p:cNvPicPr>
            <a:picLocks noChangeAspect="1"/>
          </p:cNvPicPr>
          <p:nvPr/>
        </p:nvPicPr>
        <p:blipFill>
          <a:blip r:embed="rId5"/>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2D205754-1DB2-880A-A8AF-4893A575382A}"/>
              </a:ext>
            </a:extLst>
          </p:cNvPr>
          <p:cNvPicPr>
            <a:picLocks noChangeAspect="1"/>
          </p:cNvPicPr>
          <p:nvPr/>
        </p:nvPicPr>
        <p:blipFill>
          <a:blip r:embed="rId6"/>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5570B4DB-31EA-5CE9-B66E-0B4DC87665A1}"/>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2" name="文本框 7">
            <a:extLst>
              <a:ext uri="{FF2B5EF4-FFF2-40B4-BE49-F238E27FC236}">
                <a16:creationId xmlns:a16="http://schemas.microsoft.com/office/drawing/2014/main" id="{90F38D3B-BD1A-8BD4-C41E-DF3EF3647094}"/>
              </a:ext>
            </a:extLst>
          </p:cNvPr>
          <p:cNvSpPr txBox="1"/>
          <p:nvPr/>
        </p:nvSpPr>
        <p:spPr>
          <a:xfrm>
            <a:off x="723900" y="247650"/>
            <a:ext cx="21014689" cy="153888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Results</a:t>
            </a:r>
            <a:endParaRPr lang="zh-CN" altLang="en-US" sz="8800" b="1" i="1" dirty="0">
              <a:latin typeface="Arial Narrow" panose="020B0606020202030204" pitchFamily="34" charset="0"/>
              <a:cs typeface="Arial" panose="020B0604020202020204" pitchFamily="34" charset="0"/>
            </a:endParaRPr>
          </a:p>
        </p:txBody>
      </p:sp>
      <p:pic>
        <p:nvPicPr>
          <p:cNvPr id="5" name="strokeRenderingXMU Demo">
            <a:hlinkClick r:id="" action="ppaction://media"/>
            <a:extLst>
              <a:ext uri="{FF2B5EF4-FFF2-40B4-BE49-F238E27FC236}">
                <a16:creationId xmlns:a16="http://schemas.microsoft.com/office/drawing/2014/main" id="{F81F1BAB-BBE2-C1AB-BA85-BB17DECF8E16}"/>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879349" y="2006409"/>
            <a:ext cx="18859240" cy="10608323"/>
          </a:xfrm>
          <a:prstGeom prst="rect">
            <a:avLst/>
          </a:prstGeom>
        </p:spPr>
      </p:pic>
    </p:spTree>
    <p:extLst>
      <p:ext uri="{BB962C8B-B14F-4D97-AF65-F5344CB8AC3E}">
        <p14:creationId xmlns:p14="http://schemas.microsoft.com/office/powerpoint/2010/main" val="235916888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785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666BC80-310A-E5DD-4FBA-35DACF83CE68}"/>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C55BC3E2-0BC6-E2CA-FA7C-E833CEDBED08}"/>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27EB63F3-11F4-2476-8F94-2CDEA7D9C5BF}"/>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23F3E2F7-B297-8F5A-9F66-A8646C65B5E3}"/>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8E9CF602-FFC8-8F6F-BD4E-DCFFBC6EBC1B}"/>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7E4B473-02AC-E815-BA36-131EF3B69096}"/>
                  </a:ext>
                </a:extLst>
              </p:cNvPr>
              <p:cNvSpPr txBox="1"/>
              <p:nvPr/>
            </p:nvSpPr>
            <p:spPr>
              <a:xfrm>
                <a:off x="3553328" y="6723892"/>
                <a:ext cx="3516892"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Stroke width </a:t>
                </a:r>
                <a14:m>
                  <m:oMath xmlns:m="http://schemas.openxmlformats.org/officeDocument/2006/math">
                    <m:r>
                      <a:rPr lang="en-US" altLang="zh-CN" sz="2800" b="0" i="1" smtClean="0">
                        <a:solidFill>
                          <a:schemeClr val="tx1"/>
                        </a:solidFill>
                        <a:latin typeface="Cambria Math" panose="02040503050406030204" pitchFamily="18" charset="0"/>
                        <a:cs typeface="Arial" panose="020B0604020202020204" pitchFamily="34" charset="0"/>
                      </a:rPr>
                      <m:t>𝑤</m:t>
                    </m:r>
                    <m:r>
                      <a:rPr lang="en-US" altLang="zh-CN" sz="2800" b="0" i="1" smtClean="0">
                        <a:solidFill>
                          <a:schemeClr val="tx1"/>
                        </a:solidFill>
                        <a:latin typeface="Cambria Math" panose="02040503050406030204" pitchFamily="18" charset="0"/>
                        <a:cs typeface="Arial" panose="020B0604020202020204" pitchFamily="34" charset="0"/>
                      </a:rPr>
                      <m:t>=50</m:t>
                    </m:r>
                  </m:oMath>
                </a14:m>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8" name="文本框 7">
                <a:extLst>
                  <a:ext uri="{FF2B5EF4-FFF2-40B4-BE49-F238E27FC236}">
                    <a16:creationId xmlns:a16="http://schemas.microsoft.com/office/drawing/2014/main" id="{87E4B473-02AC-E815-BA36-131EF3B69096}"/>
                  </a:ext>
                </a:extLst>
              </p:cNvPr>
              <p:cNvSpPr txBox="1">
                <a:spLocks noRot="1" noChangeAspect="1" noMove="1" noResize="1" noEditPoints="1" noAdjustHandles="1" noChangeArrowheads="1" noChangeShapeType="1" noTextEdit="1"/>
              </p:cNvSpPr>
              <p:nvPr/>
            </p:nvSpPr>
            <p:spPr>
              <a:xfrm>
                <a:off x="3553328" y="6723892"/>
                <a:ext cx="3516892" cy="480131"/>
              </a:xfrm>
              <a:prstGeom prst="rect">
                <a:avLst/>
              </a:prstGeom>
              <a:blipFill>
                <a:blip r:embed="rId5"/>
                <a:stretch>
                  <a:fillRect l="-1560" t="-21519" b="-34177"/>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C4DBAFDA-F09E-8904-F275-962293CCAB9A}"/>
              </a:ext>
            </a:extLst>
          </p:cNvPr>
          <p:cNvPicPr>
            <a:picLocks noChangeAspect="1"/>
          </p:cNvPicPr>
          <p:nvPr/>
        </p:nvPicPr>
        <p:blipFill>
          <a:blip r:embed="rId6"/>
          <a:stretch>
            <a:fillRect/>
          </a:stretch>
        </p:blipFill>
        <p:spPr>
          <a:xfrm>
            <a:off x="2625724" y="1986154"/>
            <a:ext cx="5372100" cy="4772025"/>
          </a:xfrm>
          <a:prstGeom prst="rect">
            <a:avLst/>
          </a:prstGeom>
        </p:spPr>
      </p:pic>
      <p:pic>
        <p:nvPicPr>
          <p:cNvPr id="11" name="图片 10">
            <a:extLst>
              <a:ext uri="{FF2B5EF4-FFF2-40B4-BE49-F238E27FC236}">
                <a16:creationId xmlns:a16="http://schemas.microsoft.com/office/drawing/2014/main" id="{A0E4D6E2-B306-B021-AB11-8F5B60ADEA66}"/>
              </a:ext>
            </a:extLst>
          </p:cNvPr>
          <p:cNvPicPr>
            <a:picLocks noChangeAspect="1"/>
          </p:cNvPicPr>
          <p:nvPr/>
        </p:nvPicPr>
        <p:blipFill>
          <a:blip r:embed="rId7"/>
          <a:stretch>
            <a:fillRect/>
          </a:stretch>
        </p:blipFill>
        <p:spPr>
          <a:xfrm>
            <a:off x="9612600" y="1986154"/>
            <a:ext cx="5372100" cy="4772025"/>
          </a:xfrm>
          <a:prstGeom prst="rect">
            <a:avLst/>
          </a:prstGeom>
        </p:spPr>
      </p:pic>
      <p:pic>
        <p:nvPicPr>
          <p:cNvPr id="13" name="图片 12">
            <a:extLst>
              <a:ext uri="{FF2B5EF4-FFF2-40B4-BE49-F238E27FC236}">
                <a16:creationId xmlns:a16="http://schemas.microsoft.com/office/drawing/2014/main" id="{69517E39-08A6-74D2-D0EF-0DD88FB7FEE5}"/>
              </a:ext>
            </a:extLst>
          </p:cNvPr>
          <p:cNvPicPr>
            <a:picLocks noChangeAspect="1"/>
          </p:cNvPicPr>
          <p:nvPr/>
        </p:nvPicPr>
        <p:blipFill>
          <a:blip r:embed="rId8"/>
          <a:stretch>
            <a:fillRect/>
          </a:stretch>
        </p:blipFill>
        <p:spPr>
          <a:xfrm>
            <a:off x="16599477" y="1986154"/>
            <a:ext cx="5372100" cy="4772025"/>
          </a:xfrm>
          <a:prstGeom prst="rect">
            <a:avLst/>
          </a:prstGeom>
        </p:spPr>
      </p:pic>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51BAABF8-5DE0-3C90-129E-DE519D46CE9B}"/>
                  </a:ext>
                </a:extLst>
              </p:cNvPr>
              <p:cNvSpPr txBox="1"/>
              <p:nvPr/>
            </p:nvSpPr>
            <p:spPr>
              <a:xfrm>
                <a:off x="10540204" y="6723892"/>
                <a:ext cx="3516892"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Stroke width </a:t>
                </a:r>
                <a14:m>
                  <m:oMath xmlns:m="http://schemas.openxmlformats.org/officeDocument/2006/math">
                    <m:r>
                      <a:rPr lang="en-US" altLang="zh-CN" sz="2800" b="0" i="1" smtClean="0">
                        <a:solidFill>
                          <a:schemeClr val="tx1"/>
                        </a:solidFill>
                        <a:latin typeface="Cambria Math" panose="02040503050406030204" pitchFamily="18" charset="0"/>
                        <a:cs typeface="Arial" panose="020B0604020202020204" pitchFamily="34" charset="0"/>
                      </a:rPr>
                      <m:t>𝑤</m:t>
                    </m:r>
                    <m:r>
                      <a:rPr lang="en-US" altLang="zh-CN" sz="2800" b="0" i="1" smtClean="0">
                        <a:solidFill>
                          <a:schemeClr val="tx1"/>
                        </a:solidFill>
                        <a:latin typeface="Cambria Math" panose="02040503050406030204" pitchFamily="18" charset="0"/>
                        <a:cs typeface="Arial" panose="020B0604020202020204" pitchFamily="34" charset="0"/>
                      </a:rPr>
                      <m:t>=10</m:t>
                    </m:r>
                  </m:oMath>
                </a14:m>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14" name="文本框 13">
                <a:extLst>
                  <a:ext uri="{FF2B5EF4-FFF2-40B4-BE49-F238E27FC236}">
                    <a16:creationId xmlns:a16="http://schemas.microsoft.com/office/drawing/2014/main" id="{51BAABF8-5DE0-3C90-129E-DE519D46CE9B}"/>
                  </a:ext>
                </a:extLst>
              </p:cNvPr>
              <p:cNvSpPr txBox="1">
                <a:spLocks noRot="1" noChangeAspect="1" noMove="1" noResize="1" noEditPoints="1" noAdjustHandles="1" noChangeArrowheads="1" noChangeShapeType="1" noTextEdit="1"/>
              </p:cNvSpPr>
              <p:nvPr/>
            </p:nvSpPr>
            <p:spPr>
              <a:xfrm>
                <a:off x="10540204" y="6723892"/>
                <a:ext cx="3516892" cy="480131"/>
              </a:xfrm>
              <a:prstGeom prst="rect">
                <a:avLst/>
              </a:prstGeom>
              <a:blipFill>
                <a:blip r:embed="rId9"/>
                <a:stretch>
                  <a:fillRect l="-1386" t="-21519" b="-3417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653D544A-A941-80F7-EA90-A79138CDB55A}"/>
                  </a:ext>
                </a:extLst>
              </p:cNvPr>
              <p:cNvSpPr txBox="1"/>
              <p:nvPr/>
            </p:nvSpPr>
            <p:spPr>
              <a:xfrm>
                <a:off x="17527081" y="6723892"/>
                <a:ext cx="3516892"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Stroke width </a:t>
                </a:r>
                <a14:m>
                  <m:oMath xmlns:m="http://schemas.openxmlformats.org/officeDocument/2006/math">
                    <m:r>
                      <a:rPr lang="en-US" altLang="zh-CN" sz="2800" b="0" i="1" smtClean="0">
                        <a:solidFill>
                          <a:schemeClr val="tx1"/>
                        </a:solidFill>
                        <a:latin typeface="Cambria Math" panose="02040503050406030204" pitchFamily="18" charset="0"/>
                        <a:cs typeface="Arial" panose="020B0604020202020204" pitchFamily="34" charset="0"/>
                      </a:rPr>
                      <m:t>𝑤</m:t>
                    </m:r>
                    <m:r>
                      <a:rPr lang="en-US" altLang="zh-CN" sz="2800" b="0" i="1" smtClean="0">
                        <a:solidFill>
                          <a:schemeClr val="tx1"/>
                        </a:solidFill>
                        <a:latin typeface="Cambria Math" panose="02040503050406030204" pitchFamily="18" charset="0"/>
                        <a:cs typeface="Arial" panose="020B0604020202020204" pitchFamily="34" charset="0"/>
                      </a:rPr>
                      <m:t>=1</m:t>
                    </m:r>
                  </m:oMath>
                </a14:m>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15" name="文本框 14">
                <a:extLst>
                  <a:ext uri="{FF2B5EF4-FFF2-40B4-BE49-F238E27FC236}">
                    <a16:creationId xmlns:a16="http://schemas.microsoft.com/office/drawing/2014/main" id="{653D544A-A941-80F7-EA90-A79138CDB55A}"/>
                  </a:ext>
                </a:extLst>
              </p:cNvPr>
              <p:cNvSpPr txBox="1">
                <a:spLocks noRot="1" noChangeAspect="1" noMove="1" noResize="1" noEditPoints="1" noAdjustHandles="1" noChangeArrowheads="1" noChangeShapeType="1" noTextEdit="1"/>
              </p:cNvSpPr>
              <p:nvPr/>
            </p:nvSpPr>
            <p:spPr>
              <a:xfrm>
                <a:off x="17527081" y="6723892"/>
                <a:ext cx="3516892" cy="480131"/>
              </a:xfrm>
              <a:prstGeom prst="rect">
                <a:avLst/>
              </a:prstGeom>
              <a:blipFill>
                <a:blip r:embed="rId10"/>
                <a:stretch>
                  <a:fillRect t="-21519" b="-34177"/>
                </a:stretch>
              </a:blipFill>
            </p:spPr>
            <p:txBody>
              <a:bodyPr/>
              <a:lstStyle/>
              <a:p>
                <a:r>
                  <a:rPr lang="zh-CN" altLang="en-US">
                    <a:noFill/>
                  </a:rPr>
                  <a:t> </a:t>
                </a:r>
              </a:p>
            </p:txBody>
          </p:sp>
        </mc:Fallback>
      </mc:AlternateContent>
      <p:pic>
        <p:nvPicPr>
          <p:cNvPr id="17" name="图片 16">
            <a:extLst>
              <a:ext uri="{FF2B5EF4-FFF2-40B4-BE49-F238E27FC236}">
                <a16:creationId xmlns:a16="http://schemas.microsoft.com/office/drawing/2014/main" id="{2AD87F17-C2F3-58D5-7DC2-E9DB36A43D42}"/>
              </a:ext>
            </a:extLst>
          </p:cNvPr>
          <p:cNvPicPr>
            <a:picLocks noChangeAspect="1"/>
          </p:cNvPicPr>
          <p:nvPr/>
        </p:nvPicPr>
        <p:blipFill>
          <a:blip r:embed="rId11"/>
          <a:stretch>
            <a:fillRect/>
          </a:stretch>
        </p:blipFill>
        <p:spPr>
          <a:xfrm>
            <a:off x="2625724" y="7204023"/>
            <a:ext cx="5372100" cy="4772025"/>
          </a:xfrm>
          <a:prstGeom prst="rect">
            <a:avLst/>
          </a:prstGeom>
        </p:spPr>
      </p:pic>
      <p:pic>
        <p:nvPicPr>
          <p:cNvPr id="19" name="图片 18">
            <a:extLst>
              <a:ext uri="{FF2B5EF4-FFF2-40B4-BE49-F238E27FC236}">
                <a16:creationId xmlns:a16="http://schemas.microsoft.com/office/drawing/2014/main" id="{EAF1C66C-96FC-EC8E-450E-D3F214FB04B1}"/>
              </a:ext>
            </a:extLst>
          </p:cNvPr>
          <p:cNvPicPr>
            <a:picLocks noChangeAspect="1"/>
          </p:cNvPicPr>
          <p:nvPr/>
        </p:nvPicPr>
        <p:blipFill>
          <a:blip r:embed="rId12"/>
          <a:stretch>
            <a:fillRect/>
          </a:stretch>
        </p:blipFill>
        <p:spPr>
          <a:xfrm>
            <a:off x="9609540" y="7204023"/>
            <a:ext cx="5372100" cy="4772025"/>
          </a:xfrm>
          <a:prstGeom prst="rect">
            <a:avLst/>
          </a:prstGeom>
        </p:spPr>
      </p:pic>
      <p:pic>
        <p:nvPicPr>
          <p:cNvPr id="21" name="图片 20">
            <a:extLst>
              <a:ext uri="{FF2B5EF4-FFF2-40B4-BE49-F238E27FC236}">
                <a16:creationId xmlns:a16="http://schemas.microsoft.com/office/drawing/2014/main" id="{80D2EFEE-D193-702A-C836-EE2D9289E441}"/>
              </a:ext>
            </a:extLst>
          </p:cNvPr>
          <p:cNvPicPr>
            <a:picLocks noChangeAspect="1"/>
          </p:cNvPicPr>
          <p:nvPr/>
        </p:nvPicPr>
        <p:blipFill>
          <a:blip r:embed="rId13"/>
          <a:stretch>
            <a:fillRect/>
          </a:stretch>
        </p:blipFill>
        <p:spPr>
          <a:xfrm>
            <a:off x="16593356" y="7204023"/>
            <a:ext cx="5372100" cy="4772025"/>
          </a:xfrm>
          <a:prstGeom prst="rect">
            <a:avLst/>
          </a:prstGeom>
        </p:spPr>
      </p:pic>
      <mc:AlternateContent xmlns:mc="http://schemas.openxmlformats.org/markup-compatibility/2006" xmlns:a14="http://schemas.microsoft.com/office/drawing/2010/main">
        <mc:Choice Requires="a14">
          <p:sp>
            <p:nvSpPr>
              <p:cNvPr id="22" name="文本框 21">
                <a:extLst>
                  <a:ext uri="{FF2B5EF4-FFF2-40B4-BE49-F238E27FC236}">
                    <a16:creationId xmlns:a16="http://schemas.microsoft.com/office/drawing/2014/main" id="{1260B909-D4D8-16E2-714A-99A33D4BD8F3}"/>
                  </a:ext>
                </a:extLst>
              </p:cNvPr>
              <p:cNvSpPr txBox="1"/>
              <p:nvPr/>
            </p:nvSpPr>
            <p:spPr>
              <a:xfrm>
                <a:off x="2625724" y="12039804"/>
                <a:ext cx="5372100"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Dash pattern </a:t>
                </a:r>
                <a14:m>
                  <m:oMath xmlns:m="http://schemas.openxmlformats.org/officeDocument/2006/math">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𝑙</m:t>
                        </m:r>
                      </m:e>
                      <m:sub>
                        <m:r>
                          <a:rPr lang="en-US" altLang="zh-CN" sz="2800" b="0" i="1" dirty="0" smtClean="0">
                            <a:solidFill>
                              <a:schemeClr val="tx1"/>
                            </a:solidFill>
                            <a:latin typeface="Cambria Math" panose="02040503050406030204" pitchFamily="18" charset="0"/>
                            <a:cs typeface="Arial" panose="020B0604020202020204" pitchFamily="34" charset="0"/>
                          </a:rPr>
                          <m:t>1</m:t>
                        </m:r>
                      </m:sub>
                    </m:sSub>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𝑙</m:t>
                        </m:r>
                      </m:e>
                      <m:sub>
                        <m:r>
                          <a:rPr lang="en-US" altLang="zh-CN" sz="2800" b="0" i="1" dirty="0" smtClean="0">
                            <a:solidFill>
                              <a:schemeClr val="tx1"/>
                            </a:solidFill>
                            <a:latin typeface="Cambria Math" panose="02040503050406030204" pitchFamily="18" charset="0"/>
                            <a:cs typeface="Arial" panose="020B0604020202020204" pitchFamily="34" charset="0"/>
                          </a:rPr>
                          <m:t>2</m:t>
                        </m:r>
                      </m:sub>
                    </m:sSub>
                    <m:r>
                      <a:rPr lang="en-US" altLang="zh-CN" sz="2800" b="0" i="1" dirty="0" smtClean="0">
                        <a:solidFill>
                          <a:schemeClr val="tx1"/>
                        </a:solidFill>
                        <a:latin typeface="Cambria Math" panose="02040503050406030204" pitchFamily="18" charset="0"/>
                        <a:cs typeface="Arial" panose="020B0604020202020204" pitchFamily="34" charset="0"/>
                      </a:rPr>
                      <m:t>)</m:t>
                    </m:r>
                    <m:r>
                      <a:rPr lang="en-US" altLang="zh-CN" sz="2800" b="0" i="1" smtClean="0">
                        <a:solidFill>
                          <a:schemeClr val="tx1"/>
                        </a:solidFill>
                        <a:latin typeface="Cambria Math" panose="02040503050406030204" pitchFamily="18" charset="0"/>
                        <a:cs typeface="Arial" panose="020B0604020202020204" pitchFamily="34" charset="0"/>
                      </a:rPr>
                      <m:t>=(100,100)</m:t>
                    </m:r>
                  </m:oMath>
                </a14:m>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22" name="文本框 21">
                <a:extLst>
                  <a:ext uri="{FF2B5EF4-FFF2-40B4-BE49-F238E27FC236}">
                    <a16:creationId xmlns:a16="http://schemas.microsoft.com/office/drawing/2014/main" id="{1260B909-D4D8-16E2-714A-99A33D4BD8F3}"/>
                  </a:ext>
                </a:extLst>
              </p:cNvPr>
              <p:cNvSpPr txBox="1">
                <a:spLocks noRot="1" noChangeAspect="1" noMove="1" noResize="1" noEditPoints="1" noAdjustHandles="1" noChangeArrowheads="1" noChangeShapeType="1" noTextEdit="1"/>
              </p:cNvSpPr>
              <p:nvPr/>
            </p:nvSpPr>
            <p:spPr>
              <a:xfrm>
                <a:off x="2625724" y="12039804"/>
                <a:ext cx="5372100" cy="480131"/>
              </a:xfrm>
              <a:prstGeom prst="rect">
                <a:avLst/>
              </a:prstGeom>
              <a:blipFill>
                <a:blip r:embed="rId14"/>
                <a:stretch>
                  <a:fillRect l="-1816" t="-21519" b="-3417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3" name="文本框 22">
                <a:extLst>
                  <a:ext uri="{FF2B5EF4-FFF2-40B4-BE49-F238E27FC236}">
                    <a16:creationId xmlns:a16="http://schemas.microsoft.com/office/drawing/2014/main" id="{B38EE4C1-B8EE-7597-36C9-825F3CB77AB6}"/>
                  </a:ext>
                </a:extLst>
              </p:cNvPr>
              <p:cNvSpPr txBox="1"/>
              <p:nvPr/>
            </p:nvSpPr>
            <p:spPr>
              <a:xfrm>
                <a:off x="9945415" y="12039804"/>
                <a:ext cx="4924267" cy="481478"/>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Dash pattern </a:t>
                </a:r>
                <a14:m>
                  <m:oMath xmlns:m="http://schemas.openxmlformats.org/officeDocument/2006/math">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𝑙</m:t>
                        </m:r>
                      </m:e>
                      <m:sub>
                        <m:r>
                          <a:rPr lang="en-US" altLang="zh-CN" sz="2800" b="0" i="1" dirty="0" smtClean="0">
                            <a:solidFill>
                              <a:schemeClr val="tx1"/>
                            </a:solidFill>
                            <a:latin typeface="Cambria Math" panose="02040503050406030204" pitchFamily="18" charset="0"/>
                            <a:cs typeface="Arial" panose="020B0604020202020204" pitchFamily="34" charset="0"/>
                          </a:rPr>
                          <m:t>1</m:t>
                        </m:r>
                      </m:sub>
                    </m:sSub>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𝑙</m:t>
                        </m:r>
                      </m:e>
                      <m:sub>
                        <m:r>
                          <a:rPr lang="en-US" altLang="zh-CN" sz="2800" b="0" i="1" dirty="0" smtClean="0">
                            <a:solidFill>
                              <a:schemeClr val="tx1"/>
                            </a:solidFill>
                            <a:latin typeface="Cambria Math" panose="02040503050406030204" pitchFamily="18" charset="0"/>
                            <a:cs typeface="Arial" panose="020B0604020202020204" pitchFamily="34" charset="0"/>
                          </a:rPr>
                          <m:t>2</m:t>
                        </m:r>
                      </m:sub>
                    </m:sSub>
                    <m:r>
                      <a:rPr lang="en-US" altLang="zh-CN" sz="2800" b="0" i="1" dirty="0" smtClean="0">
                        <a:solidFill>
                          <a:schemeClr val="tx1"/>
                        </a:solidFill>
                        <a:latin typeface="Cambria Math" panose="02040503050406030204" pitchFamily="18" charset="0"/>
                        <a:cs typeface="Arial" panose="020B0604020202020204" pitchFamily="34" charset="0"/>
                      </a:rPr>
                      <m:t>)</m:t>
                    </m:r>
                    <m:r>
                      <a:rPr lang="en-US" altLang="zh-CN" sz="2800" b="0" i="1" smtClean="0">
                        <a:solidFill>
                          <a:schemeClr val="tx1"/>
                        </a:solidFill>
                        <a:latin typeface="Cambria Math" panose="02040503050406030204" pitchFamily="18" charset="0"/>
                        <a:cs typeface="Arial" panose="020B0604020202020204" pitchFamily="34" charset="0"/>
                      </a:rPr>
                      <m:t>=(50,50)</m:t>
                    </m:r>
                  </m:oMath>
                </a14:m>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23" name="文本框 22">
                <a:extLst>
                  <a:ext uri="{FF2B5EF4-FFF2-40B4-BE49-F238E27FC236}">
                    <a16:creationId xmlns:a16="http://schemas.microsoft.com/office/drawing/2014/main" id="{B38EE4C1-B8EE-7597-36C9-825F3CB77AB6}"/>
                  </a:ext>
                </a:extLst>
              </p:cNvPr>
              <p:cNvSpPr txBox="1">
                <a:spLocks noRot="1" noChangeAspect="1" noMove="1" noResize="1" noEditPoints="1" noAdjustHandles="1" noChangeArrowheads="1" noChangeShapeType="1" noTextEdit="1"/>
              </p:cNvSpPr>
              <p:nvPr/>
            </p:nvSpPr>
            <p:spPr>
              <a:xfrm>
                <a:off x="9945415" y="12039804"/>
                <a:ext cx="4924267" cy="481478"/>
              </a:xfrm>
              <a:prstGeom prst="rect">
                <a:avLst/>
              </a:prstGeom>
              <a:blipFill>
                <a:blip r:embed="rId15"/>
                <a:stretch>
                  <a:fillRect l="-2475" t="-21519" b="-3417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4" name="文本框 23">
                <a:extLst>
                  <a:ext uri="{FF2B5EF4-FFF2-40B4-BE49-F238E27FC236}">
                    <a16:creationId xmlns:a16="http://schemas.microsoft.com/office/drawing/2014/main" id="{557181BD-681A-C25B-4342-0FB0B45A4238}"/>
                  </a:ext>
                </a:extLst>
              </p:cNvPr>
              <p:cNvSpPr txBox="1"/>
              <p:nvPr/>
            </p:nvSpPr>
            <p:spPr>
              <a:xfrm>
                <a:off x="17041189" y="12039804"/>
                <a:ext cx="4924267" cy="481478"/>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Dash pattern </a:t>
                </a:r>
                <a14:m>
                  <m:oMath xmlns:m="http://schemas.openxmlformats.org/officeDocument/2006/math">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𝑙</m:t>
                        </m:r>
                      </m:e>
                      <m:sub>
                        <m:r>
                          <a:rPr lang="en-US" altLang="zh-CN" sz="2800" b="0" i="1" dirty="0" smtClean="0">
                            <a:solidFill>
                              <a:schemeClr val="tx1"/>
                            </a:solidFill>
                            <a:latin typeface="Cambria Math" panose="02040503050406030204" pitchFamily="18" charset="0"/>
                            <a:cs typeface="Arial" panose="020B0604020202020204" pitchFamily="34" charset="0"/>
                          </a:rPr>
                          <m:t>1</m:t>
                        </m:r>
                      </m:sub>
                    </m:sSub>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𝑙</m:t>
                        </m:r>
                      </m:e>
                      <m:sub>
                        <m:r>
                          <a:rPr lang="en-US" altLang="zh-CN" sz="2800" b="0" i="1" dirty="0" smtClean="0">
                            <a:solidFill>
                              <a:schemeClr val="tx1"/>
                            </a:solidFill>
                            <a:latin typeface="Cambria Math" panose="02040503050406030204" pitchFamily="18" charset="0"/>
                            <a:cs typeface="Arial" panose="020B0604020202020204" pitchFamily="34" charset="0"/>
                          </a:rPr>
                          <m:t>2</m:t>
                        </m:r>
                      </m:sub>
                    </m:sSub>
                    <m:r>
                      <a:rPr lang="en-US" altLang="zh-CN" sz="2800" b="0" i="1" dirty="0" smtClean="0">
                        <a:solidFill>
                          <a:schemeClr val="tx1"/>
                        </a:solidFill>
                        <a:latin typeface="Cambria Math" panose="02040503050406030204" pitchFamily="18" charset="0"/>
                        <a:cs typeface="Arial" panose="020B0604020202020204" pitchFamily="34" charset="0"/>
                      </a:rPr>
                      <m:t>)</m:t>
                    </m:r>
                    <m:r>
                      <a:rPr lang="en-US" altLang="zh-CN" sz="2800" b="0" i="1" smtClean="0">
                        <a:solidFill>
                          <a:schemeClr val="tx1"/>
                        </a:solidFill>
                        <a:latin typeface="Cambria Math" panose="02040503050406030204" pitchFamily="18" charset="0"/>
                        <a:cs typeface="Arial" panose="020B0604020202020204" pitchFamily="34" charset="0"/>
                      </a:rPr>
                      <m:t>=(10,10)</m:t>
                    </m:r>
                  </m:oMath>
                </a14:m>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24" name="文本框 23">
                <a:extLst>
                  <a:ext uri="{FF2B5EF4-FFF2-40B4-BE49-F238E27FC236}">
                    <a16:creationId xmlns:a16="http://schemas.microsoft.com/office/drawing/2014/main" id="{557181BD-681A-C25B-4342-0FB0B45A4238}"/>
                  </a:ext>
                </a:extLst>
              </p:cNvPr>
              <p:cNvSpPr txBox="1">
                <a:spLocks noRot="1" noChangeAspect="1" noMove="1" noResize="1" noEditPoints="1" noAdjustHandles="1" noChangeArrowheads="1" noChangeShapeType="1" noTextEdit="1"/>
              </p:cNvSpPr>
              <p:nvPr/>
            </p:nvSpPr>
            <p:spPr>
              <a:xfrm>
                <a:off x="17041189" y="12039804"/>
                <a:ext cx="4924267" cy="481478"/>
              </a:xfrm>
              <a:prstGeom prst="rect">
                <a:avLst/>
              </a:prstGeom>
              <a:blipFill>
                <a:blip r:embed="rId16"/>
                <a:stretch>
                  <a:fillRect l="-2475" t="-21519" b="-34177"/>
                </a:stretch>
              </a:blipFill>
            </p:spPr>
            <p:txBody>
              <a:bodyPr/>
              <a:lstStyle/>
              <a:p>
                <a:r>
                  <a:rPr lang="zh-CN" altLang="en-US">
                    <a:noFill/>
                  </a:rPr>
                  <a:t> </a:t>
                </a:r>
              </a:p>
            </p:txBody>
          </p:sp>
        </mc:Fallback>
      </mc:AlternateContent>
      <p:sp>
        <p:nvSpPr>
          <p:cNvPr id="2" name="文本框 7">
            <a:extLst>
              <a:ext uri="{FF2B5EF4-FFF2-40B4-BE49-F238E27FC236}">
                <a16:creationId xmlns:a16="http://schemas.microsoft.com/office/drawing/2014/main" id="{D6D5E3F9-4034-188B-0010-B5395A07A6E4}"/>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Results</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266889183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87AFADD-8B48-781A-FE4A-F41ECD55CB24}"/>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1EBCD24C-0206-08F3-C948-B7C0B1D84835}"/>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CC42CDB1-647A-D9F9-C47C-47E57C9C02CC}"/>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3F346DCA-2538-67B2-131E-30D36222616E}"/>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97A4B57F-D687-BE53-6D00-BDBFE5D72CB0}"/>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22" name="文本框 21">
            <a:extLst>
              <a:ext uri="{FF2B5EF4-FFF2-40B4-BE49-F238E27FC236}">
                <a16:creationId xmlns:a16="http://schemas.microsoft.com/office/drawing/2014/main" id="{71E25710-405D-8EFF-FFF7-C8C92771D7C1}"/>
              </a:ext>
            </a:extLst>
          </p:cNvPr>
          <p:cNvSpPr txBox="1"/>
          <p:nvPr/>
        </p:nvSpPr>
        <p:spPr>
          <a:xfrm>
            <a:off x="2581080" y="10568811"/>
            <a:ext cx="5336417"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Arc-length guided texture filling</a:t>
            </a:r>
            <a:endParaRPr lang="zh-CN" altLang="en-US" sz="2800" dirty="0">
              <a:solidFill>
                <a:schemeClr val="tx1"/>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23" name="文本框 22">
                <a:extLst>
                  <a:ext uri="{FF2B5EF4-FFF2-40B4-BE49-F238E27FC236}">
                    <a16:creationId xmlns:a16="http://schemas.microsoft.com/office/drawing/2014/main" id="{D81962F3-0565-5180-1F97-6473262FDA16}"/>
                  </a:ext>
                </a:extLst>
              </p:cNvPr>
              <p:cNvSpPr txBox="1"/>
              <p:nvPr/>
            </p:nvSpPr>
            <p:spPr>
              <a:xfrm>
                <a:off x="10094502" y="10568811"/>
                <a:ext cx="4924267" cy="867930"/>
              </a:xfrm>
              <a:prstGeom prst="rect">
                <a:avLst/>
              </a:prstGeom>
              <a:noFill/>
            </p:spPr>
            <p:txBody>
              <a:bodyPr wrap="square" rtlCol="0">
                <a:spAutoFit/>
              </a:bodyPr>
              <a:lstStyle/>
              <a:p>
                <a:pPr algn="ctr"/>
                <a:r>
                  <a:rPr lang="en-US" altLang="zh-CN" sz="2800" b="0" dirty="0">
                    <a:solidFill>
                      <a:schemeClr val="tx1"/>
                    </a:solidFill>
                    <a:latin typeface="Arial" panose="020B0604020202020204" pitchFamily="34" charset="0"/>
                    <a:cs typeface="Arial" panose="020B0604020202020204" pitchFamily="34" charset="0"/>
                  </a:rPr>
                  <a:t>Linear initial </a:t>
                </a:r>
                <a:r>
                  <a:rPr lang="en-US" altLang="zh-CN" sz="2800" dirty="0">
                    <a:solidFill>
                      <a:schemeClr val="tx1"/>
                    </a:solidFill>
                    <a:latin typeface="Arial" panose="020B0604020202020204" pitchFamily="34" charset="0"/>
                    <a:cs typeface="Arial" panose="020B0604020202020204" pitchFamily="34" charset="0"/>
                  </a:rPr>
                  <a:t>guess</a:t>
                </a:r>
                <a:r>
                  <a:rPr lang="en-US" altLang="zh-CN" sz="2800" b="0" dirty="0">
                    <a:solidFill>
                      <a:schemeClr val="tx1"/>
                    </a:solidFill>
                    <a:latin typeface="Arial" panose="020B0604020202020204" pitchFamily="34" charset="0"/>
                    <a:cs typeface="Arial" panose="020B0604020202020204" pitchFamily="34" charset="0"/>
                  </a:rPr>
                  <a:t> </a:t>
                </a:r>
                <a14:m>
                  <m:oMath xmlns:m="http://schemas.openxmlformats.org/officeDocument/2006/math">
                    <m:d>
                      <m:dPr>
                        <m:ctrlPr>
                          <a:rPr lang="en-US" altLang="zh-CN" sz="2800" b="0" i="1" dirty="0" smtClean="0">
                            <a:solidFill>
                              <a:schemeClr val="tx1"/>
                            </a:solidFill>
                            <a:latin typeface="Cambria Math" panose="02040503050406030204" pitchFamily="18" charset="0"/>
                            <a:cs typeface="Arial" panose="020B0604020202020204" pitchFamily="34" charset="0"/>
                          </a:rPr>
                        </m:ctrlPr>
                      </m:dPr>
                      <m:e>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𝑢</m:t>
                            </m:r>
                          </m:e>
                          <m:sub>
                            <m:r>
                              <a:rPr lang="en-US" altLang="zh-CN" sz="2800" b="0" i="1" dirty="0" smtClean="0">
                                <a:solidFill>
                                  <a:schemeClr val="tx1"/>
                                </a:solidFill>
                                <a:latin typeface="Cambria Math" panose="02040503050406030204" pitchFamily="18" charset="0"/>
                                <a:cs typeface="Arial" panose="020B0604020202020204" pitchFamily="34" charset="0"/>
                              </a:rPr>
                              <m:t>0</m:t>
                            </m:r>
                          </m:sub>
                        </m:sSub>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𝑣</m:t>
                            </m:r>
                          </m:e>
                          <m:sub>
                            <m:r>
                              <a:rPr lang="en-US" altLang="zh-CN" sz="2800" b="0" i="1" dirty="0" smtClean="0">
                                <a:solidFill>
                                  <a:schemeClr val="tx1"/>
                                </a:solidFill>
                                <a:latin typeface="Cambria Math" panose="02040503050406030204" pitchFamily="18" charset="0"/>
                                <a:cs typeface="Arial" panose="020B0604020202020204" pitchFamily="34" charset="0"/>
                              </a:rPr>
                              <m:t>0</m:t>
                            </m:r>
                          </m:sub>
                        </m:sSub>
                      </m:e>
                    </m:d>
                  </m:oMath>
                </a14:m>
                <a:r>
                  <a:rPr lang="zh-CN" altLang="en-US" sz="2800" dirty="0">
                    <a:solidFill>
                      <a:schemeClr val="tx1"/>
                    </a:solidFill>
                    <a:latin typeface="Arial" panose="020B0604020202020204" pitchFamily="34" charset="0"/>
                    <a:cs typeface="Arial" panose="020B0604020202020204" pitchFamily="34" charset="0"/>
                  </a:rPr>
                  <a:t> </a:t>
                </a:r>
                <a:r>
                  <a:rPr lang="en-US" altLang="zh-CN" sz="2800" dirty="0">
                    <a:solidFill>
                      <a:schemeClr val="tx1"/>
                    </a:solidFill>
                    <a:latin typeface="Arial" panose="020B0604020202020204" pitchFamily="34" charset="0"/>
                    <a:cs typeface="Arial" panose="020B0604020202020204" pitchFamily="34" charset="0"/>
                  </a:rPr>
                  <a:t>for texture coordinate </a:t>
                </a:r>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23" name="文本框 22">
                <a:extLst>
                  <a:ext uri="{FF2B5EF4-FFF2-40B4-BE49-F238E27FC236}">
                    <a16:creationId xmlns:a16="http://schemas.microsoft.com/office/drawing/2014/main" id="{D81962F3-0565-5180-1F97-6473262FDA16}"/>
                  </a:ext>
                </a:extLst>
              </p:cNvPr>
              <p:cNvSpPr txBox="1">
                <a:spLocks noRot="1" noChangeAspect="1" noMove="1" noResize="1" noEditPoints="1" noAdjustHandles="1" noChangeArrowheads="1" noChangeShapeType="1" noTextEdit="1"/>
              </p:cNvSpPr>
              <p:nvPr/>
            </p:nvSpPr>
            <p:spPr>
              <a:xfrm>
                <a:off x="10094502" y="10568811"/>
                <a:ext cx="4924267" cy="867930"/>
              </a:xfrm>
              <a:prstGeom prst="rect">
                <a:avLst/>
              </a:prstGeom>
              <a:blipFill>
                <a:blip r:embed="rId5"/>
                <a:stretch>
                  <a:fillRect l="-2228" t="-12676" r="-4332" b="-19014"/>
                </a:stretch>
              </a:blipFill>
            </p:spPr>
            <p:txBody>
              <a:bodyPr/>
              <a:lstStyle/>
              <a:p>
                <a:r>
                  <a:rPr lang="zh-CN" altLang="en-US">
                    <a:noFill/>
                  </a:rPr>
                  <a:t> </a:t>
                </a:r>
              </a:p>
            </p:txBody>
          </p:sp>
        </mc:Fallback>
      </mc:AlternateContent>
      <p:pic>
        <p:nvPicPr>
          <p:cNvPr id="3" name="图片 2">
            <a:extLst>
              <a:ext uri="{FF2B5EF4-FFF2-40B4-BE49-F238E27FC236}">
                <a16:creationId xmlns:a16="http://schemas.microsoft.com/office/drawing/2014/main" id="{F5D3B78C-5EFA-12D5-FC45-7E04FFD91199}"/>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776893" y="3869577"/>
            <a:ext cx="6944792" cy="6180002"/>
          </a:xfrm>
          <a:prstGeom prst="rect">
            <a:avLst/>
          </a:prstGeom>
        </p:spPr>
      </p:pic>
      <p:pic>
        <p:nvPicPr>
          <p:cNvPr id="7" name="图片 6">
            <a:extLst>
              <a:ext uri="{FF2B5EF4-FFF2-40B4-BE49-F238E27FC236}">
                <a16:creationId xmlns:a16="http://schemas.microsoft.com/office/drawing/2014/main" id="{E69E9144-EFAC-47F7-F1DC-1206F4E335CA}"/>
              </a:ext>
            </a:extLst>
          </p:cNvPr>
          <p:cNvPicPr>
            <a:picLocks noChangeAspect="1"/>
          </p:cNvPicPr>
          <p:nvPr/>
        </p:nvPicPr>
        <p:blipFill>
          <a:blip r:embed="rId7"/>
          <a:stretch>
            <a:fillRect/>
          </a:stretch>
        </p:blipFill>
        <p:spPr>
          <a:xfrm>
            <a:off x="8978458" y="3869577"/>
            <a:ext cx="6957128" cy="6180002"/>
          </a:xfrm>
          <a:prstGeom prst="rect">
            <a:avLst/>
          </a:prstGeom>
        </p:spPr>
      </p:pic>
      <p:pic>
        <p:nvPicPr>
          <p:cNvPr id="10" name="图片 9">
            <a:extLst>
              <a:ext uri="{FF2B5EF4-FFF2-40B4-BE49-F238E27FC236}">
                <a16:creationId xmlns:a16="http://schemas.microsoft.com/office/drawing/2014/main" id="{A15D3032-EB6E-5503-5B70-D5BBF9DCDCC7}"/>
              </a:ext>
            </a:extLst>
          </p:cNvPr>
          <p:cNvPicPr>
            <a:picLocks noChangeAspect="1"/>
          </p:cNvPicPr>
          <p:nvPr/>
        </p:nvPicPr>
        <p:blipFill>
          <a:blip r:embed="rId8"/>
          <a:stretch>
            <a:fillRect/>
          </a:stretch>
        </p:blipFill>
        <p:spPr>
          <a:xfrm>
            <a:off x="16186190" y="3869577"/>
            <a:ext cx="6957128" cy="6180002"/>
          </a:xfrm>
          <a:prstGeom prst="rect">
            <a:avLst/>
          </a:prstGeom>
        </p:spPr>
      </p:pic>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33B5AECB-67EC-160A-A9EF-787785989BB6}"/>
                  </a:ext>
                </a:extLst>
              </p:cNvPr>
              <p:cNvSpPr txBox="1"/>
              <p:nvPr/>
            </p:nvSpPr>
            <p:spPr>
              <a:xfrm>
                <a:off x="16959426" y="10568811"/>
                <a:ext cx="5410655" cy="867930"/>
              </a:xfrm>
              <a:prstGeom prst="rect">
                <a:avLst/>
              </a:prstGeom>
              <a:noFill/>
            </p:spPr>
            <p:txBody>
              <a:bodyPr wrap="square" rtlCol="0">
                <a:spAutoFit/>
              </a:bodyPr>
              <a:lstStyle/>
              <a:p>
                <a:pPr algn="ctr"/>
                <a:r>
                  <a:rPr lang="en-US" altLang="zh-CN" sz="2800" b="0" dirty="0">
                    <a:solidFill>
                      <a:schemeClr val="tx1"/>
                    </a:solidFill>
                    <a:latin typeface="Arial" panose="020B0604020202020204" pitchFamily="34" charset="0"/>
                    <a:cs typeface="Arial" panose="020B0604020202020204" pitchFamily="34" charset="0"/>
                  </a:rPr>
                  <a:t>Texture coordinate after 1 step of Newton iteration</a:t>
                </a:r>
                <a14:m>
                  <m:oMath xmlns:m="http://schemas.openxmlformats.org/officeDocument/2006/math">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𝑢</m:t>
                        </m:r>
                      </m:e>
                      <m:sub>
                        <m:r>
                          <a:rPr lang="en-US" altLang="zh-CN" sz="2800" b="0" i="1" dirty="0" smtClean="0">
                            <a:solidFill>
                              <a:schemeClr val="tx1"/>
                            </a:solidFill>
                            <a:latin typeface="Cambria Math" panose="02040503050406030204" pitchFamily="18" charset="0"/>
                            <a:cs typeface="Arial" panose="020B0604020202020204" pitchFamily="34" charset="0"/>
                          </a:rPr>
                          <m:t>1</m:t>
                        </m:r>
                      </m:sub>
                    </m:sSub>
                    <m:r>
                      <a:rPr lang="en-US" altLang="zh-CN" sz="2800" b="0" i="1" dirty="0" smtClean="0">
                        <a:solidFill>
                          <a:schemeClr val="tx1"/>
                        </a:solidFill>
                        <a:latin typeface="Cambria Math" panose="02040503050406030204" pitchFamily="18" charset="0"/>
                        <a:cs typeface="Arial" panose="020B0604020202020204" pitchFamily="34" charset="0"/>
                      </a:rPr>
                      <m:t>,</m:t>
                    </m:r>
                    <m:sSub>
                      <m:sSubPr>
                        <m:ctrlPr>
                          <a:rPr lang="en-US" altLang="zh-CN" sz="2800" b="0" i="1" dirty="0" smtClean="0">
                            <a:solidFill>
                              <a:schemeClr val="tx1"/>
                            </a:solidFill>
                            <a:latin typeface="Cambria Math" panose="02040503050406030204" pitchFamily="18" charset="0"/>
                            <a:cs typeface="Arial" panose="020B0604020202020204" pitchFamily="34" charset="0"/>
                          </a:rPr>
                        </m:ctrlPr>
                      </m:sSubPr>
                      <m:e>
                        <m:r>
                          <a:rPr lang="en-US" altLang="zh-CN" sz="2800" b="0" i="1" dirty="0" smtClean="0">
                            <a:solidFill>
                              <a:schemeClr val="tx1"/>
                            </a:solidFill>
                            <a:latin typeface="Cambria Math" panose="02040503050406030204" pitchFamily="18" charset="0"/>
                            <a:cs typeface="Arial" panose="020B0604020202020204" pitchFamily="34" charset="0"/>
                          </a:rPr>
                          <m:t>𝑣</m:t>
                        </m:r>
                      </m:e>
                      <m:sub>
                        <m:r>
                          <a:rPr lang="en-US" altLang="zh-CN" sz="2800" b="0" i="1" dirty="0" smtClean="0">
                            <a:solidFill>
                              <a:schemeClr val="tx1"/>
                            </a:solidFill>
                            <a:latin typeface="Cambria Math" panose="02040503050406030204" pitchFamily="18" charset="0"/>
                            <a:cs typeface="Arial" panose="020B0604020202020204" pitchFamily="34" charset="0"/>
                          </a:rPr>
                          <m:t>1</m:t>
                        </m:r>
                      </m:sub>
                    </m:sSub>
                    <m:r>
                      <a:rPr lang="en-US" altLang="zh-CN" sz="2800" b="0" i="1" dirty="0" smtClean="0">
                        <a:solidFill>
                          <a:schemeClr val="tx1"/>
                        </a:solidFill>
                        <a:latin typeface="Cambria Math" panose="02040503050406030204" pitchFamily="18" charset="0"/>
                        <a:cs typeface="Arial" panose="020B0604020202020204" pitchFamily="34" charset="0"/>
                      </a:rPr>
                      <m:t>)</m:t>
                    </m:r>
                  </m:oMath>
                </a14:m>
                <a:endParaRPr lang="zh-CN" altLang="en-US" sz="2800" dirty="0">
                  <a:solidFill>
                    <a:schemeClr val="tx1"/>
                  </a:solidFill>
                  <a:latin typeface="Arial" panose="020B0604020202020204" pitchFamily="34" charset="0"/>
                  <a:cs typeface="Arial" panose="020B0604020202020204" pitchFamily="34" charset="0"/>
                </a:endParaRPr>
              </a:p>
            </p:txBody>
          </p:sp>
        </mc:Choice>
        <mc:Fallback xmlns="">
          <p:sp>
            <p:nvSpPr>
              <p:cNvPr id="12" name="文本框 11">
                <a:extLst>
                  <a:ext uri="{FF2B5EF4-FFF2-40B4-BE49-F238E27FC236}">
                    <a16:creationId xmlns:a16="http://schemas.microsoft.com/office/drawing/2014/main" id="{33B5AECB-67EC-160A-A9EF-787785989BB6}"/>
                  </a:ext>
                </a:extLst>
              </p:cNvPr>
              <p:cNvSpPr txBox="1">
                <a:spLocks noRot="1" noChangeAspect="1" noMove="1" noResize="1" noEditPoints="1" noAdjustHandles="1" noChangeArrowheads="1" noChangeShapeType="1" noTextEdit="1"/>
              </p:cNvSpPr>
              <p:nvPr/>
            </p:nvSpPr>
            <p:spPr>
              <a:xfrm>
                <a:off x="16959426" y="10568811"/>
                <a:ext cx="5410655" cy="867930"/>
              </a:xfrm>
              <a:prstGeom prst="rect">
                <a:avLst/>
              </a:prstGeom>
              <a:blipFill>
                <a:blip r:embed="rId9"/>
                <a:stretch>
                  <a:fillRect t="-12676" r="-788" b="-19014"/>
                </a:stretch>
              </a:blipFill>
            </p:spPr>
            <p:txBody>
              <a:bodyPr/>
              <a:lstStyle/>
              <a:p>
                <a:r>
                  <a:rPr lang="zh-CN" altLang="en-US">
                    <a:noFill/>
                  </a:rPr>
                  <a:t> </a:t>
                </a:r>
              </a:p>
            </p:txBody>
          </p:sp>
        </mc:Fallback>
      </mc:AlternateContent>
      <p:sp>
        <p:nvSpPr>
          <p:cNvPr id="2" name="文本框 7">
            <a:extLst>
              <a:ext uri="{FF2B5EF4-FFF2-40B4-BE49-F238E27FC236}">
                <a16:creationId xmlns:a16="http://schemas.microsoft.com/office/drawing/2014/main" id="{4EE5AA39-C972-543A-CD7F-601D50543AC0}"/>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Results</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454598158"/>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E8F12-5A02-093D-C65A-F1928FE06034}"/>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347EABF2-1F1C-F0EE-7BD3-CEFBD69A95CE}"/>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20FDDD60-5798-88C2-3EE9-001811155994}"/>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31F351E3-71F0-D0D6-7FBA-38D8947FA532}"/>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B393814D-8E73-AC49-713E-B8345CE2D283}"/>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2" name="내용 개체 틀 2">
            <a:extLst>
              <a:ext uri="{FF2B5EF4-FFF2-40B4-BE49-F238E27FC236}">
                <a16:creationId xmlns:a16="http://schemas.microsoft.com/office/drawing/2014/main" id="{85D07580-2A5D-FB57-6AA7-12F779C8AEFE}"/>
              </a:ext>
            </a:extLst>
          </p:cNvPr>
          <p:cNvSpPr txBox="1">
            <a:spLocks/>
          </p:cNvSpPr>
          <p:nvPr/>
        </p:nvSpPr>
        <p:spPr>
          <a:xfrm>
            <a:off x="1618325" y="2233684"/>
            <a:ext cx="21137766" cy="9694524"/>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Speed comparison(</a:t>
            </a:r>
            <a:r>
              <a:rPr lang="en-US" altLang="zh-CN" sz="4800" dirty="0" err="1">
                <a:solidFill>
                  <a:srgbClr val="000000"/>
                </a:solidFill>
              </a:rPr>
              <a:t>ms</a:t>
            </a:r>
            <a:r>
              <a:rPr lang="en-US" altLang="zh-CN" sz="4800" dirty="0">
                <a:solidFill>
                  <a:srgbClr val="000000"/>
                </a:solidFill>
              </a:rPr>
              <a:t>), average speedups of 3.4x(solid), 2.5x(dashed)</a:t>
            </a:r>
          </a:p>
        </p:txBody>
      </p:sp>
      <p:pic>
        <p:nvPicPr>
          <p:cNvPr id="6" name="图片 5">
            <a:extLst>
              <a:ext uri="{FF2B5EF4-FFF2-40B4-BE49-F238E27FC236}">
                <a16:creationId xmlns:a16="http://schemas.microsoft.com/office/drawing/2014/main" id="{E2935638-6888-B8AB-C2A6-367E8D5CF3FB}"/>
              </a:ext>
            </a:extLst>
          </p:cNvPr>
          <p:cNvPicPr>
            <a:picLocks noChangeAspect="1"/>
          </p:cNvPicPr>
          <p:nvPr/>
        </p:nvPicPr>
        <p:blipFill>
          <a:blip r:embed="rId5"/>
          <a:stretch>
            <a:fillRect/>
          </a:stretch>
        </p:blipFill>
        <p:spPr>
          <a:xfrm>
            <a:off x="7153245" y="3873826"/>
            <a:ext cx="10372725" cy="2819400"/>
          </a:xfrm>
          <a:prstGeom prst="rect">
            <a:avLst/>
          </a:prstGeom>
        </p:spPr>
      </p:pic>
      <p:pic>
        <p:nvPicPr>
          <p:cNvPr id="9" name="图片 8">
            <a:extLst>
              <a:ext uri="{FF2B5EF4-FFF2-40B4-BE49-F238E27FC236}">
                <a16:creationId xmlns:a16="http://schemas.microsoft.com/office/drawing/2014/main" id="{2324AA8E-5C9A-D253-9BB0-98F5D5ACBD0A}"/>
              </a:ext>
            </a:extLst>
          </p:cNvPr>
          <p:cNvPicPr>
            <a:picLocks noChangeAspect="1"/>
          </p:cNvPicPr>
          <p:nvPr/>
        </p:nvPicPr>
        <p:blipFill>
          <a:blip r:embed="rId6"/>
          <a:stretch>
            <a:fillRect/>
          </a:stretch>
        </p:blipFill>
        <p:spPr>
          <a:xfrm>
            <a:off x="6713644" y="8443288"/>
            <a:ext cx="11410950" cy="2867025"/>
          </a:xfrm>
          <a:prstGeom prst="rect">
            <a:avLst/>
          </a:prstGeom>
        </p:spPr>
      </p:pic>
      <p:sp>
        <p:nvSpPr>
          <p:cNvPr id="11" name="文本框 10">
            <a:extLst>
              <a:ext uri="{FF2B5EF4-FFF2-40B4-BE49-F238E27FC236}">
                <a16:creationId xmlns:a16="http://schemas.microsoft.com/office/drawing/2014/main" id="{D20ACCFF-F0B4-3C2C-6469-E674F99FAC27}"/>
              </a:ext>
            </a:extLst>
          </p:cNvPr>
          <p:cNvSpPr txBox="1"/>
          <p:nvPr/>
        </p:nvSpPr>
        <p:spPr>
          <a:xfrm>
            <a:off x="7919941" y="11500719"/>
            <a:ext cx="8998356"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Average rendering time (</a:t>
            </a:r>
            <a:r>
              <a:rPr lang="en-US" altLang="zh-CN" sz="2800" dirty="0" err="1">
                <a:solidFill>
                  <a:schemeClr val="tx1"/>
                </a:solidFill>
                <a:latin typeface="Arial" panose="020B0604020202020204" pitchFamily="34" charset="0"/>
                <a:cs typeface="Arial" panose="020B0604020202020204" pitchFamily="34" charset="0"/>
              </a:rPr>
              <a:t>ms</a:t>
            </a:r>
            <a:r>
              <a:rPr lang="en-US" altLang="zh-CN" sz="2800" dirty="0">
                <a:solidFill>
                  <a:schemeClr val="tx1"/>
                </a:solidFill>
                <a:latin typeface="Arial" panose="020B0604020202020204" pitchFamily="34" charset="0"/>
                <a:cs typeface="Arial" panose="020B0604020202020204" pitchFamily="34" charset="0"/>
              </a:rPr>
              <a:t>) for dashed stroke paths</a:t>
            </a:r>
            <a:endParaRPr lang="zh-CN" altLang="en-US" sz="2800" dirty="0">
              <a:solidFill>
                <a:schemeClr val="tx1"/>
              </a:solidFill>
              <a:latin typeface="Arial" panose="020B0604020202020204" pitchFamily="34" charset="0"/>
              <a:cs typeface="Arial" panose="020B0604020202020204" pitchFamily="34" charset="0"/>
            </a:endParaRPr>
          </a:p>
        </p:txBody>
      </p:sp>
      <p:sp>
        <p:nvSpPr>
          <p:cNvPr id="13" name="文本框 12">
            <a:extLst>
              <a:ext uri="{FF2B5EF4-FFF2-40B4-BE49-F238E27FC236}">
                <a16:creationId xmlns:a16="http://schemas.microsoft.com/office/drawing/2014/main" id="{28830660-E001-ADC4-8568-E4E92289FDE3}"/>
              </a:ext>
            </a:extLst>
          </p:cNvPr>
          <p:cNvSpPr txBox="1"/>
          <p:nvPr/>
        </p:nvSpPr>
        <p:spPr>
          <a:xfrm>
            <a:off x="8219359" y="6837775"/>
            <a:ext cx="8399520" cy="480131"/>
          </a:xfrm>
          <a:prstGeom prst="rect">
            <a:avLst/>
          </a:prstGeom>
          <a:noFill/>
        </p:spPr>
        <p:txBody>
          <a:bodyPr wrap="square" rtlCol="0">
            <a:spAutoFit/>
          </a:bodyPr>
          <a:lstStyle/>
          <a:p>
            <a:pPr algn="ctr"/>
            <a:r>
              <a:rPr lang="en-US" altLang="zh-CN" sz="2800" dirty="0">
                <a:solidFill>
                  <a:schemeClr val="tx1"/>
                </a:solidFill>
                <a:latin typeface="Arial" panose="020B0604020202020204" pitchFamily="34" charset="0"/>
                <a:cs typeface="Arial" panose="020B0604020202020204" pitchFamily="34" charset="0"/>
              </a:rPr>
              <a:t>Average rendering time (</a:t>
            </a:r>
            <a:r>
              <a:rPr lang="en-US" altLang="zh-CN" sz="2800" dirty="0" err="1">
                <a:solidFill>
                  <a:schemeClr val="tx1"/>
                </a:solidFill>
                <a:latin typeface="Arial" panose="020B0604020202020204" pitchFamily="34" charset="0"/>
                <a:cs typeface="Arial" panose="020B0604020202020204" pitchFamily="34" charset="0"/>
              </a:rPr>
              <a:t>ms</a:t>
            </a:r>
            <a:r>
              <a:rPr lang="en-US" altLang="zh-CN" sz="2800" dirty="0">
                <a:solidFill>
                  <a:schemeClr val="tx1"/>
                </a:solidFill>
                <a:latin typeface="Arial" panose="020B0604020202020204" pitchFamily="34" charset="0"/>
                <a:cs typeface="Arial" panose="020B0604020202020204" pitchFamily="34" charset="0"/>
              </a:rPr>
              <a:t>) for solid stroke paths</a:t>
            </a:r>
            <a:endParaRPr lang="zh-CN" altLang="en-US" sz="2800" dirty="0">
              <a:solidFill>
                <a:schemeClr val="tx1"/>
              </a:solidFill>
              <a:latin typeface="Arial" panose="020B0604020202020204" pitchFamily="34" charset="0"/>
              <a:cs typeface="Arial" panose="020B0604020202020204" pitchFamily="34" charset="0"/>
            </a:endParaRPr>
          </a:p>
        </p:txBody>
      </p:sp>
      <p:sp>
        <p:nvSpPr>
          <p:cNvPr id="3" name="文本框 7">
            <a:extLst>
              <a:ext uri="{FF2B5EF4-FFF2-40B4-BE49-F238E27FC236}">
                <a16:creationId xmlns:a16="http://schemas.microsoft.com/office/drawing/2014/main" id="{BCBB32D6-C484-0AF8-A013-A40B7ED625B2}"/>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Results</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1393463345"/>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DE6DF-1177-810C-A1A6-726533C85C50}"/>
            </a:ext>
          </a:extLst>
        </p:cNvPr>
        <p:cNvGrpSpPr/>
        <p:nvPr/>
      </p:nvGrpSpPr>
      <p:grpSpPr>
        <a:xfrm>
          <a:off x="0" y="0"/>
          <a:ext cx="0" cy="0"/>
          <a:chOff x="0" y="0"/>
          <a:chExt cx="0" cy="0"/>
        </a:xfrm>
      </p:grpSpPr>
      <p:sp>
        <p:nvSpPr>
          <p:cNvPr id="198" name="直接连接符 5">
            <a:extLst>
              <a:ext uri="{FF2B5EF4-FFF2-40B4-BE49-F238E27FC236}">
                <a16:creationId xmlns:a16="http://schemas.microsoft.com/office/drawing/2014/main" id="{20E2B5CA-C80A-CA63-E64F-6ACBDC7F3F93}"/>
              </a:ext>
            </a:extLst>
          </p:cNvPr>
          <p:cNvSpPr/>
          <p:nvPr/>
        </p:nvSpPr>
        <p:spPr>
          <a:xfrm flipV="1">
            <a:off x="-1" y="1816100"/>
            <a:ext cx="15995651" cy="19050"/>
          </a:xfrm>
          <a:prstGeom prst="line">
            <a:avLst/>
          </a:prstGeom>
          <a:ln w="101600">
            <a:solidFill>
              <a:srgbClr val="092A67"/>
            </a:solidFill>
            <a:miter/>
          </a:ln>
        </p:spPr>
        <p:txBody>
          <a:bodyPr tIns="91439" bIns="91439"/>
          <a:lstStyle/>
          <a:p>
            <a:pPr defTabSz="1828800">
              <a:lnSpc>
                <a:spcPct val="100000"/>
              </a:lnSpc>
              <a:spcBef>
                <a:spcPts val="0"/>
              </a:spcBef>
              <a:defRPr sz="3600">
                <a:latin typeface="Arial"/>
                <a:ea typeface="Arial"/>
                <a:cs typeface="Arial"/>
                <a:sym typeface="Arial"/>
              </a:defRPr>
            </a:pPr>
            <a:endParaRPr/>
          </a:p>
        </p:txBody>
      </p:sp>
      <p:pic>
        <p:nvPicPr>
          <p:cNvPr id="199" name="图片 100" descr="图片 100">
            <a:extLst>
              <a:ext uri="{FF2B5EF4-FFF2-40B4-BE49-F238E27FC236}">
                <a16:creationId xmlns:a16="http://schemas.microsoft.com/office/drawing/2014/main" id="{F4260034-A275-17AA-6B35-909AC468D04D}"/>
              </a:ext>
            </a:extLst>
          </p:cNvPr>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201" name="图片 6" descr="图片 6">
            <a:extLst>
              <a:ext uri="{FF2B5EF4-FFF2-40B4-BE49-F238E27FC236}">
                <a16:creationId xmlns:a16="http://schemas.microsoft.com/office/drawing/2014/main" id="{DB4F2265-9CE3-EC91-FE26-0936963E9750}"/>
              </a:ext>
            </a:extLst>
          </p:cNvPr>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4" name="내용 개체 틀 2">
            <a:extLst>
              <a:ext uri="{FF2B5EF4-FFF2-40B4-BE49-F238E27FC236}">
                <a16:creationId xmlns:a16="http://schemas.microsoft.com/office/drawing/2014/main" id="{F8538863-1B83-EEC7-3E69-82348F9C2AB1}"/>
              </a:ext>
            </a:extLst>
          </p:cNvPr>
          <p:cNvSpPr txBox="1">
            <a:spLocks/>
          </p:cNvSpPr>
          <p:nvPr/>
        </p:nvSpPr>
        <p:spPr>
          <a:xfrm>
            <a:off x="1770725" y="2286326"/>
            <a:ext cx="21137766" cy="11273116"/>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Font typeface="Arial" panose="020B0604020202020204" pitchFamily="34" charset="0"/>
              <a:buChar char="•"/>
            </a:pPr>
            <a:endParaRPr lang="en-US" altLang="zh-CN" sz="4800" dirty="0">
              <a:solidFill>
                <a:srgbClr val="000000"/>
              </a:solidFill>
            </a:endParaRPr>
          </a:p>
        </p:txBody>
      </p:sp>
      <p:sp>
        <p:nvSpPr>
          <p:cNvPr id="2" name="내용 개체 틀 2">
            <a:extLst>
              <a:ext uri="{FF2B5EF4-FFF2-40B4-BE49-F238E27FC236}">
                <a16:creationId xmlns:a16="http://schemas.microsoft.com/office/drawing/2014/main" id="{A2B648E0-22CA-7DB5-031A-E0D9CD20DC8F}"/>
              </a:ext>
            </a:extLst>
          </p:cNvPr>
          <p:cNvSpPr txBox="1">
            <a:spLocks/>
          </p:cNvSpPr>
          <p:nvPr/>
        </p:nvSpPr>
        <p:spPr>
          <a:xfrm>
            <a:off x="1618325" y="2233683"/>
            <a:ext cx="20994950" cy="10415135"/>
          </a:xfrm>
          <a:prstGeom prst="rect">
            <a:avLst/>
          </a:prstGeom>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1B1464"/>
              </a:buClr>
              <a:buFont typeface="Arial" panose="020B0604020202020204" pitchFamily="34" charset="0"/>
              <a:buChar char="►"/>
              <a:defRPr sz="2400" kern="1200">
                <a:solidFill>
                  <a:srgbClr val="1B1464"/>
                </a:solidFill>
                <a:latin typeface="Arial" panose="020B0604020202020204" pitchFamily="34" charset="0"/>
                <a:ea typeface="+mn-ea"/>
                <a:cs typeface="Arial" panose="020B0604020202020204" pitchFamily="34" charset="0"/>
              </a:defRPr>
            </a:lvl1pPr>
            <a:lvl2pPr marL="800100" indent="-34290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2pPr>
            <a:lvl3pPr marL="1257300" indent="-34290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3pPr>
            <a:lvl4pPr marL="1657350" indent="-285750" algn="l" defTabSz="914400" rtl="0" eaLnBrk="1" latinLnBrk="0" hangingPunct="1">
              <a:lnSpc>
                <a:spcPct val="90000"/>
              </a:lnSpc>
              <a:spcBef>
                <a:spcPts val="500"/>
              </a:spcBef>
              <a:buClr>
                <a:srgbClr val="1B1464"/>
              </a:buClr>
              <a:buFont typeface="Arial" panose="020B0604020202020204" pitchFamily="34" charset="0"/>
              <a:buChar char="•"/>
              <a:defRPr sz="2000" kern="1200">
                <a:solidFill>
                  <a:srgbClr val="1B1464"/>
                </a:solidFill>
                <a:latin typeface="Arial" panose="020B0604020202020204" pitchFamily="34" charset="0"/>
                <a:ea typeface="+mn-ea"/>
                <a:cs typeface="Arial" panose="020B0604020202020204" pitchFamily="34" charset="0"/>
              </a:defRPr>
            </a:lvl4pPr>
            <a:lvl5pPr marL="2114550" indent="-285750" algn="l" defTabSz="914400" rtl="0" eaLnBrk="1" latinLnBrk="0" hangingPunct="1">
              <a:lnSpc>
                <a:spcPct val="90000"/>
              </a:lnSpc>
              <a:spcBef>
                <a:spcPts val="500"/>
              </a:spcBef>
              <a:buClr>
                <a:srgbClr val="1B1464"/>
              </a:buClr>
              <a:buFont typeface="Calibri" panose="020F0502020204030204" pitchFamily="34" charset="0"/>
              <a:buChar char="−"/>
              <a:defRPr sz="2000" kern="1200">
                <a:solidFill>
                  <a:srgbClr val="1B1464"/>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09600" indent="-609600">
              <a:lnSpc>
                <a:spcPct val="150000"/>
              </a:lnSpc>
              <a:buClrTx/>
              <a:buSzPct val="123000"/>
              <a:buChar char="•"/>
            </a:pPr>
            <a:r>
              <a:rPr lang="en-US" altLang="zh-CN" sz="4800" dirty="0">
                <a:solidFill>
                  <a:srgbClr val="000000"/>
                </a:solidFill>
              </a:rPr>
              <a:t>Conclusion:</a:t>
            </a:r>
          </a:p>
          <a:p>
            <a:pPr marL="952500" lvl="1" indent="-609600">
              <a:lnSpc>
                <a:spcPct val="150000"/>
              </a:lnSpc>
              <a:buClrTx/>
              <a:buSzPct val="123000"/>
            </a:pPr>
            <a:r>
              <a:rPr lang="en-US" altLang="zh-CN" sz="4400" dirty="0">
                <a:solidFill>
                  <a:srgbClr val="000000"/>
                </a:solidFill>
              </a:rPr>
              <a:t>We propose a GPU-accelerated rendering method of quadratic strokes</a:t>
            </a:r>
          </a:p>
          <a:p>
            <a:pPr marL="1409700" lvl="2" indent="-609600">
              <a:lnSpc>
                <a:spcPct val="150000"/>
              </a:lnSpc>
              <a:buClrTx/>
              <a:buSzPct val="123000"/>
            </a:pPr>
            <a:r>
              <a:rPr lang="en-US" altLang="zh-CN" sz="4400" dirty="0">
                <a:solidFill>
                  <a:srgbClr val="000000"/>
                </a:solidFill>
              </a:rPr>
              <a:t>Combine implicit equation-based rendering and curvature-guided subdivision</a:t>
            </a:r>
            <a:endParaRPr lang="en-US" altLang="zh-CN" sz="4800" dirty="0">
              <a:solidFill>
                <a:srgbClr val="000000"/>
              </a:solidFill>
            </a:endParaRPr>
          </a:p>
          <a:p>
            <a:pPr marL="952500" lvl="1" indent="-609600">
              <a:lnSpc>
                <a:spcPct val="150000"/>
              </a:lnSpc>
              <a:buClrTx/>
              <a:buSzPct val="123000"/>
            </a:pPr>
            <a:r>
              <a:rPr lang="en-US" altLang="zh-CN" sz="4400" dirty="0">
                <a:solidFill>
                  <a:srgbClr val="000000"/>
                </a:solidFill>
              </a:rPr>
              <a:t>We develop an efficient arc-length parameterization method</a:t>
            </a:r>
          </a:p>
          <a:p>
            <a:pPr marL="1409700" lvl="2" indent="-609600">
              <a:lnSpc>
                <a:spcPct val="150000"/>
              </a:lnSpc>
              <a:buClrTx/>
              <a:buSzPct val="123000"/>
            </a:pPr>
            <a:r>
              <a:rPr lang="en-US" altLang="zh-CN" sz="4400" dirty="0">
                <a:solidFill>
                  <a:srgbClr val="000000"/>
                </a:solidFill>
              </a:rPr>
              <a:t>Guaranteed fast convergence, applicable for dash and texture filling</a:t>
            </a:r>
          </a:p>
          <a:p>
            <a:pPr marL="609600" indent="-609600">
              <a:lnSpc>
                <a:spcPct val="150000"/>
              </a:lnSpc>
              <a:buClrTx/>
              <a:buSzPct val="123000"/>
              <a:buChar char="•"/>
            </a:pPr>
            <a:r>
              <a:rPr lang="en-US" altLang="zh-CN" sz="4800" dirty="0">
                <a:solidFill>
                  <a:srgbClr val="000000"/>
                </a:solidFill>
              </a:rPr>
              <a:t>Future work:</a:t>
            </a:r>
          </a:p>
          <a:p>
            <a:pPr marL="952500" lvl="1" indent="-609600">
              <a:lnSpc>
                <a:spcPct val="150000"/>
              </a:lnSpc>
              <a:buClrTx/>
              <a:buSzPct val="123000"/>
            </a:pPr>
            <a:r>
              <a:rPr lang="en-US" altLang="zh-CN" sz="4400" dirty="0">
                <a:solidFill>
                  <a:srgbClr val="000000"/>
                </a:solidFill>
              </a:rPr>
              <a:t>Deal with hardware limitation in tessellation shader</a:t>
            </a:r>
          </a:p>
          <a:p>
            <a:pPr marL="952500" lvl="1" indent="-609600">
              <a:lnSpc>
                <a:spcPct val="150000"/>
              </a:lnSpc>
              <a:buClrTx/>
              <a:buSzPct val="123000"/>
            </a:pPr>
            <a:r>
              <a:rPr lang="en-US" altLang="zh-CN" sz="4400" dirty="0">
                <a:solidFill>
                  <a:srgbClr val="000000"/>
                </a:solidFill>
              </a:rPr>
              <a:t>Support more complex paths</a:t>
            </a:r>
          </a:p>
          <a:p>
            <a:pPr marL="952500" lvl="1" indent="-609600">
              <a:lnSpc>
                <a:spcPct val="150000"/>
              </a:lnSpc>
              <a:buClrTx/>
              <a:buSzPct val="123000"/>
            </a:pPr>
            <a:endParaRPr lang="en-US" altLang="zh-CN" sz="4400" dirty="0">
              <a:solidFill>
                <a:srgbClr val="000000"/>
              </a:solidFill>
            </a:endParaRPr>
          </a:p>
        </p:txBody>
      </p:sp>
      <p:sp>
        <p:nvSpPr>
          <p:cNvPr id="3" name="文本框 7">
            <a:extLst>
              <a:ext uri="{FF2B5EF4-FFF2-40B4-BE49-F238E27FC236}">
                <a16:creationId xmlns:a16="http://schemas.microsoft.com/office/drawing/2014/main" id="{11712553-E264-3F0B-93B9-DE35B9ACC18E}"/>
              </a:ext>
            </a:extLst>
          </p:cNvPr>
          <p:cNvSpPr txBox="1"/>
          <p:nvPr/>
        </p:nvSpPr>
        <p:spPr>
          <a:xfrm>
            <a:off x="723900" y="247650"/>
            <a:ext cx="21014689" cy="153888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tIns="91439" bIns="91439">
            <a:spAutoFit/>
          </a:bodyPr>
          <a:lstStyle>
            <a:lvl1pPr defTabSz="1828800">
              <a:lnSpc>
                <a:spcPct val="100000"/>
              </a:lnSpc>
              <a:spcBef>
                <a:spcPts val="0"/>
              </a:spcBef>
              <a:defRPr sz="7200">
                <a:latin typeface="思源黑体 CN"/>
                <a:ea typeface="思源黑体 CN"/>
                <a:cs typeface="思源黑体 CN"/>
                <a:sym typeface="思源黑体 CN"/>
              </a:defRPr>
            </a:lvl1pPr>
          </a:lstStyle>
          <a:p>
            <a:pPr>
              <a:buSzPct val="123000"/>
            </a:pPr>
            <a:r>
              <a:rPr lang="zh-CN" altLang="en-US" dirty="0"/>
              <a:t>    </a:t>
            </a:r>
            <a:r>
              <a:rPr lang="en-US" altLang="zh-CN" sz="8800" b="1" i="1" dirty="0">
                <a:solidFill>
                  <a:srgbClr val="000000"/>
                </a:solidFill>
                <a:latin typeface="Arial Narrow" panose="020B0606020202030204" pitchFamily="34" charset="0"/>
                <a:cs typeface="Arial" panose="020B0604020202020204" pitchFamily="34" charset="0"/>
              </a:rPr>
              <a:t>Conclusion and Future Work</a:t>
            </a:r>
            <a:endParaRPr lang="zh-CN" altLang="en-US" sz="8800" b="1" i="1" dirty="0">
              <a:latin typeface="Arial Narrow" panose="020B0606020202030204" pitchFamily="34" charset="0"/>
              <a:cs typeface="Arial" panose="020B0604020202020204" pitchFamily="34" charset="0"/>
            </a:endParaRPr>
          </a:p>
        </p:txBody>
      </p:sp>
    </p:spTree>
    <p:extLst>
      <p:ext uri="{BB962C8B-B14F-4D97-AF65-F5344CB8AC3E}">
        <p14:creationId xmlns:p14="http://schemas.microsoft.com/office/powerpoint/2010/main" val="250297336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19" name="图片 100" descr="图片 100"/>
          <p:cNvPicPr>
            <a:picLocks noChangeAspect="1"/>
          </p:cNvPicPr>
          <p:nvPr/>
        </p:nvPicPr>
        <p:blipFill>
          <a:blip r:embed="rId3"/>
          <a:stretch>
            <a:fillRect/>
          </a:stretch>
        </p:blipFill>
        <p:spPr>
          <a:xfrm>
            <a:off x="21738589" y="247650"/>
            <a:ext cx="2456181" cy="2244090"/>
          </a:xfrm>
          <a:prstGeom prst="rect">
            <a:avLst/>
          </a:prstGeom>
          <a:ln w="12700">
            <a:miter lim="400000"/>
          </a:ln>
        </p:spPr>
      </p:pic>
      <p:pic>
        <p:nvPicPr>
          <p:cNvPr id="1320" name="图片 6" descr="图片 6"/>
          <p:cNvPicPr>
            <a:picLocks noChangeAspect="1"/>
          </p:cNvPicPr>
          <p:nvPr/>
        </p:nvPicPr>
        <p:blipFill>
          <a:blip r:embed="rId4"/>
          <a:stretch>
            <a:fillRect/>
          </a:stretch>
        </p:blipFill>
        <p:spPr>
          <a:xfrm>
            <a:off x="265026" y="12697438"/>
            <a:ext cx="6706870" cy="1009651"/>
          </a:xfrm>
          <a:prstGeom prst="rect">
            <a:avLst/>
          </a:prstGeom>
          <a:ln w="12700">
            <a:miter lim="400000"/>
          </a:ln>
        </p:spPr>
      </p:pic>
      <p:sp>
        <p:nvSpPr>
          <p:cNvPr id="1321" name="衷心感谢华为的各位同事在本次合作中给予的支持和指导！"/>
          <p:cNvSpPr/>
          <p:nvPr/>
        </p:nvSpPr>
        <p:spPr>
          <a:xfrm>
            <a:off x="1519683" y="3338810"/>
            <a:ext cx="21344634" cy="4281190"/>
          </a:xfrm>
          <a:prstGeom prst="roundRect">
            <a:avLst>
              <a:gd name="adj" fmla="val 19873"/>
            </a:avLst>
          </a:prstGeom>
          <a:solidFill>
            <a:srgbClr val="122A6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lstStyle>
            <a:lvl1pPr algn="ctr" defTabSz="457200">
              <a:lnSpc>
                <a:spcPct val="100000"/>
              </a:lnSpc>
              <a:spcBef>
                <a:spcPts val="0"/>
              </a:spcBef>
              <a:defRPr sz="8500">
                <a:solidFill>
                  <a:srgbClr val="FFFFFF"/>
                </a:solidFill>
                <a:latin typeface="Arial"/>
                <a:ea typeface="Arial"/>
                <a:cs typeface="Arial"/>
                <a:sym typeface="Arial"/>
              </a:defRPr>
            </a:lvl1pPr>
          </a:lstStyle>
          <a:p>
            <a:pPr>
              <a:defRPr sz="8500">
                <a:solidFill>
                  <a:srgbClr val="FFFFFF"/>
                </a:solidFill>
                <a:latin typeface="PingFang SC Regular"/>
                <a:ea typeface="PingFang SC Regular"/>
                <a:cs typeface="PingFang SC Regular"/>
                <a:sym typeface="PingFang SC Regular"/>
              </a:defRPr>
            </a:pPr>
            <a:r>
              <a:rPr lang="en-US" altLang="zh-CN" sz="9600" b="1" i="1" dirty="0">
                <a:latin typeface="Arial Narrow" panose="020B0606020202030204" pitchFamily="34" charset="0"/>
              </a:rPr>
              <a:t>Thank you!</a:t>
            </a:r>
          </a:p>
        </p:txBody>
      </p:sp>
      <p:sp>
        <p:nvSpPr>
          <p:cNvPr id="4" name="文本框 3">
            <a:extLst>
              <a:ext uri="{FF2B5EF4-FFF2-40B4-BE49-F238E27FC236}">
                <a16:creationId xmlns:a16="http://schemas.microsoft.com/office/drawing/2014/main" id="{DDED6A4E-D46E-0F73-7A6C-7193356F1D7A}"/>
              </a:ext>
            </a:extLst>
          </p:cNvPr>
          <p:cNvSpPr txBox="1"/>
          <p:nvPr/>
        </p:nvSpPr>
        <p:spPr>
          <a:xfrm>
            <a:off x="2199509" y="8602489"/>
            <a:ext cx="19984982" cy="2402261"/>
          </a:xfrm>
          <a:prstGeom prst="rect">
            <a:avLst/>
          </a:prstGeom>
          <a:noFill/>
        </p:spPr>
        <p:txBody>
          <a:bodyPr wrap="square">
            <a:spAutoFit/>
          </a:bodyPr>
          <a:lstStyle/>
          <a:p>
            <a:pPr algn="ctr">
              <a:lnSpc>
                <a:spcPct val="50000"/>
              </a:lnSpc>
            </a:pPr>
            <a:r>
              <a:rPr lang="en-US" altLang="zh-CN" i="1" dirty="0">
                <a:solidFill>
                  <a:schemeClr val="tx1"/>
                </a:solidFill>
                <a:latin typeface="Arial" panose="020B0604020202020204" pitchFamily="34" charset="0"/>
                <a:cs typeface="Arial" panose="020B0604020202020204" pitchFamily="34" charset="0"/>
              </a:rPr>
              <a:t>Xuhai Chen, </a:t>
            </a:r>
            <a:r>
              <a:rPr lang="en-US" altLang="zh-CN" i="1" dirty="0">
                <a:solidFill>
                  <a:schemeClr val="tx1"/>
                </a:solidFill>
                <a:latin typeface="Arial" panose="020B0604020202020204" pitchFamily="34" charset="0"/>
                <a:cs typeface="Arial" panose="020B0604020202020204" pitchFamily="34" charset="0"/>
                <a:hlinkClick r:id="rId5"/>
              </a:rPr>
              <a:t>19020230157197@stu.xmu.edu.cn</a:t>
            </a:r>
            <a:endParaRPr lang="en-US" altLang="zh-CN" i="1" dirty="0">
              <a:solidFill>
                <a:schemeClr val="tx1"/>
              </a:solidFill>
              <a:latin typeface="Arial" panose="020B0604020202020204" pitchFamily="34" charset="0"/>
              <a:cs typeface="Arial" panose="020B0604020202020204" pitchFamily="34" charset="0"/>
            </a:endParaRPr>
          </a:p>
          <a:p>
            <a:pPr algn="ctr">
              <a:lnSpc>
                <a:spcPct val="50000"/>
              </a:lnSpc>
            </a:pPr>
            <a:r>
              <a:rPr lang="en-US" altLang="zh-CN" i="1" dirty="0">
                <a:solidFill>
                  <a:schemeClr val="tx1"/>
                </a:solidFill>
                <a:latin typeface="Arial" panose="020B0604020202020204" pitchFamily="34" charset="0"/>
                <a:cs typeface="Arial" panose="020B0604020202020204" pitchFamily="34" charset="0"/>
                <a:hlinkClick r:id="rId6"/>
              </a:rPr>
              <a:t>https://github.com/tuzhong007/StrokeRenderingXMU</a:t>
            </a:r>
            <a:endParaRPr lang="en-US" altLang="zh-CN" i="1" dirty="0">
              <a:solidFill>
                <a:schemeClr val="tx1"/>
              </a:solidFill>
              <a:latin typeface="Arial" panose="020B0604020202020204" pitchFamily="34" charset="0"/>
              <a:cs typeface="Arial" panose="020B0604020202020204" pitchFamily="34" charset="0"/>
            </a:endParaRPr>
          </a:p>
          <a:p>
            <a:pPr algn="ctr">
              <a:lnSpc>
                <a:spcPct val="50000"/>
              </a:lnSpc>
            </a:pPr>
            <a:endParaRPr lang="en-US" altLang="zh-CN" i="1" dirty="0">
              <a:solidFill>
                <a:schemeClr val="tx1"/>
              </a:solidFill>
              <a:latin typeface="Arial" panose="020B0604020202020204" pitchFamily="34" charset="0"/>
              <a:cs typeface="Arial" panose="020B0604020202020204" pitchFamily="34" charset="0"/>
            </a:endParaRPr>
          </a:p>
        </p:txBody>
      </p:sp>
    </p:spTree>
  </p:cSld>
  <p:clrMapOvr>
    <a:masterClrMapping/>
  </p:clrMapOvr>
  <p:transition spd="med"/>
</p:sld>
</file>

<file path=ppt/theme/theme1.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13872</TotalTime>
  <Words>2693</Words>
  <Application>Microsoft Office PowerPoint</Application>
  <PresentationFormat>自定义</PresentationFormat>
  <Paragraphs>237</Paragraphs>
  <Slides>27</Slides>
  <Notes>27</Notes>
  <HiddenSlides>5</HiddenSlides>
  <MMClips>1</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27</vt:i4>
      </vt:variant>
    </vt:vector>
  </HeadingPairs>
  <TitlesOfParts>
    <vt:vector size="36" baseType="lpstr">
      <vt:lpstr>Helvetica Neue Medium</vt:lpstr>
      <vt:lpstr>배달의민족 주아 OTF</vt:lpstr>
      <vt:lpstr>Arial</vt:lpstr>
      <vt:lpstr>Arial Narrow</vt:lpstr>
      <vt:lpstr>Calibri</vt:lpstr>
      <vt:lpstr>Cambria Math</vt:lpstr>
      <vt:lpstr>Helvetica</vt:lpstr>
      <vt:lpstr>Times New Roman</vt:lpstr>
      <vt:lpstr>21_BasicWhite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Xuhai Chen</dc:creator>
  <cp:lastModifiedBy>Xuhai Chen</cp:lastModifiedBy>
  <cp:revision>1833</cp:revision>
  <dcterms:modified xsi:type="dcterms:W3CDTF">2025-09-04T08:45:49Z</dcterms:modified>
</cp:coreProperties>
</file>